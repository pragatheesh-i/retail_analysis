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20"/>
  </p:notesMasterIdLst>
  <p:handoutMasterIdLst>
    <p:handoutMasterId r:id="rId21"/>
  </p:handoutMasterIdLst>
  <p:sldIdLst>
    <p:sldId id="268" r:id="rId8"/>
    <p:sldId id="278" r:id="rId9"/>
    <p:sldId id="258" r:id="rId10"/>
    <p:sldId id="259" r:id="rId11"/>
    <p:sldId id="274" r:id="rId12"/>
    <p:sldId id="275" r:id="rId13"/>
    <p:sldId id="276" r:id="rId14"/>
    <p:sldId id="269" r:id="rId15"/>
    <p:sldId id="270" r:id="rId16"/>
    <p:sldId id="271" r:id="rId17"/>
    <p:sldId id="272" r:id="rId18"/>
    <p:sldId id="273" r:id="rId1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B88EB-0C47-4C42-AB08-6666467A385C}">
          <p14:sldIdLst>
            <p14:sldId id="268"/>
            <p14:sldId id="278"/>
            <p14:sldId id="258"/>
            <p14:sldId id="259"/>
            <p14:sldId id="274"/>
            <p14:sldId id="275"/>
            <p14:sldId id="276"/>
            <p14:sldId id="269"/>
            <p14:sldId id="270"/>
            <p14:sldId id="271"/>
            <p14:sldId id="272"/>
            <p14:sldId id="273"/>
          </p14:sldIdLst>
        </p14:section>
        <p14:section name="Icons - Turquoise" id="{9EB7115B-345B-4A6A-840B-5C980E135F3C}">
          <p14:sldIdLst/>
        </p14:section>
        <p14:section name="Icons - Rose" id="{51ED4D25-8B21-45BB-A83E-700A749D08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A33"/>
    <a:srgbClr val="C1BAF3"/>
    <a:srgbClr val="FFDFEA"/>
    <a:srgbClr val="73EAE1"/>
    <a:srgbClr val="83E2E1"/>
    <a:srgbClr val="93CAE0"/>
    <a:srgbClr val="86DFE0"/>
    <a:srgbClr val="616161"/>
    <a:srgbClr val="95C4DF"/>
    <a:srgbClr val="F26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9474C-0728-4133-A6D1-A692764969DA}" v="61" dt="2024-11-25T09:02:50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66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ngroup.com/" TargetMode="External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ngroup.com/" TargetMode="External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E3C42-C191-9631-4CFE-203FC50104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230210" y="5808619"/>
            <a:ext cx="2769911" cy="631029"/>
          </a:xfrm>
          <a:prstGeom prst="rect">
            <a:avLst/>
          </a:prstGeom>
        </p:spPr>
      </p:pic>
      <p:pic>
        <p:nvPicPr>
          <p:cNvPr id="9" name="Picture 8" descr="A logo with red text&#10;&#10;Description automatically generated">
            <a:extLst>
              <a:ext uri="{FF2B5EF4-FFF2-40B4-BE49-F238E27FC236}">
                <a16:creationId xmlns:a16="http://schemas.microsoft.com/office/drawing/2014/main" id="{2AAFE29D-2E74-FF20-C4A1-56A76B14F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08619"/>
            <a:ext cx="631029" cy="631029"/>
          </a:xfrm>
          <a:prstGeom prst="rect">
            <a:avLst/>
          </a:prstGeom>
        </p:spPr>
      </p:pic>
      <p:pic>
        <p:nvPicPr>
          <p:cNvPr id="10" name="Picture 9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D8C8BD4D-36E7-A89C-672B-D0391C26B5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08619"/>
            <a:ext cx="790960" cy="63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7546131-B7BB-A430-1C56-5655E9755F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736775F-6A19-332A-FFBC-2EEB2D6F69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54AA19A-CDD3-9D37-F52F-30A94B27D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7563585-6D28-5DE1-5461-82B8C7026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24F3DB-1C67-3622-FAE0-8AF492597E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BE236B8-969D-5871-C200-1718BE793B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941124A-CF9A-BC00-61DB-5D6E53597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09 June 2022</a:t>
            </a:r>
          </a:p>
        </p:txBody>
      </p:sp>
    </p:spTree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534568"/>
            <a:ext cx="7238755" cy="63287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>
                <a:effectLst/>
                <a:latin typeface="Arial" panose="020B0604020202020204" pitchFamily="34" charset="0"/>
              </a:rPr>
              <a:t>Lorem ipsum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sit </a:t>
            </a:r>
            <a:r>
              <a:rPr lang="en-GB" err="1">
                <a:effectLst/>
                <a:latin typeface="Arial" panose="020B0604020202020204" pitchFamily="34" charset="0"/>
              </a:rPr>
              <a:t>amet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consectetur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adipiscing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elit</a:t>
            </a:r>
            <a:r>
              <a:rPr lang="en-GB">
                <a:effectLst/>
                <a:latin typeface="Arial" panose="020B0604020202020204" pitchFamily="34" charset="0"/>
              </a:rPr>
              <a:t>. Ut convallis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Suspendisse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 id eros a </a:t>
            </a:r>
            <a:r>
              <a:rPr lang="en-GB" err="1">
                <a:effectLst/>
                <a:latin typeface="Arial" panose="020B0604020202020204" pitchFamily="34" charset="0"/>
              </a:rPr>
              <a:t>ultricies</a:t>
            </a:r>
            <a:r>
              <a:rPr lang="en-GB">
                <a:effectLst/>
                <a:latin typeface="Arial" panose="020B0604020202020204" pitchFamily="34" charset="0"/>
              </a:rPr>
              <a:t>. Vestibulum </a:t>
            </a:r>
            <a:r>
              <a:rPr lang="en-GB" err="1">
                <a:effectLst/>
                <a:latin typeface="Arial" panose="020B0604020202020204" pitchFamily="34" charset="0"/>
              </a:rPr>
              <a:t>iaculis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vitae fermentum </a:t>
            </a:r>
            <a:r>
              <a:rPr lang="en-GB" err="1">
                <a:effectLst/>
                <a:latin typeface="Arial" panose="020B0604020202020204" pitchFamily="34" charset="0"/>
              </a:rPr>
              <a:t>felis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sollicitudin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Pellentesque</a:t>
            </a:r>
            <a:r>
              <a:rPr lang="en-GB">
                <a:effectLst/>
                <a:latin typeface="Arial" panose="020B0604020202020204" pitchFamily="34" charset="0"/>
              </a:rPr>
              <a:t> tempus libero </a:t>
            </a:r>
            <a:r>
              <a:rPr lang="en-GB" err="1">
                <a:effectLst/>
                <a:latin typeface="Arial" panose="020B0604020202020204" pitchFamily="34" charset="0"/>
              </a:rPr>
              <a:t>nibh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nec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interdum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urna</a:t>
            </a:r>
            <a:r>
              <a:rPr lang="en-GB">
                <a:effectLst/>
                <a:latin typeface="Arial" panose="020B0604020202020204" pitchFamily="34" charset="0"/>
              </a:rPr>
              <a:t> fermentum vel. Nunc </a:t>
            </a:r>
            <a:r>
              <a:rPr lang="en-GB" err="1">
                <a:effectLst/>
                <a:latin typeface="Arial" panose="020B0604020202020204" pitchFamily="34" charset="0"/>
              </a:rPr>
              <a:t>dignissim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lacus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eu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hendrerit</a:t>
            </a:r>
            <a:r>
              <a:rPr lang="en-GB">
                <a:effectLst/>
                <a:latin typeface="Arial" panose="020B0604020202020204" pitchFamily="34" charset="0"/>
              </a:rPr>
              <a:t> magna </a:t>
            </a:r>
            <a:r>
              <a:rPr lang="en-GB" err="1">
                <a:effectLst/>
                <a:latin typeface="Arial" panose="020B0604020202020204" pitchFamily="34" charset="0"/>
              </a:rPr>
              <a:t>commodo</a:t>
            </a:r>
            <a:r>
              <a:rPr lang="en-GB">
                <a:effectLst/>
                <a:latin typeface="Arial" panose="020B0604020202020204" pitchFamily="34" charset="0"/>
              </a:rPr>
              <a:t> et.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suscipit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tellus</a:t>
            </a:r>
            <a:r>
              <a:rPr lang="en-GB">
                <a:effectLst/>
                <a:latin typeface="Arial" panose="020B0604020202020204" pitchFamily="34" charset="0"/>
              </a:rPr>
              <a:t> ac auctor </a:t>
            </a:r>
            <a:r>
              <a:rPr lang="en-GB" err="1">
                <a:effectLst/>
                <a:latin typeface="Arial" panose="020B0604020202020204" pitchFamily="34" charset="0"/>
              </a:rPr>
              <a:t>egestas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arcu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molestie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augue</a:t>
            </a:r>
            <a:r>
              <a:rPr lang="en-GB">
                <a:effectLst/>
                <a:latin typeface="Arial" panose="020B0604020202020204" pitchFamily="34" charset="0"/>
              </a:rPr>
              <a:t>, at porta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lectus</a:t>
            </a:r>
            <a:r>
              <a:rPr lang="en-GB">
                <a:effectLst/>
                <a:latin typeface="Arial" panose="020B0604020202020204" pitchFamily="34" charset="0"/>
              </a:rPr>
              <a:t>. Integer </a:t>
            </a:r>
            <a:r>
              <a:rPr lang="en-GB" err="1">
                <a:effectLst/>
                <a:latin typeface="Arial" panose="020B0604020202020204" pitchFamily="34" charset="0"/>
              </a:rPr>
              <a:t>justo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vulputate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laoreet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imperdiet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neque</a:t>
            </a:r>
            <a:r>
              <a:rPr lang="en-GB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err="1">
                <a:effectLst/>
                <a:latin typeface="Arial" panose="020B0604020202020204" pitchFamily="34" charset="0"/>
              </a:rPr>
              <a:t>primis</a:t>
            </a:r>
            <a:r>
              <a:rPr lang="en-GB">
                <a:effectLst/>
                <a:latin typeface="Arial" panose="020B0604020202020204" pitchFamily="34" charset="0"/>
              </a:rPr>
              <a:t> in </a:t>
            </a:r>
            <a:r>
              <a:rPr lang="en-GB" err="1">
                <a:effectLst/>
                <a:latin typeface="Arial" panose="020B0604020202020204" pitchFamily="34" charset="0"/>
              </a:rPr>
              <a:t>faucibus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et </a:t>
            </a:r>
            <a:r>
              <a:rPr lang="en-GB" err="1">
                <a:effectLst/>
                <a:latin typeface="Arial" panose="020B0604020202020204" pitchFamily="34" charset="0"/>
              </a:rPr>
              <a:t>ultrices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cubilia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curae</a:t>
            </a:r>
            <a:r>
              <a:rPr lang="en-GB">
                <a:effectLst/>
                <a:latin typeface="Arial" panose="020B0604020202020204" pitchFamily="34" charset="0"/>
              </a:rPr>
              <a:t>; Nam gravida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bibendum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. Nunc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ante, </a:t>
            </a:r>
            <a:r>
              <a:rPr lang="en-GB" err="1">
                <a:effectLst/>
                <a:latin typeface="Arial" panose="020B0604020202020204" pitchFamily="34" charset="0"/>
              </a:rPr>
              <a:t>elementum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vitae, maximus porta </a:t>
            </a:r>
            <a:r>
              <a:rPr lang="en-GB" err="1">
                <a:effectLst/>
                <a:latin typeface="Arial" panose="020B0604020202020204" pitchFamily="34" charset="0"/>
              </a:rPr>
              <a:t>nunc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Quisque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, in </a:t>
            </a:r>
            <a:r>
              <a:rPr lang="en-GB" err="1">
                <a:effectLst/>
                <a:latin typeface="Arial" panose="020B0604020202020204" pitchFamily="34" charset="0"/>
              </a:rPr>
              <a:t>tempor</a:t>
            </a:r>
            <a:r>
              <a:rPr lang="en-GB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35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942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2028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87430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95990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80569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89129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1FA3BE7-440C-4567-9737-E766215F79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B05212D-AC3C-4B83-8E54-95BFED51015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1000" y="4482204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501CDF0-53BC-4002-9AFF-A24B6D4F24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0262" y="1749425"/>
            <a:ext cx="8600738" cy="504000"/>
          </a:xfrm>
          <a:custGeom>
            <a:avLst/>
            <a:gdLst>
              <a:gd name="connsiteX0" fmla="*/ 126000 w 8600738"/>
              <a:gd name="connsiteY0" fmla="*/ 0 h 504000"/>
              <a:gd name="connsiteX1" fmla="*/ 8600738 w 8600738"/>
              <a:gd name="connsiteY1" fmla="*/ 0 h 504000"/>
              <a:gd name="connsiteX2" fmla="*/ 8474738 w 8600738"/>
              <a:gd name="connsiteY2" fmla="*/ 504000 h 504000"/>
              <a:gd name="connsiteX3" fmla="*/ 0 w 8600738"/>
              <a:gd name="connsiteY3" fmla="*/ 504000 h 5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00738" h="504000">
                <a:moveTo>
                  <a:pt x="126000" y="0"/>
                </a:moveTo>
                <a:lnTo>
                  <a:pt x="8600738" y="0"/>
                </a:lnTo>
                <a:lnTo>
                  <a:pt x="8474738" y="504000"/>
                </a:lnTo>
                <a:lnTo>
                  <a:pt x="0" y="504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97E263-ECEB-EE83-7268-E374F16AA264}"/>
              </a:ext>
            </a:extLst>
          </p:cNvPr>
          <p:cNvGrpSpPr/>
          <p:nvPr userDrawn="1"/>
        </p:nvGrpSpPr>
        <p:grpSpPr>
          <a:xfrm>
            <a:off x="381000" y="1872371"/>
            <a:ext cx="11430000" cy="3468510"/>
            <a:chOff x="383568" y="1872371"/>
            <a:chExt cx="11461750" cy="3468510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/>
          </p:nvGrpSpPr>
          <p:grpSpPr>
            <a:xfrm>
              <a:off x="383568" y="3351205"/>
              <a:ext cx="2954072" cy="1989161"/>
              <a:chOff x="1585475" y="5701396"/>
              <a:chExt cx="4362450" cy="2937510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58" y="5805739"/>
                <a:ext cx="0" cy="2467610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40" y="8365459"/>
                <a:ext cx="277495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887" y="8293642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81" y="8619154"/>
                <a:ext cx="3588385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14" y="8608533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36" y="8345358"/>
                <a:ext cx="25146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887" y="5732811"/>
                <a:ext cx="4330700" cy="2905760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2" name="object 13">
              <a:extLst>
                <a:ext uri="{FF2B5EF4-FFF2-40B4-BE49-F238E27FC236}">
                  <a16:creationId xmlns:a16="http://schemas.microsoft.com/office/drawing/2014/main" id="{7E5B0826-F496-42D4-2ABF-A97CDA263D6D}"/>
                </a:ext>
              </a:extLst>
            </p:cNvPr>
            <p:cNvGrpSpPr/>
            <p:nvPr/>
          </p:nvGrpSpPr>
          <p:grpSpPr>
            <a:xfrm>
              <a:off x="3323146" y="1872371"/>
              <a:ext cx="227038" cy="3206049"/>
              <a:chOff x="5926521" y="3517515"/>
              <a:chExt cx="335280" cy="4734560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5936992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5942968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5926518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3585493" y="1872371"/>
              <a:ext cx="2559765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6130966" y="2134832"/>
              <a:ext cx="227038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6393312" y="5113658"/>
              <a:ext cx="255976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8938785" y="1872371"/>
              <a:ext cx="227038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9201506" y="1872371"/>
              <a:ext cx="2623405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/>
          </p:nvGrpSpPr>
          <p:grpSpPr>
            <a:xfrm>
              <a:off x="11789849" y="2134641"/>
              <a:ext cx="55469" cy="1408236"/>
              <a:chOff x="18429794" y="3904825"/>
              <a:chExt cx="81915" cy="2079625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5"/>
                <a:ext cx="0" cy="1975485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5" y="5901139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2"/>
                <a:ext cx="81915" cy="112395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9" name="object 41">
            <a:extLst>
              <a:ext uri="{FF2B5EF4-FFF2-40B4-BE49-F238E27FC236}">
                <a16:creationId xmlns:a16="http://schemas.microsoft.com/office/drawing/2014/main" id="{F4C96F15-577B-B15C-203B-09FF3BC4F88D}"/>
              </a:ext>
            </a:extLst>
          </p:cNvPr>
          <p:cNvSpPr txBox="1"/>
          <p:nvPr/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42">
            <a:extLst>
              <a:ext uri="{FF2B5EF4-FFF2-40B4-BE49-F238E27FC236}">
                <a16:creationId xmlns:a16="http://schemas.microsoft.com/office/drawing/2014/main" id="{B506E51F-5613-26E7-A353-A53E1C21727E}"/>
              </a:ext>
            </a:extLst>
          </p:cNvPr>
          <p:cNvSpPr txBox="1"/>
          <p:nvPr/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1" name="object 43">
            <a:extLst>
              <a:ext uri="{FF2B5EF4-FFF2-40B4-BE49-F238E27FC236}">
                <a16:creationId xmlns:a16="http://schemas.microsoft.com/office/drawing/2014/main" id="{5A505723-704E-CFFD-48A1-8EC4B72D17D6}"/>
              </a:ext>
            </a:extLst>
          </p:cNvPr>
          <p:cNvSpPr txBox="1"/>
          <p:nvPr/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2" name="object 44">
            <a:extLst>
              <a:ext uri="{FF2B5EF4-FFF2-40B4-BE49-F238E27FC236}">
                <a16:creationId xmlns:a16="http://schemas.microsoft.com/office/drawing/2014/main" id="{08E01FBA-D2DC-58F0-60E0-F5A1D7DBDB34}"/>
              </a:ext>
            </a:extLst>
          </p:cNvPr>
          <p:cNvSpPr txBox="1"/>
          <p:nvPr/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C8B99-C9AA-E384-930D-5E4C4718A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AE7F5-893E-A665-D889-15C365D74E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30DEF-5321-7CC4-4A0C-347592D552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4C512-6D8E-8B3F-7C8E-63DB6C6883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44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53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51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7.xml"/><Relationship Id="rId36" Type="http://schemas.openxmlformats.org/officeDocument/2006/relationships/image" Target="../media/image1.sv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50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9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1CFC8-2F7D-403C-9132-65BA3BC001E8}" type="datetimeFigureOut">
              <a:rPr lang="en-GB" smtClean="0"/>
              <a:t>13/05/2026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43" r:id="rId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15" r:id="rId15"/>
    <p:sldLayoutId id="2147483692" r:id="rId16"/>
    <p:sldLayoutId id="2147483717" r:id="rId17"/>
    <p:sldLayoutId id="2147483739" r:id="rId18"/>
    <p:sldLayoutId id="2147483718" r:id="rId19"/>
    <p:sldLayoutId id="2147483740" r:id="rId20"/>
    <p:sldLayoutId id="2147483719" r:id="rId21"/>
    <p:sldLayoutId id="2147483741" r:id="rId22"/>
    <p:sldLayoutId id="2147483720" r:id="rId23"/>
    <p:sldLayoutId id="2147483696" r:id="rId24"/>
    <p:sldLayoutId id="2147483711" r:id="rId25"/>
    <p:sldLayoutId id="2147483693" r:id="rId26"/>
    <p:sldLayoutId id="2147483694" r:id="rId27"/>
    <p:sldLayoutId id="2147483695" r:id="rId28"/>
    <p:sldLayoutId id="2147483698" r:id="rId29"/>
    <p:sldLayoutId id="2147483697" r:id="rId30"/>
    <p:sldLayoutId id="2147483681" r:id="rId31"/>
    <p:sldLayoutId id="2147483682" r:id="rId32"/>
    <p:sldLayoutId id="2147483683" r:id="rId33"/>
    <p:sldLayoutId id="2147483742" r:id="rId3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apple-system"/>
              </a:rPr>
              <a:t>R</a:t>
            </a:r>
            <a:r>
              <a:rPr lang="en-IN" b="0" dirty="0" err="1">
                <a:latin typeface="-apple-system"/>
              </a:rPr>
              <a:t>etail</a:t>
            </a:r>
            <a:r>
              <a:rPr lang="en-IN" b="0" dirty="0">
                <a:latin typeface="-apple-system"/>
              </a:rPr>
              <a:t> Store Sales Performance &amp; Inventory Optimization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r>
              <a:rPr lang="en-IN" dirty="0"/>
              <a:t>07</a:t>
            </a:r>
            <a:r>
              <a:rPr lang="en-IN" baseline="30000" dirty="0"/>
              <a:t>th </a:t>
            </a:r>
            <a:r>
              <a:rPr lang="en-IN" dirty="0"/>
              <a:t>May 2026</a:t>
            </a: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B70F8961-B942-8CE6-A098-6CD8A2BC015B}"/>
              </a:ext>
            </a:extLst>
          </p:cNvPr>
          <p:cNvSpPr/>
          <p:nvPr/>
        </p:nvSpPr>
        <p:spPr>
          <a:xfrm>
            <a:off x="383908" y="469632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Power BI analytics report covering sales trends,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risks, marketing patterns &amp; cross-category insights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43EB4-DD1F-D9B6-F8FD-75BDDA751AE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230225"/>
            <a:ext cx="11430000" cy="365760"/>
          </a:xfrm>
        </p:spPr>
        <p:txBody>
          <a:bodyPr/>
          <a:lstStyle/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Project Context &amp; Objectives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C153C-FBE9-7821-9878-93C5A4302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7106" y="1138785"/>
            <a:ext cx="731520" cy="548640"/>
          </a:xfrm>
        </p:spPr>
        <p:txBody>
          <a:bodyPr/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065379-B2F7-E15E-78CD-F41ECEF59F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1923364"/>
            <a:ext cx="11430000" cy="365760"/>
          </a:xfrm>
        </p:spPr>
        <p:txBody>
          <a:bodyPr/>
          <a:lstStyle/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Data Overview &amp; Preparation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9AAC05-025E-27E8-9973-C94D44FBF2B7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616503"/>
            <a:ext cx="11430000" cy="365760"/>
          </a:xfrm>
        </p:spPr>
        <p:txBody>
          <a:bodyPr/>
          <a:lstStyle/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Executive Sales Overview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526FB2-EFC3-97DB-1603-11E367E287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7106" y="2525063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573DC7-C4E5-DEB1-A04D-82FAD941D4DC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309642"/>
            <a:ext cx="11430000" cy="365760"/>
          </a:xfrm>
        </p:spPr>
        <p:txBody>
          <a:bodyPr/>
          <a:lstStyle/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Growth Story 2022 → 2023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09EC94-4B04-7B94-3835-5E738F5612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106" y="3218202"/>
            <a:ext cx="731520" cy="548640"/>
          </a:xfrm>
          <a:solidFill>
            <a:schemeClr val="tx2"/>
          </a:solidFill>
        </p:spPr>
        <p:txBody>
          <a:bodyPr/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1916CB-5472-9124-601D-91A969B8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6988FF9-01E3-68A9-1953-9BBCCFC1FD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7375" y="1832523"/>
            <a:ext cx="731838" cy="547688"/>
          </a:xfrm>
          <a:solidFill>
            <a:schemeClr val="tx2"/>
          </a:solidFill>
        </p:spPr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EE0A4BB6-797C-6696-CC64-2DEE60F4F885}"/>
              </a:ext>
            </a:extLst>
          </p:cNvPr>
          <p:cNvSpPr txBox="1">
            <a:spLocks/>
          </p:cNvSpPr>
          <p:nvPr/>
        </p:nvSpPr>
        <p:spPr>
          <a:xfrm>
            <a:off x="381000" y="400278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F89F980-84D2-2158-064F-B97857E4A1D0}"/>
              </a:ext>
            </a:extLst>
          </p:cNvPr>
          <p:cNvSpPr txBox="1">
            <a:spLocks/>
          </p:cNvSpPr>
          <p:nvPr/>
        </p:nvSpPr>
        <p:spPr>
          <a:xfrm>
            <a:off x="587106" y="3911341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" name="Content Placeholder 11">
            <a:extLst>
              <a:ext uri="{FF2B5EF4-FFF2-40B4-BE49-F238E27FC236}">
                <a16:creationId xmlns:a16="http://schemas.microsoft.com/office/drawing/2014/main" id="{9385DC15-AE62-A77D-FEC6-C6BBADFD4BF4}"/>
              </a:ext>
            </a:extLst>
          </p:cNvPr>
          <p:cNvSpPr txBox="1">
            <a:spLocks/>
          </p:cNvSpPr>
          <p:nvPr/>
        </p:nvSpPr>
        <p:spPr>
          <a:xfrm>
            <a:off x="381000" y="4646579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Marketing &amp; Customer Insights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1F98C20-75C9-7557-3ECC-0A6F4C2CD920}"/>
              </a:ext>
            </a:extLst>
          </p:cNvPr>
          <p:cNvSpPr txBox="1">
            <a:spLocks/>
          </p:cNvSpPr>
          <p:nvPr/>
        </p:nvSpPr>
        <p:spPr>
          <a:xfrm>
            <a:off x="587106" y="4555139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904606F7-2E7B-CC03-338D-9F049432FA02}"/>
              </a:ext>
            </a:extLst>
          </p:cNvPr>
          <p:cNvSpPr txBox="1">
            <a:spLocks/>
          </p:cNvSpPr>
          <p:nvPr/>
        </p:nvSpPr>
        <p:spPr>
          <a:xfrm>
            <a:off x="381000" y="5339718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1F5E"/>
                </a:solidFill>
                <a:ea typeface="Calibri" pitchFamily="34" charset="-122"/>
                <a:cs typeface="Calibri" pitchFamily="34" charset="-120"/>
              </a:rPr>
              <a:t>Store Performance &amp; Basket Analysis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CDA6F1A-5279-4568-BC3B-8643F10B73E1}"/>
              </a:ext>
            </a:extLst>
          </p:cNvPr>
          <p:cNvSpPr txBox="1">
            <a:spLocks/>
          </p:cNvSpPr>
          <p:nvPr/>
        </p:nvSpPr>
        <p:spPr>
          <a:xfrm>
            <a:off x="587106" y="5248278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08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705600" y="-1463040"/>
            <a:ext cx="7315200" cy="7315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24800" y="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70560" y="1828800"/>
            <a:ext cx="243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66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666" dirty="0"/>
          </a:p>
        </p:txBody>
      </p:sp>
      <p:sp>
        <p:nvSpPr>
          <p:cNvPr id="6" name="Text 4"/>
          <p:cNvSpPr/>
          <p:nvPr/>
        </p:nvSpPr>
        <p:spPr>
          <a:xfrm>
            <a:off x="670560" y="3169920"/>
            <a:ext cx="73152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Context</a:t>
            </a:r>
            <a:endParaRPr lang="en-US" sz="4267" dirty="0"/>
          </a:p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Objectives</a:t>
            </a:r>
            <a:endParaRPr lang="en-US" sz="4267" dirty="0"/>
          </a:p>
        </p:txBody>
      </p:sp>
      <p:sp>
        <p:nvSpPr>
          <p:cNvPr id="7" name="Text 5"/>
          <p:cNvSpPr/>
          <p:nvPr/>
        </p:nvSpPr>
        <p:spPr>
          <a:xfrm>
            <a:off x="670560" y="4511040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existed</a:t>
            </a:r>
            <a:endParaRPr lang="en-US" sz="1867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28034C-6958-BBA8-C1C8-975D48FBD0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256032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F5E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Project Context &amp; Objectives</a:t>
            </a:r>
            <a:endParaRPr lang="en-US" sz="32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853440"/>
            <a:ext cx="97536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A6E82"/>
                </a:solidFill>
                <a:latin typeface="+mj-lt"/>
                <a:ea typeface="Calibri" pitchFamily="34" charset="-122"/>
                <a:cs typeface="Calibri" pitchFamily="34" charset="-120"/>
              </a:rPr>
              <a:t>What the business needed — and what we built</a:t>
            </a:r>
            <a:endParaRPr lang="en-US" sz="1733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341120"/>
            <a:ext cx="4389120" cy="1706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7680" y="1341120"/>
            <a:ext cx="73152" cy="17068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" y="1402080"/>
            <a:ext cx="4023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33" dirty="0">
                <a:solidFill>
                  <a:srgbClr val="1B9AAA"/>
                </a:solidFill>
                <a:latin typeface="+mj-lt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33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1682496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A multi-format retail chain with 1M+ transaction records needed a single analytics solution to understand sales performance, identify inventory risk, and uncover customer purchasing patterns across 5 regions and 7 product categories.</a:t>
            </a:r>
            <a:endParaRPr lang="en-US" sz="1467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42560" y="1297485"/>
            <a:ext cx="64617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33" dirty="0">
                <a:solidFill>
                  <a:srgbClr val="2B3480"/>
                </a:solidFill>
                <a:latin typeface="+mj-lt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333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42560" y="1682496"/>
            <a:ext cx="146304" cy="146304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6581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Track total sales performance &amp; profitability trends</a:t>
            </a:r>
            <a:endParaRPr lang="en-US" sz="1467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42560" y="2097024"/>
            <a:ext cx="146304" cy="146304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072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Identify stockout risks before they impact revenue</a:t>
            </a:r>
            <a:endParaRPr lang="en-US" sz="1467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42560" y="2511552"/>
            <a:ext cx="146304" cy="146304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4871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Understand seasonal &amp; customer loyalty patterns</a:t>
            </a:r>
            <a:endParaRPr lang="en-US" sz="1467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42560" y="2926080"/>
            <a:ext cx="146304" cy="146304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90169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Analyse store format efficiency (sales per sq ft)</a:t>
            </a:r>
            <a:endParaRPr lang="en-US" sz="1467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42560" y="3340608"/>
            <a:ext cx="146304" cy="146304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31622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Discover cross-category purchasing behaviour</a:t>
            </a:r>
            <a:endParaRPr lang="en-US" sz="1467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7680" y="3230880"/>
            <a:ext cx="4876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33" dirty="0">
                <a:solidFill>
                  <a:srgbClr val="0A6E82"/>
                </a:solidFill>
                <a:latin typeface="+mj-lt"/>
                <a:ea typeface="Calibri" pitchFamily="34" charset="-122"/>
                <a:cs typeface="Calibri" pitchFamily="34" charset="-120"/>
              </a:rPr>
              <a:t>SCOPE AT A GLANCE</a:t>
            </a:r>
            <a:endParaRPr lang="en-US" sz="1333" dirty="0">
              <a:latin typeface="+mj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3596640"/>
            <a:ext cx="2682240" cy="13411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7680" y="3657600"/>
            <a:ext cx="26822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2EC4B6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10L+</a:t>
            </a:r>
            <a:endParaRPr lang="en-US" sz="40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4291584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Transaction</a:t>
            </a:r>
            <a:endParaRPr lang="en-US" sz="1333" dirty="0">
              <a:latin typeface="+mj-lt"/>
            </a:endParaRPr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1333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89376" y="3596640"/>
            <a:ext cx="2682240" cy="13411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9376" y="3657600"/>
            <a:ext cx="26822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2EC4B6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500</a:t>
            </a:r>
            <a:endParaRPr lang="en-US" sz="4000" dirty="0">
              <a:latin typeface="+mj-l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89376" y="4291584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Dim Products</a:t>
            </a:r>
            <a:endParaRPr lang="en-US" sz="1333" dirty="0">
              <a:latin typeface="+mj-lt"/>
            </a:endParaRPr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records</a:t>
            </a:r>
            <a:endParaRPr lang="en-US" sz="1333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91072" y="3596640"/>
            <a:ext cx="2682240" cy="13411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91072" y="3657600"/>
            <a:ext cx="26822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2EC4B6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55</a:t>
            </a:r>
            <a:endParaRPr lang="en-US" sz="40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91072" y="4291584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Dim Stores</a:t>
            </a:r>
            <a:endParaRPr lang="en-US" sz="1333" dirty="0">
              <a:latin typeface="+mj-lt"/>
            </a:endParaRPr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records</a:t>
            </a:r>
            <a:endParaRPr lang="en-US" sz="1333" dirty="0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92768" y="3596640"/>
            <a:ext cx="2682240" cy="13411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92768" y="3657600"/>
            <a:ext cx="26822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2EC4B6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92768" y="4291584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Dashboard</a:t>
            </a:r>
            <a:endParaRPr lang="en-US" sz="1333" dirty="0">
              <a:latin typeface="+mj-lt"/>
            </a:endParaRPr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pages built</a:t>
            </a:r>
            <a:endParaRPr lang="en-US" sz="1333" dirty="0">
              <a:latin typeface="+mj-lt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5120640"/>
            <a:ext cx="112166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181600"/>
            <a:ext cx="36576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33" dirty="0">
                <a:solidFill>
                  <a:srgbClr val="1B9AAA"/>
                </a:solidFill>
                <a:latin typeface="+mj-lt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200" dirty="0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" y="5401056"/>
            <a:ext cx="1072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Power BI  (Power Query, DAX, Python Visual)     Python  (mlxtend — Apriori algorithm)</a:t>
            </a:r>
            <a:endParaRPr lang="en-US" sz="1467" dirty="0">
              <a:latin typeface="+mj-lt"/>
            </a:endParaRPr>
          </a:p>
          <a:p>
            <a:r>
              <a:rPr lang="en-US" sz="1467" dirty="0">
                <a:solidFill>
                  <a:srgbClr val="2D3748"/>
                </a:solidFill>
                <a:latin typeface="+mj-lt"/>
                <a:ea typeface="Calibri" pitchFamily="34" charset="-122"/>
                <a:cs typeface="Calibri" pitchFamily="34" charset="-120"/>
              </a:rPr>
              <a:t>Star schema data model  |  1 fact table  +  3 dim tables  |  Date table (Calendar)</a:t>
            </a:r>
            <a:endParaRPr lang="en-US" sz="1467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7315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Overview: Column Selection &amp; Removal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Clinic</a:t>
            </a:r>
            <a:r>
              <a:rPr sz="1200" dirty="0">
                <a:solidFill>
                  <a:srgbClr val="FFFFFF"/>
                </a:solidFill>
              </a:rPr>
              <a:t> Dataset · Column-level decisions made before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" y="1207008"/>
            <a:ext cx="3566160" cy="3511296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3880" y="1207007"/>
            <a:ext cx="3566160" cy="47565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8744" y="1316736"/>
            <a:ext cx="15776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Columns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44" y="2027713"/>
            <a:ext cx="338328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C0392B"/>
                </a:solidFill>
              </a:rPr>
              <a:t>▸  Star Score — redundant with star_rating2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C0392B"/>
                </a:solidFill>
              </a:rPr>
              <a:t>▸  </a:t>
            </a:r>
            <a:r>
              <a:rPr sz="1100" dirty="0" err="1">
                <a:solidFill>
                  <a:srgbClr val="C0392B"/>
                </a:solidFill>
              </a:rPr>
              <a:t>Haemorrhoids</a:t>
            </a:r>
            <a:r>
              <a:rPr sz="1100" dirty="0">
                <a:solidFill>
                  <a:srgbClr val="C0392B"/>
                </a:solidFill>
              </a:rPr>
              <a:t> — no values present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C0392B"/>
                </a:solidFill>
              </a:rPr>
              <a:t>▸  Bunion — no values present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C0392B"/>
                </a:solidFill>
              </a:rPr>
              <a:t>▸  Online — felt irrelevant to review quality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2920" y="1207007"/>
            <a:ext cx="3566160" cy="3511295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312920" y="1207007"/>
            <a:ext cx="3566160" cy="475651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6072" y="1316736"/>
            <a:ext cx="22901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Metrics Not Used in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072" y="2027713"/>
            <a:ext cx="338328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888888"/>
                </a:solidFill>
              </a:rPr>
              <a:t>▸  Sentiment — text labels didn't align with numeric star rating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888888"/>
                </a:solidFill>
              </a:rPr>
              <a:t>▸  Polarity score — scores inconsistent with star rating distribution</a:t>
            </a:r>
            <a:endParaRPr sz="1100" dirty="0"/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888888"/>
                </a:solidFill>
              </a:rPr>
              <a:t>▸  Both columns retained in raw data but excluded from visualizations</a:t>
            </a:r>
            <a:r>
              <a:rPr lang="en-US" sz="1100" dirty="0">
                <a:solidFill>
                  <a:srgbClr val="888888"/>
                </a:solidFill>
              </a:rPr>
              <a:t>.</a:t>
            </a:r>
            <a:endParaRPr sz="1100" dirty="0">
              <a:solidFill>
                <a:srgbClr val="88888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61960" y="1207008"/>
            <a:ext cx="3566160" cy="3511294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1960" y="1207007"/>
            <a:ext cx="3566160" cy="475651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6824" y="1327219"/>
            <a:ext cx="24536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Columns Retained for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400" y="2027713"/>
            <a:ext cx="33832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</a:t>
            </a:r>
            <a:r>
              <a:rPr sz="1100" dirty="0" err="1">
                <a:solidFill>
                  <a:srgbClr val="222222"/>
                </a:solidFill>
              </a:rPr>
              <a:t>star_rating</a:t>
            </a:r>
            <a:r>
              <a:rPr sz="1100" dirty="0">
                <a:solidFill>
                  <a:srgbClr val="222222"/>
                </a:solidFill>
              </a:rPr>
              <a:t> — primary performance metric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</a:t>
            </a:r>
            <a:r>
              <a:rPr sz="1100" dirty="0" err="1">
                <a:solidFill>
                  <a:srgbClr val="222222"/>
                </a:solidFill>
              </a:rPr>
              <a:t>published_date</a:t>
            </a:r>
            <a:r>
              <a:rPr sz="1100" dirty="0">
                <a:solidFill>
                  <a:srgbClr val="222222"/>
                </a:solidFill>
              </a:rPr>
              <a:t> — converted to short date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Company / Type — competitor grouping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Cleanliness — standardized values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Experience — standardized values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Cost — cleaned missing values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</a:t>
            </a:r>
            <a:r>
              <a:rPr sz="1100" dirty="0" err="1">
                <a:solidFill>
                  <a:srgbClr val="222222"/>
                </a:solidFill>
              </a:rPr>
              <a:t>review_body</a:t>
            </a:r>
            <a:r>
              <a:rPr sz="1100" dirty="0">
                <a:solidFill>
                  <a:srgbClr val="222222"/>
                </a:solidFill>
              </a:rPr>
              <a:t> — qualitative context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61F02DB2-0509-30F4-24B0-D6B35E61BB01}"/>
              </a:ext>
            </a:extLst>
          </p:cNvPr>
          <p:cNvGrpSpPr/>
          <p:nvPr/>
        </p:nvGrpSpPr>
        <p:grpSpPr>
          <a:xfrm>
            <a:off x="3333105" y="3998391"/>
            <a:ext cx="488618" cy="571554"/>
            <a:chOff x="8726869" y="1260875"/>
            <a:chExt cx="488618" cy="571554"/>
          </a:xfrm>
        </p:grpSpPr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2574E6DE-AA8F-0AB0-4997-9CE89551D983}"/>
                </a:ext>
              </a:extLst>
            </p:cNvPr>
            <p:cNvSpPr/>
            <p:nvPr/>
          </p:nvSpPr>
          <p:spPr>
            <a:xfrm flipH="1">
              <a:off x="8726869" y="1260875"/>
              <a:ext cx="205081" cy="35637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0E20F744-B5C3-7F22-BCDB-C40B3214D5FA}"/>
                </a:ext>
              </a:extLst>
            </p:cNvPr>
            <p:cNvSpPr/>
            <p:nvPr/>
          </p:nvSpPr>
          <p:spPr>
            <a:xfrm flipH="1">
              <a:off x="9107899" y="1646395"/>
              <a:ext cx="107588" cy="1860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9" name="Line 7">
              <a:extLst>
                <a:ext uri="{FF2B5EF4-FFF2-40B4-BE49-F238E27FC236}">
                  <a16:creationId xmlns:a16="http://schemas.microsoft.com/office/drawing/2014/main" id="{58E38E43-AA4D-8B8A-036C-C8E5A7E39432}"/>
                </a:ext>
              </a:extLst>
            </p:cNvPr>
            <p:cNvSpPr/>
            <p:nvPr/>
          </p:nvSpPr>
          <p:spPr>
            <a:xfrm flipH="1">
              <a:off x="9113504" y="1290017"/>
              <a:ext cx="56034" cy="975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6A7E3139-27ED-21CA-6F00-13D05B45CB2D}"/>
                </a:ext>
              </a:extLst>
            </p:cNvPr>
            <p:cNvSpPr/>
            <p:nvPr/>
          </p:nvSpPr>
          <p:spPr>
            <a:xfrm>
              <a:off x="8849023" y="1376309"/>
              <a:ext cx="341811" cy="34292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7"/>
                <a:gd name="f7" fmla="val 112"/>
                <a:gd name="f8" fmla="val 91"/>
                <a:gd name="f9" fmla="val 96"/>
                <a:gd name="f10" fmla="val 118"/>
                <a:gd name="f11" fmla="val 62"/>
                <a:gd name="f12" fmla="val 36"/>
                <a:gd name="f13" fmla="val 111"/>
                <a:gd name="f14" fmla="val 9"/>
                <a:gd name="f15" fmla="val 15"/>
                <a:gd name="f16" fmla="val 35"/>
                <a:gd name="f17" fmla="val 31"/>
                <a:gd name="f18" fmla="val 65"/>
                <a:gd name="f19" fmla="val 30"/>
                <a:gd name="f20" fmla="val 64"/>
                <a:gd name="f21" fmla="+- 0 0 -90"/>
                <a:gd name="f22" fmla="*/ f3 1 127"/>
                <a:gd name="f23" fmla="*/ f4 1 127"/>
                <a:gd name="f24" fmla="+- f6 0 f5"/>
                <a:gd name="f25" fmla="*/ f21 f0 1"/>
                <a:gd name="f26" fmla="*/ f24 1 127"/>
                <a:gd name="f27" fmla="*/ 112 f24 1"/>
                <a:gd name="f28" fmla="*/ 91 f24 1"/>
                <a:gd name="f29" fmla="*/ 36 f24 1"/>
                <a:gd name="f30" fmla="*/ 111 f24 1"/>
                <a:gd name="f31" fmla="*/ 15 f24 1"/>
                <a:gd name="f32" fmla="*/ 35 f24 1"/>
                <a:gd name="f33" fmla="*/ f25 1 f2"/>
                <a:gd name="f34" fmla="*/ f27 1 127"/>
                <a:gd name="f35" fmla="*/ f28 1 127"/>
                <a:gd name="f36" fmla="*/ f29 1 127"/>
                <a:gd name="f37" fmla="*/ f30 1 127"/>
                <a:gd name="f38" fmla="*/ f31 1 127"/>
                <a:gd name="f39" fmla="*/ f32 1 127"/>
                <a:gd name="f40" fmla="*/ 0 1 f26"/>
                <a:gd name="f41" fmla="*/ f6 1 f26"/>
                <a:gd name="f42" fmla="+- f33 0 f1"/>
                <a:gd name="f43" fmla="*/ f34 1 f26"/>
                <a:gd name="f44" fmla="*/ f35 1 f26"/>
                <a:gd name="f45" fmla="*/ f36 1 f26"/>
                <a:gd name="f46" fmla="*/ f37 1 f26"/>
                <a:gd name="f47" fmla="*/ f38 1 f26"/>
                <a:gd name="f48" fmla="*/ f39 1 f26"/>
                <a:gd name="f49" fmla="*/ f40 f22 1"/>
                <a:gd name="f50" fmla="*/ f41 f22 1"/>
                <a:gd name="f51" fmla="*/ f41 f23 1"/>
                <a:gd name="f52" fmla="*/ f40 f23 1"/>
                <a:gd name="f53" fmla="*/ f43 f22 1"/>
                <a:gd name="f54" fmla="*/ f44 f23 1"/>
                <a:gd name="f55" fmla="*/ f45 f22 1"/>
                <a:gd name="f56" fmla="*/ f46 f23 1"/>
                <a:gd name="f57" fmla="*/ f47 f22 1"/>
                <a:gd name="f58" fmla="*/ f48 f23 1"/>
                <a:gd name="f59" fmla="*/ f44 f22 1"/>
                <a:gd name="f60" fmla="*/ f47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2">
                  <a:pos x="f53" y="f54"/>
                </a:cxn>
                <a:cxn ang="f42">
                  <a:pos x="f55" y="f56"/>
                </a:cxn>
                <a:cxn ang="f42">
                  <a:pos x="f57" y="f58"/>
                </a:cxn>
                <a:cxn ang="f42">
                  <a:pos x="f59" y="f60"/>
                </a:cxn>
                <a:cxn ang="f42">
                  <a:pos x="f53" y="f54"/>
                </a:cxn>
              </a:cxnLst>
              <a:rect l="f49" t="f52" r="f50" b="f51"/>
              <a:pathLst>
                <a:path w="127" h="127">
                  <a:moveTo>
                    <a:pt x="f7" y="f8"/>
                  </a:moveTo>
                  <a:cubicBezTo>
                    <a:pt x="f9" y="f10"/>
                    <a:pt x="f11" y="f6"/>
                    <a:pt x="f12" y="f13"/>
                  </a:cubicBezTo>
                  <a:cubicBezTo>
                    <a:pt x="f14" y="f9"/>
                    <a:pt x="f5" y="f11"/>
                    <a:pt x="f15" y="f16"/>
                  </a:cubicBezTo>
                  <a:cubicBezTo>
                    <a:pt x="f17" y="f14"/>
                    <a:pt x="f18" y="f5"/>
                    <a:pt x="f8" y="f15"/>
                  </a:cubicBezTo>
                  <a:cubicBezTo>
                    <a:pt x="f10" y="f19"/>
                    <a:pt x="f6" y="f20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C933B5AF-EB77-B367-8ED5-77B76FF72230}"/>
                </a:ext>
              </a:extLst>
            </p:cNvPr>
            <p:cNvSpPr/>
            <p:nvPr/>
          </p:nvSpPr>
          <p:spPr>
            <a:xfrm>
              <a:off x="8948766" y="1477167"/>
              <a:ext cx="142326" cy="14232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7"/>
                <a:gd name="f7" fmla="val 82"/>
                <a:gd name="f8" fmla="val 72"/>
                <a:gd name="f9" fmla="val 94"/>
                <a:gd name="f10" fmla="val 117"/>
                <a:gd name="f11" fmla="val 65"/>
                <a:gd name="f12" fmla="val 53"/>
                <a:gd name="f13" fmla="val 81"/>
                <a:gd name="f14" fmla="val 7"/>
                <a:gd name="f15" fmla="val 93"/>
                <a:gd name="f16" fmla="val 45"/>
                <a:gd name="f17" fmla="val 52"/>
                <a:gd name="f18" fmla="val 33"/>
                <a:gd name="f19" fmla="val 62"/>
                <a:gd name="f20" fmla="val 74"/>
                <a:gd name="f21" fmla="val 120"/>
                <a:gd name="f22" fmla="val 60"/>
                <a:gd name="f23" fmla="+- 0 0 -90"/>
                <a:gd name="f24" fmla="*/ f3 1 127"/>
                <a:gd name="f25" fmla="*/ f4 1 127"/>
                <a:gd name="f26" fmla="+- f6 0 f5"/>
                <a:gd name="f27" fmla="*/ f23 f0 1"/>
                <a:gd name="f28" fmla="*/ f26 1 127"/>
                <a:gd name="f29" fmla="*/ 82 f26 1"/>
                <a:gd name="f30" fmla="*/ 72 f26 1"/>
                <a:gd name="f31" fmla="*/ 94 f26 1"/>
                <a:gd name="f32" fmla="*/ 117 f26 1"/>
                <a:gd name="f33" fmla="*/ 65 f26 1"/>
                <a:gd name="f34" fmla="*/ 127 f26 1"/>
                <a:gd name="f35" fmla="*/ 53 f26 1"/>
                <a:gd name="f36" fmla="*/ 81 f26 1"/>
                <a:gd name="f37" fmla="*/ 7 f26 1"/>
                <a:gd name="f38" fmla="*/ 93 f26 1"/>
                <a:gd name="f39" fmla="*/ 0 f26 1"/>
                <a:gd name="f40" fmla="*/ 45 f26 1"/>
                <a:gd name="f41" fmla="*/ 52 f26 1"/>
                <a:gd name="f42" fmla="*/ 33 f26 1"/>
                <a:gd name="f43" fmla="*/ 62 f26 1"/>
                <a:gd name="f44" fmla="*/ 74 f26 1"/>
                <a:gd name="f45" fmla="*/ 120 f26 1"/>
                <a:gd name="f46" fmla="*/ 60 f26 1"/>
                <a:gd name="f47" fmla="*/ f27 1 f2"/>
                <a:gd name="f48" fmla="*/ f29 1 127"/>
                <a:gd name="f49" fmla="*/ f30 1 127"/>
                <a:gd name="f50" fmla="*/ f31 1 127"/>
                <a:gd name="f51" fmla="*/ f32 1 127"/>
                <a:gd name="f52" fmla="*/ f33 1 127"/>
                <a:gd name="f53" fmla="*/ f34 1 127"/>
                <a:gd name="f54" fmla="*/ f35 1 127"/>
                <a:gd name="f55" fmla="*/ f36 1 127"/>
                <a:gd name="f56" fmla="*/ f37 1 127"/>
                <a:gd name="f57" fmla="*/ f38 1 127"/>
                <a:gd name="f58" fmla="*/ f39 1 127"/>
                <a:gd name="f59" fmla="*/ f40 1 127"/>
                <a:gd name="f60" fmla="*/ f41 1 127"/>
                <a:gd name="f61" fmla="*/ f42 1 127"/>
                <a:gd name="f62" fmla="*/ f43 1 127"/>
                <a:gd name="f63" fmla="*/ f44 1 127"/>
                <a:gd name="f64" fmla="*/ f45 1 127"/>
                <a:gd name="f65" fmla="*/ f46 1 127"/>
                <a:gd name="f66" fmla="*/ 0 1 f28"/>
                <a:gd name="f67" fmla="*/ f6 1 f28"/>
                <a:gd name="f68" fmla="+- f47 0 f1"/>
                <a:gd name="f69" fmla="*/ f48 1 f28"/>
                <a:gd name="f70" fmla="*/ f49 1 f28"/>
                <a:gd name="f71" fmla="*/ f50 1 f28"/>
                <a:gd name="f72" fmla="*/ f51 1 f28"/>
                <a:gd name="f73" fmla="*/ f52 1 f28"/>
                <a:gd name="f74" fmla="*/ f53 1 f28"/>
                <a:gd name="f75" fmla="*/ f54 1 f28"/>
                <a:gd name="f76" fmla="*/ f55 1 f28"/>
                <a:gd name="f77" fmla="*/ f56 1 f28"/>
                <a:gd name="f78" fmla="*/ f57 1 f28"/>
                <a:gd name="f79" fmla="*/ f58 1 f28"/>
                <a:gd name="f80" fmla="*/ f59 1 f28"/>
                <a:gd name="f81" fmla="*/ f60 1 f28"/>
                <a:gd name="f82" fmla="*/ f61 1 f28"/>
                <a:gd name="f83" fmla="*/ f62 1 f28"/>
                <a:gd name="f84" fmla="*/ f63 1 f28"/>
                <a:gd name="f85" fmla="*/ f64 1 f28"/>
                <a:gd name="f86" fmla="*/ f65 1 f28"/>
                <a:gd name="f87" fmla="*/ f66 f24 1"/>
                <a:gd name="f88" fmla="*/ f67 f24 1"/>
                <a:gd name="f89" fmla="*/ f67 f25 1"/>
                <a:gd name="f90" fmla="*/ f66 f25 1"/>
                <a:gd name="f91" fmla="*/ f69 f24 1"/>
                <a:gd name="f92" fmla="*/ f70 f25 1"/>
                <a:gd name="f93" fmla="*/ f71 f24 1"/>
                <a:gd name="f94" fmla="*/ f72 f25 1"/>
                <a:gd name="f95" fmla="*/ f73 f24 1"/>
                <a:gd name="f96" fmla="*/ f74 f25 1"/>
                <a:gd name="f97" fmla="*/ f75 f24 1"/>
                <a:gd name="f98" fmla="*/ f76 f25 1"/>
                <a:gd name="f99" fmla="*/ f77 f24 1"/>
                <a:gd name="f100" fmla="*/ f78 f25 1"/>
                <a:gd name="f101" fmla="*/ f79 f24 1"/>
                <a:gd name="f102" fmla="*/ f73 f25 1"/>
                <a:gd name="f103" fmla="*/ f80 f24 1"/>
                <a:gd name="f104" fmla="*/ f81 f25 1"/>
                <a:gd name="f105" fmla="*/ f82 f24 1"/>
                <a:gd name="f106" fmla="*/ f77 f25 1"/>
                <a:gd name="f107" fmla="*/ f83 f24 1"/>
                <a:gd name="f108" fmla="*/ f79 f25 1"/>
                <a:gd name="f109" fmla="*/ f84 f24 1"/>
                <a:gd name="f110" fmla="*/ f80 f25 1"/>
                <a:gd name="f111" fmla="*/ f85 f24 1"/>
                <a:gd name="f112" fmla="*/ f82 f25 1"/>
                <a:gd name="f113" fmla="*/ f74 f24 1"/>
                <a:gd name="f114" fmla="*/ f86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8">
                  <a:pos x="f91" y="f92"/>
                </a:cxn>
                <a:cxn ang="f68">
                  <a:pos x="f93" y="f94"/>
                </a:cxn>
                <a:cxn ang="f68">
                  <a:pos x="f95" y="f96"/>
                </a:cxn>
                <a:cxn ang="f68">
                  <a:pos x="f97" y="f98"/>
                </a:cxn>
                <a:cxn ang="f68">
                  <a:pos x="f99" y="f100"/>
                </a:cxn>
                <a:cxn ang="f68">
                  <a:pos x="f101" y="f102"/>
                </a:cxn>
                <a:cxn ang="f68">
                  <a:pos x="f103" y="f104"/>
                </a:cxn>
                <a:cxn ang="f68">
                  <a:pos x="f105" y="f106"/>
                </a:cxn>
                <a:cxn ang="f68">
                  <a:pos x="f107" y="f108"/>
                </a:cxn>
                <a:cxn ang="f68">
                  <a:pos x="f109" y="f110"/>
                </a:cxn>
                <a:cxn ang="f68">
                  <a:pos x="f111" y="f112"/>
                </a:cxn>
                <a:cxn ang="f68">
                  <a:pos x="f113" y="f114"/>
                </a:cxn>
                <a:cxn ang="f68">
                  <a:pos x="f91" y="f92"/>
                </a:cxn>
              </a:cxnLst>
              <a:rect l="f87" t="f90" r="f88" b="f89"/>
              <a:pathLst>
                <a:path w="127" h="127">
                  <a:moveTo>
                    <a:pt x="f7" y="f8"/>
                  </a:moveTo>
                  <a:lnTo>
                    <a:pt x="f9" y="f10"/>
                  </a:lnTo>
                  <a:lnTo>
                    <a:pt x="f11" y="f6"/>
                  </a:lnTo>
                  <a:lnTo>
                    <a:pt x="f12" y="f13"/>
                  </a:lnTo>
                  <a:lnTo>
                    <a:pt x="f14" y="f15"/>
                  </a:lnTo>
                  <a:lnTo>
                    <a:pt x="f5" y="f11"/>
                  </a:lnTo>
                  <a:lnTo>
                    <a:pt x="f16" y="f17"/>
                  </a:lnTo>
                  <a:lnTo>
                    <a:pt x="f18" y="f14"/>
                  </a:lnTo>
                  <a:lnTo>
                    <a:pt x="f19" y="f5"/>
                  </a:lnTo>
                  <a:lnTo>
                    <a:pt x="f20" y="f16"/>
                  </a:lnTo>
                  <a:lnTo>
                    <a:pt x="f21" y="f18"/>
                  </a:lnTo>
                  <a:lnTo>
                    <a:pt x="f6" y="f22"/>
                  </a:lnTo>
                  <a:lnTo>
                    <a:pt x="f7" y="f8"/>
                  </a:ln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32" name="Group 242">
            <a:extLst>
              <a:ext uri="{FF2B5EF4-FFF2-40B4-BE49-F238E27FC236}">
                <a16:creationId xmlns:a16="http://schemas.microsoft.com/office/drawing/2014/main" id="{9173DC49-6549-18EA-7AEE-A0CAEF132348}"/>
              </a:ext>
            </a:extLst>
          </p:cNvPr>
          <p:cNvGrpSpPr/>
          <p:nvPr/>
        </p:nvGrpSpPr>
        <p:grpSpPr>
          <a:xfrm>
            <a:off x="7190502" y="3961636"/>
            <a:ext cx="489532" cy="571554"/>
            <a:chOff x="3015005" y="3800676"/>
            <a:chExt cx="489532" cy="571554"/>
          </a:xfrm>
        </p:grpSpPr>
        <p:sp>
          <p:nvSpPr>
            <p:cNvPr id="33" name="Freeform 243">
              <a:extLst>
                <a:ext uri="{FF2B5EF4-FFF2-40B4-BE49-F238E27FC236}">
                  <a16:creationId xmlns:a16="http://schemas.microsoft.com/office/drawing/2014/main" id="{218F7E85-A004-9EBA-DF99-E1FB50D282E7}"/>
                </a:ext>
              </a:extLst>
            </p:cNvPr>
            <p:cNvSpPr/>
            <p:nvPr/>
          </p:nvSpPr>
          <p:spPr>
            <a:xfrm>
              <a:off x="3067994" y="3861236"/>
              <a:ext cx="436543" cy="4378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36"/>
                <a:gd name="f7" fmla="val 1350"/>
                <a:gd name="f8" fmla="val 1104"/>
                <a:gd name="f9" fmla="val 1165"/>
                <a:gd name="f10" fmla="val 1426"/>
                <a:gd name="f11" fmla="val 753"/>
                <a:gd name="f12" fmla="val 432"/>
                <a:gd name="f13" fmla="val 110"/>
                <a:gd name="f14" fmla="val 1164"/>
                <a:gd name="f15" fmla="val 186"/>
                <a:gd name="f16" fmla="val 371"/>
                <a:gd name="f17" fmla="val 783"/>
                <a:gd name="f18" fmla="val 782"/>
                <a:gd name="f19" fmla="+- 0 0 -90"/>
                <a:gd name="f20" fmla="*/ f3 1 1536"/>
                <a:gd name="f21" fmla="*/ f4 1 1536"/>
                <a:gd name="f22" fmla="+- f6 0 f5"/>
                <a:gd name="f23" fmla="*/ f19 f0 1"/>
                <a:gd name="f24" fmla="*/ f22 1 1536"/>
                <a:gd name="f25" fmla="*/ 1350 f22 1"/>
                <a:gd name="f26" fmla="*/ 1104 f22 1"/>
                <a:gd name="f27" fmla="*/ 432 f22 1"/>
                <a:gd name="f28" fmla="*/ 186 f22 1"/>
                <a:gd name="f29" fmla="*/ f23 1 f2"/>
                <a:gd name="f30" fmla="*/ f25 1 1536"/>
                <a:gd name="f31" fmla="*/ f26 1 1536"/>
                <a:gd name="f32" fmla="*/ f27 1 1536"/>
                <a:gd name="f33" fmla="*/ f28 1 1536"/>
                <a:gd name="f34" fmla="*/ 0 1 f24"/>
                <a:gd name="f35" fmla="*/ f6 1 f24"/>
                <a:gd name="f36" fmla="+- f29 0 f1"/>
                <a:gd name="f37" fmla="*/ f30 1 f24"/>
                <a:gd name="f38" fmla="*/ f31 1 f24"/>
                <a:gd name="f39" fmla="*/ f32 1 f24"/>
                <a:gd name="f40" fmla="*/ f33 1 f24"/>
                <a:gd name="f41" fmla="*/ f34 f20 1"/>
                <a:gd name="f42" fmla="*/ f35 f20 1"/>
                <a:gd name="f43" fmla="*/ f35 f21 1"/>
                <a:gd name="f44" fmla="*/ f34 f21 1"/>
                <a:gd name="f45" fmla="*/ f37 f20 1"/>
                <a:gd name="f46" fmla="*/ f38 f21 1"/>
                <a:gd name="f47" fmla="*/ f39 f20 1"/>
                <a:gd name="f48" fmla="*/ f37 f21 1"/>
                <a:gd name="f49" fmla="*/ f40 f20 1"/>
                <a:gd name="f50" fmla="*/ f39 f21 1"/>
                <a:gd name="f51" fmla="*/ f38 f20 1"/>
                <a:gd name="f52" fmla="*/ f40 f2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45" y="f46"/>
                </a:cxn>
                <a:cxn ang="f36">
                  <a:pos x="f47" y="f48"/>
                </a:cxn>
                <a:cxn ang="f36">
                  <a:pos x="f49" y="f50"/>
                </a:cxn>
                <a:cxn ang="f36">
                  <a:pos x="f51" y="f52"/>
                </a:cxn>
                <a:cxn ang="f36">
                  <a:pos x="f45" y="f46"/>
                </a:cxn>
              </a:cxnLst>
              <a:rect l="f41" t="f44" r="f42" b="f43"/>
              <a:pathLst>
                <a:path w="1536" h="1536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14"/>
                    <a:pt x="f5" y="f11"/>
                    <a:pt x="f15" y="f12"/>
                  </a:cubicBezTo>
                  <a:cubicBezTo>
                    <a:pt x="f16" y="f13"/>
                    <a:pt x="f17" y="f5"/>
                    <a:pt x="f8" y="f15"/>
                  </a:cubicBezTo>
                  <a:cubicBezTo>
                    <a:pt x="f10" y="f16"/>
                    <a:pt x="f6" y="f18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4" name="Line 244">
              <a:extLst>
                <a:ext uri="{FF2B5EF4-FFF2-40B4-BE49-F238E27FC236}">
                  <a16:creationId xmlns:a16="http://schemas.microsoft.com/office/drawing/2014/main" id="{7066A3B8-6099-9176-7B21-4E6FD73A3EBE}"/>
                </a:ext>
              </a:extLst>
            </p:cNvPr>
            <p:cNvSpPr/>
            <p:nvPr/>
          </p:nvSpPr>
          <p:spPr>
            <a:xfrm flipH="1">
              <a:off x="3015005" y="3800676"/>
              <a:ext cx="170325" cy="2965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5" name="Line 245">
              <a:extLst>
                <a:ext uri="{FF2B5EF4-FFF2-40B4-BE49-F238E27FC236}">
                  <a16:creationId xmlns:a16="http://schemas.microsoft.com/office/drawing/2014/main" id="{0F576383-808D-52B2-946B-94EE9C498941}"/>
                </a:ext>
              </a:extLst>
            </p:cNvPr>
            <p:cNvSpPr/>
            <p:nvPr/>
          </p:nvSpPr>
          <p:spPr>
            <a:xfrm flipH="1">
              <a:off x="3379640" y="4217039"/>
              <a:ext cx="89583" cy="1551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6" name="Line 246">
              <a:extLst>
                <a:ext uri="{FF2B5EF4-FFF2-40B4-BE49-F238E27FC236}">
                  <a16:creationId xmlns:a16="http://schemas.microsoft.com/office/drawing/2014/main" id="{C99E049C-FE6D-189E-6C05-96C2E685276A}"/>
                </a:ext>
              </a:extLst>
            </p:cNvPr>
            <p:cNvSpPr/>
            <p:nvPr/>
          </p:nvSpPr>
          <p:spPr>
            <a:xfrm flipH="1">
              <a:off x="3123517" y="4281385"/>
              <a:ext cx="46680" cy="8075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7" name="Freeform 247">
              <a:extLst>
                <a:ext uri="{FF2B5EF4-FFF2-40B4-BE49-F238E27FC236}">
                  <a16:creationId xmlns:a16="http://schemas.microsoft.com/office/drawing/2014/main" id="{4C77F1EC-01FF-6E8B-F3D9-768E6337DDE2}"/>
                </a:ext>
              </a:extLst>
            </p:cNvPr>
            <p:cNvSpPr/>
            <p:nvPr/>
          </p:nvSpPr>
          <p:spPr>
            <a:xfrm>
              <a:off x="3239591" y="3900354"/>
              <a:ext cx="95893" cy="35832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6"/>
                <a:gd name="f7" fmla="val 284"/>
                <a:gd name="f8" fmla="+- 0 0 -90"/>
                <a:gd name="f9" fmla="*/ f3 1 76"/>
                <a:gd name="f10" fmla="*/ f4 1 284"/>
                <a:gd name="f11" fmla="+- f7 0 f5"/>
                <a:gd name="f12" fmla="+- f6 0 f5"/>
                <a:gd name="f13" fmla="*/ f8 f0 1"/>
                <a:gd name="f14" fmla="*/ f12 1 76"/>
                <a:gd name="f15" fmla="*/ f11 1 284"/>
                <a:gd name="f16" fmla="*/ 0 f12 1"/>
                <a:gd name="f17" fmla="*/ 0 f11 1"/>
                <a:gd name="f18" fmla="*/ 76 f12 1"/>
                <a:gd name="f19" fmla="*/ 284 f11 1"/>
                <a:gd name="f20" fmla="*/ f13 1 f2"/>
                <a:gd name="f21" fmla="*/ f16 1 76"/>
                <a:gd name="f22" fmla="*/ f17 1 284"/>
                <a:gd name="f23" fmla="*/ f18 1 76"/>
                <a:gd name="f24" fmla="*/ f19 1 284"/>
                <a:gd name="f25" fmla="*/ 0 1 f14"/>
                <a:gd name="f26" fmla="*/ f6 1 f14"/>
                <a:gd name="f27" fmla="*/ 0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41"/>
                </a:cxn>
                <a:cxn ang="f29">
                  <a:pos x="f38" y="f39"/>
                </a:cxn>
              </a:cxnLst>
              <a:rect l="f34" t="f37" r="f35" b="f36"/>
              <a:pathLst>
                <a:path w="76" h="284">
                  <a:moveTo>
                    <a:pt x="f5" y="f5"/>
                  </a:moveTo>
                  <a:lnTo>
                    <a:pt x="f6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44" name="Group 33">
            <a:extLst>
              <a:ext uri="{FF2B5EF4-FFF2-40B4-BE49-F238E27FC236}">
                <a16:creationId xmlns:a16="http://schemas.microsoft.com/office/drawing/2014/main" id="{AE7F16A2-7E52-6ADA-32B5-E2BD82084741}"/>
              </a:ext>
            </a:extLst>
          </p:cNvPr>
          <p:cNvGrpSpPr/>
          <p:nvPr/>
        </p:nvGrpSpPr>
        <p:grpSpPr>
          <a:xfrm>
            <a:off x="11008452" y="4022196"/>
            <a:ext cx="488618" cy="571554"/>
            <a:chOff x="8726869" y="5012265"/>
            <a:chExt cx="488618" cy="571554"/>
          </a:xfrm>
        </p:grpSpPr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8A1AA9B9-6BAF-09D0-5B92-3F4FECC0244A}"/>
                </a:ext>
              </a:extLst>
            </p:cNvPr>
            <p:cNvSpPr/>
            <p:nvPr/>
          </p:nvSpPr>
          <p:spPr>
            <a:xfrm flipH="1">
              <a:off x="8726869" y="5012265"/>
              <a:ext cx="205081" cy="35637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6" name="Line 14">
              <a:extLst>
                <a:ext uri="{FF2B5EF4-FFF2-40B4-BE49-F238E27FC236}">
                  <a16:creationId xmlns:a16="http://schemas.microsoft.com/office/drawing/2014/main" id="{A254B226-0B0D-5A5A-D806-DF0CA66CD201}"/>
                </a:ext>
              </a:extLst>
            </p:cNvPr>
            <p:cNvSpPr/>
            <p:nvPr/>
          </p:nvSpPr>
          <p:spPr>
            <a:xfrm flipH="1">
              <a:off x="9107899" y="5397785"/>
              <a:ext cx="107588" cy="18603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7" name="Line 15">
              <a:extLst>
                <a:ext uri="{FF2B5EF4-FFF2-40B4-BE49-F238E27FC236}">
                  <a16:creationId xmlns:a16="http://schemas.microsoft.com/office/drawing/2014/main" id="{7541E658-DC01-74C3-8584-F321034915E3}"/>
                </a:ext>
              </a:extLst>
            </p:cNvPr>
            <p:cNvSpPr/>
            <p:nvPr/>
          </p:nvSpPr>
          <p:spPr>
            <a:xfrm flipH="1">
              <a:off x="9110139" y="5042522"/>
              <a:ext cx="57159" cy="963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256B8042-2635-C9A7-69C1-A237F7F93830}"/>
                </a:ext>
              </a:extLst>
            </p:cNvPr>
            <p:cNvSpPr/>
            <p:nvPr/>
          </p:nvSpPr>
          <p:spPr>
            <a:xfrm>
              <a:off x="8845658" y="5128814"/>
              <a:ext cx="342927" cy="34181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7"/>
                <a:gd name="f7" fmla="val 112"/>
                <a:gd name="f8" fmla="val 91"/>
                <a:gd name="f9" fmla="val 97"/>
                <a:gd name="f10" fmla="val 118"/>
                <a:gd name="f11" fmla="val 63"/>
                <a:gd name="f12" fmla="val 36"/>
                <a:gd name="f13" fmla="val 10"/>
                <a:gd name="f14" fmla="val 96"/>
                <a:gd name="f15" fmla="val 16"/>
                <a:gd name="f16" fmla="val 31"/>
                <a:gd name="f17" fmla="val 9"/>
                <a:gd name="f18" fmla="val 65"/>
                <a:gd name="f19" fmla="val 92"/>
                <a:gd name="f20" fmla="+- 0 0 -90"/>
                <a:gd name="f21" fmla="*/ f3 1 127"/>
                <a:gd name="f22" fmla="*/ f4 1 127"/>
                <a:gd name="f23" fmla="+- f6 0 f5"/>
                <a:gd name="f24" fmla="*/ f20 f0 1"/>
                <a:gd name="f25" fmla="*/ f23 1 127"/>
                <a:gd name="f26" fmla="*/ 112 f23 1"/>
                <a:gd name="f27" fmla="*/ 91 f23 1"/>
                <a:gd name="f28" fmla="*/ 36 f23 1"/>
                <a:gd name="f29" fmla="*/ 16 f23 1"/>
                <a:gd name="f30" fmla="*/ 92 f23 1"/>
                <a:gd name="f31" fmla="*/ f24 1 f2"/>
                <a:gd name="f32" fmla="*/ f26 1 127"/>
                <a:gd name="f33" fmla="*/ f27 1 127"/>
                <a:gd name="f34" fmla="*/ f28 1 127"/>
                <a:gd name="f35" fmla="*/ f29 1 127"/>
                <a:gd name="f36" fmla="*/ f30 1 127"/>
                <a:gd name="f37" fmla="*/ 0 1 f25"/>
                <a:gd name="f38" fmla="*/ f6 1 f25"/>
                <a:gd name="f39" fmla="+- f31 0 f1"/>
                <a:gd name="f40" fmla="*/ f32 1 f25"/>
                <a:gd name="f41" fmla="*/ f33 1 f25"/>
                <a:gd name="f42" fmla="*/ f34 1 f25"/>
                <a:gd name="f43" fmla="*/ f35 1 f25"/>
                <a:gd name="f44" fmla="*/ f36 1 f25"/>
                <a:gd name="f45" fmla="*/ f37 f21 1"/>
                <a:gd name="f46" fmla="*/ f38 f21 1"/>
                <a:gd name="f47" fmla="*/ f38 f22 1"/>
                <a:gd name="f48" fmla="*/ f37 f22 1"/>
                <a:gd name="f49" fmla="*/ f40 f21 1"/>
                <a:gd name="f50" fmla="*/ f41 f22 1"/>
                <a:gd name="f51" fmla="*/ f42 f21 1"/>
                <a:gd name="f52" fmla="*/ f40 f22 1"/>
                <a:gd name="f53" fmla="*/ f43 f21 1"/>
                <a:gd name="f54" fmla="*/ f42 f22 1"/>
                <a:gd name="f55" fmla="*/ f44 f21 1"/>
                <a:gd name="f56" fmla="*/ f43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49" y="f50"/>
                </a:cxn>
                <a:cxn ang="f39">
                  <a:pos x="f51" y="f52"/>
                </a:cxn>
                <a:cxn ang="f39">
                  <a:pos x="f53" y="f54"/>
                </a:cxn>
                <a:cxn ang="f39">
                  <a:pos x="f55" y="f56"/>
                </a:cxn>
                <a:cxn ang="f39">
                  <a:pos x="f49" y="f50"/>
                </a:cxn>
              </a:cxnLst>
              <a:rect l="f45" t="f48" r="f46" b="f47"/>
              <a:pathLst>
                <a:path w="127" h="127">
                  <a:moveTo>
                    <a:pt x="f7" y="f8"/>
                  </a:moveTo>
                  <a:cubicBezTo>
                    <a:pt x="f9" y="f10"/>
                    <a:pt x="f11" y="f6"/>
                    <a:pt x="f12" y="f7"/>
                  </a:cubicBezTo>
                  <a:cubicBezTo>
                    <a:pt x="f13" y="f14"/>
                    <a:pt x="f5" y="f11"/>
                    <a:pt x="f15" y="f12"/>
                  </a:cubicBezTo>
                  <a:cubicBezTo>
                    <a:pt x="f16" y="f17"/>
                    <a:pt x="f18" y="f5"/>
                    <a:pt x="f19" y="f15"/>
                  </a:cubicBezTo>
                  <a:cubicBezTo>
                    <a:pt x="f10" y="f16"/>
                    <a:pt x="f6" y="f18"/>
                    <a:pt x="f7" y="f8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BF16C1F0-D137-DF11-650E-C77D3A7D072D}"/>
                </a:ext>
              </a:extLst>
            </p:cNvPr>
            <p:cNvSpPr/>
            <p:nvPr/>
          </p:nvSpPr>
          <p:spPr>
            <a:xfrm>
              <a:off x="8921864" y="5268900"/>
              <a:ext cx="207331" cy="784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7"/>
                <a:gd name="f7" fmla="val 29"/>
                <a:gd name="f8" fmla="val 8"/>
                <a:gd name="f9" fmla="val 28"/>
                <a:gd name="f10" fmla="val 7"/>
                <a:gd name="f11" fmla="val 27"/>
                <a:gd name="f12" fmla="val 6"/>
                <a:gd name="f13" fmla="val 26"/>
                <a:gd name="f14" fmla="val 5"/>
                <a:gd name="f15" fmla="val 24"/>
                <a:gd name="f16" fmla="val 1"/>
                <a:gd name="f17" fmla="val 9"/>
                <a:gd name="f18" fmla="val 2"/>
                <a:gd name="f19" fmla="val 12"/>
                <a:gd name="f20" fmla="val 3"/>
                <a:gd name="f21" fmla="val 13"/>
                <a:gd name="f22" fmla="val 15"/>
                <a:gd name="f23" fmla="val 69"/>
                <a:gd name="f24" fmla="val 72"/>
                <a:gd name="f25" fmla="val 75"/>
                <a:gd name="f26" fmla="val 76"/>
                <a:gd name="f27" fmla="val 11"/>
                <a:gd name="f28" fmla="+- 0 0 -90"/>
                <a:gd name="f29" fmla="*/ f3 1 77"/>
                <a:gd name="f30" fmla="*/ f4 1 29"/>
                <a:gd name="f31" fmla="+- f7 0 f5"/>
                <a:gd name="f32" fmla="+- f6 0 f5"/>
                <a:gd name="f33" fmla="*/ f28 f0 1"/>
                <a:gd name="f34" fmla="*/ f32 1 77"/>
                <a:gd name="f35" fmla="*/ f31 1 29"/>
                <a:gd name="f36" fmla="*/ 8 f32 1"/>
                <a:gd name="f37" fmla="*/ 28 f31 1"/>
                <a:gd name="f38" fmla="*/ 5 f32 1"/>
                <a:gd name="f39" fmla="*/ 24 f31 1"/>
                <a:gd name="f40" fmla="*/ 1 f32 1"/>
                <a:gd name="f41" fmla="*/ 9 f31 1"/>
                <a:gd name="f42" fmla="*/ 1 f31 1"/>
                <a:gd name="f43" fmla="*/ 13 f32 1"/>
                <a:gd name="f44" fmla="*/ 6 f31 1"/>
                <a:gd name="f45" fmla="*/ 15 f32 1"/>
                <a:gd name="f46" fmla="*/ 15 f31 1"/>
                <a:gd name="f47" fmla="*/ 69 f32 1"/>
                <a:gd name="f48" fmla="*/ 76 f32 1"/>
                <a:gd name="f49" fmla="*/ 5 f31 1"/>
                <a:gd name="f50" fmla="*/ 72 f32 1"/>
                <a:gd name="f51" fmla="*/ 12 f31 1"/>
                <a:gd name="f52" fmla="*/ f33 1 f2"/>
                <a:gd name="f53" fmla="*/ f36 1 77"/>
                <a:gd name="f54" fmla="*/ f37 1 29"/>
                <a:gd name="f55" fmla="*/ f38 1 77"/>
                <a:gd name="f56" fmla="*/ f39 1 29"/>
                <a:gd name="f57" fmla="*/ f40 1 77"/>
                <a:gd name="f58" fmla="*/ f41 1 29"/>
                <a:gd name="f59" fmla="*/ f42 1 29"/>
                <a:gd name="f60" fmla="*/ f43 1 77"/>
                <a:gd name="f61" fmla="*/ f44 1 29"/>
                <a:gd name="f62" fmla="*/ f45 1 77"/>
                <a:gd name="f63" fmla="*/ f46 1 29"/>
                <a:gd name="f64" fmla="*/ f47 1 77"/>
                <a:gd name="f65" fmla="*/ f48 1 77"/>
                <a:gd name="f66" fmla="*/ f49 1 29"/>
                <a:gd name="f67" fmla="*/ f50 1 77"/>
                <a:gd name="f68" fmla="*/ f51 1 29"/>
                <a:gd name="f69" fmla="*/ 0 1 f34"/>
                <a:gd name="f70" fmla="*/ f6 1 f34"/>
                <a:gd name="f71" fmla="*/ 0 1 f35"/>
                <a:gd name="f72" fmla="*/ f7 1 f35"/>
                <a:gd name="f73" fmla="+- f52 0 f1"/>
                <a:gd name="f74" fmla="*/ f53 1 f34"/>
                <a:gd name="f75" fmla="*/ f54 1 f35"/>
                <a:gd name="f76" fmla="*/ f55 1 f34"/>
                <a:gd name="f77" fmla="*/ f56 1 f35"/>
                <a:gd name="f78" fmla="*/ f57 1 f34"/>
                <a:gd name="f79" fmla="*/ f58 1 f35"/>
                <a:gd name="f80" fmla="*/ f59 1 f35"/>
                <a:gd name="f81" fmla="*/ f60 1 f34"/>
                <a:gd name="f82" fmla="*/ f61 1 f35"/>
                <a:gd name="f83" fmla="*/ f62 1 f34"/>
                <a:gd name="f84" fmla="*/ f63 1 f35"/>
                <a:gd name="f85" fmla="*/ f64 1 f34"/>
                <a:gd name="f86" fmla="*/ f65 1 f34"/>
                <a:gd name="f87" fmla="*/ f66 1 f35"/>
                <a:gd name="f88" fmla="*/ f67 1 f34"/>
                <a:gd name="f89" fmla="*/ f68 1 f35"/>
                <a:gd name="f90" fmla="*/ f69 f29 1"/>
                <a:gd name="f91" fmla="*/ f70 f29 1"/>
                <a:gd name="f92" fmla="*/ f72 f30 1"/>
                <a:gd name="f93" fmla="*/ f71 f30 1"/>
                <a:gd name="f94" fmla="*/ f74 f29 1"/>
                <a:gd name="f95" fmla="*/ f75 f30 1"/>
                <a:gd name="f96" fmla="*/ f76 f29 1"/>
                <a:gd name="f97" fmla="*/ f77 f30 1"/>
                <a:gd name="f98" fmla="*/ f78 f29 1"/>
                <a:gd name="f99" fmla="*/ f79 f30 1"/>
                <a:gd name="f100" fmla="*/ f80 f30 1"/>
                <a:gd name="f101" fmla="*/ f81 f29 1"/>
                <a:gd name="f102" fmla="*/ f82 f30 1"/>
                <a:gd name="f103" fmla="*/ f83 f29 1"/>
                <a:gd name="f104" fmla="*/ f84 f30 1"/>
                <a:gd name="f105" fmla="*/ f85 f29 1"/>
                <a:gd name="f106" fmla="*/ f86 f29 1"/>
                <a:gd name="f107" fmla="*/ f87 f30 1"/>
                <a:gd name="f108" fmla="*/ f88 f29 1"/>
                <a:gd name="f109" fmla="*/ f89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3">
                  <a:pos x="f94" y="f95"/>
                </a:cxn>
                <a:cxn ang="f73">
                  <a:pos x="f96" y="f97"/>
                </a:cxn>
                <a:cxn ang="f73">
                  <a:pos x="f98" y="f99"/>
                </a:cxn>
                <a:cxn ang="f73">
                  <a:pos x="f96" y="f100"/>
                </a:cxn>
                <a:cxn ang="f73">
                  <a:pos x="f101" y="f102"/>
                </a:cxn>
                <a:cxn ang="f73">
                  <a:pos x="f103" y="f104"/>
                </a:cxn>
                <a:cxn ang="f73">
                  <a:pos x="f105" y="f100"/>
                </a:cxn>
                <a:cxn ang="f73">
                  <a:pos x="f106" y="f107"/>
                </a:cxn>
                <a:cxn ang="f73">
                  <a:pos x="f108" y="f109"/>
                </a:cxn>
                <a:cxn ang="f73">
                  <a:pos x="f101" y="f95"/>
                </a:cxn>
                <a:cxn ang="f73">
                  <a:pos x="f94" y="f95"/>
                </a:cxn>
              </a:cxnLst>
              <a:rect l="f90" t="f93" r="f91" b="f92"/>
              <a:pathLst>
                <a:path w="77" h="29">
                  <a:moveTo>
                    <a:pt x="f8" y="f9"/>
                  </a:moveTo>
                  <a:cubicBezTo>
                    <a:pt x="f10" y="f11"/>
                    <a:pt x="f12" y="f13"/>
                    <a:pt x="f14" y="f15"/>
                  </a:cubicBezTo>
                  <a:cubicBezTo>
                    <a:pt x="f16" y="f17"/>
                    <a:pt x="f16" y="f17"/>
                    <a:pt x="f16" y="f17"/>
                  </a:cubicBezTo>
                  <a:cubicBezTo>
                    <a:pt x="f5" y="f12"/>
                    <a:pt x="f18" y="f18"/>
                    <a:pt x="f14" y="f16"/>
                  </a:cubicBezTo>
                  <a:cubicBezTo>
                    <a:pt x="f17" y="f16"/>
                    <a:pt x="f19" y="f20"/>
                    <a:pt x="f21" y="f12"/>
                  </a:cubicBezTo>
                  <a:cubicBezTo>
                    <a:pt x="f22" y="f22"/>
                    <a:pt x="f22" y="f22"/>
                    <a:pt x="f22" y="f22"/>
                  </a:cubicBezTo>
                  <a:cubicBezTo>
                    <a:pt x="f23" y="f16"/>
                    <a:pt x="f23" y="f16"/>
                    <a:pt x="f23" y="f16"/>
                  </a:cubicBezTo>
                  <a:cubicBezTo>
                    <a:pt x="f24" y="f5"/>
                    <a:pt x="f25" y="f18"/>
                    <a:pt x="f26" y="f14"/>
                  </a:cubicBezTo>
                  <a:cubicBezTo>
                    <a:pt x="f6" y="f8"/>
                    <a:pt x="f25" y="f27"/>
                    <a:pt x="f24" y="f19"/>
                  </a:cubicBezTo>
                  <a:cubicBezTo>
                    <a:pt x="f21" y="f9"/>
                    <a:pt x="f21" y="f9"/>
                    <a:pt x="f21" y="f9"/>
                  </a:cubicBezTo>
                  <a:cubicBezTo>
                    <a:pt x="f27" y="f7"/>
                    <a:pt x="f17" y="f9"/>
                    <a:pt x="f8" y="f9"/>
                  </a:cubicBezTo>
                  <a:close/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7315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Cleaning: Standardisation &amp; Value Corrections Applied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FFFFFF"/>
                </a:solidFill>
              </a:rPr>
              <a:t>TBL Dataset · Row-level and value-level cleaning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5577840" cy="210312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5778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188720"/>
            <a:ext cx="25060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Zero / 'O' Values — All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72184"/>
            <a:ext cx="5394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All columns containing 'O' (letter O used as zero) identified and handled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Affected rows reviewed individually to confirm correct null treatment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Ensures numeric aggregations (averages, counts) are not distorted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170432"/>
            <a:ext cx="5577840" cy="210312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170432"/>
            <a:ext cx="55778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3912" y="1188720"/>
            <a:ext cx="266887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Cost Column — Missing Value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472184"/>
            <a:ext cx="539496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One row contained a stray apostrophe  '  as the entire cell value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Replaced with: "No cost experience mentioned" — consistent with other null cost rows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Maintains uniformity across the cost category for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29000"/>
            <a:ext cx="5577840" cy="19202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429000"/>
            <a:ext cx="55778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" y="3447288"/>
            <a:ext cx="32656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Published Date — Format </a:t>
            </a:r>
            <a:r>
              <a:rPr sz="1200" b="1" dirty="0" err="1">
                <a:solidFill>
                  <a:srgbClr val="FFFFFF"/>
                </a:solidFill>
              </a:rPr>
              <a:t>Standardisation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3730752"/>
            <a:ext cx="5394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</a:t>
            </a:r>
            <a:r>
              <a:rPr sz="1100" dirty="0" err="1">
                <a:solidFill>
                  <a:srgbClr val="222222"/>
                </a:solidFill>
              </a:rPr>
              <a:t>published_date</a:t>
            </a:r>
            <a:r>
              <a:rPr sz="1100" dirty="0">
                <a:solidFill>
                  <a:srgbClr val="222222"/>
                </a:solidFill>
              </a:rPr>
              <a:t> column stored as serial numbers (e.g. 42781.7…)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Converted to short date format: DD/MM/YYYY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Enables correct chronological sorting and year-based aggregation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429000"/>
            <a:ext cx="5577840" cy="19202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3429000"/>
            <a:ext cx="55778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3447288"/>
            <a:ext cx="33416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Average Rating — Private Clinic Calculated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30752"/>
            <a:ext cx="53949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Average </a:t>
            </a:r>
            <a:r>
              <a:rPr sz="1100" dirty="0" err="1">
                <a:solidFill>
                  <a:srgbClr val="222222"/>
                </a:solidFill>
              </a:rPr>
              <a:t>star_rating</a:t>
            </a:r>
            <a:r>
              <a:rPr sz="1100" dirty="0">
                <a:solidFill>
                  <a:srgbClr val="222222"/>
                </a:solidFill>
              </a:rPr>
              <a:t> computed specifically for The Private Clinic rows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Used as the Target benchmark across all competitor comparison charts</a:t>
            </a:r>
          </a:p>
          <a:p>
            <a:pPr>
              <a:spcBef>
                <a:spcPts val="250"/>
              </a:spcBef>
            </a:pPr>
            <a:r>
              <a:rPr sz="1100" dirty="0">
                <a:solidFill>
                  <a:srgbClr val="222222"/>
                </a:solidFill>
              </a:rPr>
              <a:t>▸  All-time average: 4.72 · Yearly breakdown used in trend line chart</a:t>
            </a:r>
          </a:p>
        </p:txBody>
      </p:sp>
      <p:grpSp>
        <p:nvGrpSpPr>
          <p:cNvPr id="21" name="Group 202">
            <a:extLst>
              <a:ext uri="{FF2B5EF4-FFF2-40B4-BE49-F238E27FC236}">
                <a16:creationId xmlns:a16="http://schemas.microsoft.com/office/drawing/2014/main" id="{7F725686-8A70-A663-A9B3-346196885CB0}"/>
              </a:ext>
            </a:extLst>
          </p:cNvPr>
          <p:cNvGrpSpPr/>
          <p:nvPr/>
        </p:nvGrpSpPr>
        <p:grpSpPr>
          <a:xfrm>
            <a:off x="5344788" y="2557967"/>
            <a:ext cx="399208" cy="571545"/>
            <a:chOff x="8771574" y="2520214"/>
            <a:chExt cx="399208" cy="571545"/>
          </a:xfrm>
        </p:grpSpPr>
        <p:sp>
          <p:nvSpPr>
            <p:cNvPr id="22" name="Freeform 203">
              <a:extLst>
                <a:ext uri="{FF2B5EF4-FFF2-40B4-BE49-F238E27FC236}">
                  <a16:creationId xmlns:a16="http://schemas.microsoft.com/office/drawing/2014/main" id="{FBC22930-FF07-AD6B-0D5D-DFB94B79FB28}"/>
                </a:ext>
              </a:extLst>
            </p:cNvPr>
            <p:cNvSpPr/>
            <p:nvPr/>
          </p:nvSpPr>
          <p:spPr>
            <a:xfrm>
              <a:off x="8894505" y="2821829"/>
              <a:ext cx="135596" cy="1089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0"/>
                <a:gd name="f7" fmla="val 129"/>
                <a:gd name="f8" fmla="val 76"/>
                <a:gd name="f9" fmla="val 139"/>
                <a:gd name="f10" fmla="val 112"/>
                <a:gd name="f11" fmla="val 132"/>
                <a:gd name="f12" fmla="val 125"/>
                <a:gd name="f13" fmla="val 115"/>
                <a:gd name="f14" fmla="val 103"/>
                <a:gd name="f15" fmla="val 122"/>
                <a:gd name="f16" fmla="val 17"/>
                <a:gd name="f17" fmla="val 72"/>
                <a:gd name="f18" fmla="val 4"/>
                <a:gd name="f19" fmla="val 65"/>
                <a:gd name="f20" fmla="val 49"/>
                <a:gd name="f21" fmla="val 7"/>
                <a:gd name="f22" fmla="val 36"/>
                <a:gd name="f23" fmla="val 28"/>
                <a:gd name="f24" fmla="+- 0 0 -90"/>
                <a:gd name="f25" fmla="*/ f3 1 160"/>
                <a:gd name="f26" fmla="*/ f4 1 129"/>
                <a:gd name="f27" fmla="+- f7 0 f5"/>
                <a:gd name="f28" fmla="+- f6 0 f5"/>
                <a:gd name="f29" fmla="*/ f24 f0 1"/>
                <a:gd name="f30" fmla="*/ f28 1 160"/>
                <a:gd name="f31" fmla="*/ f27 1 129"/>
                <a:gd name="f32" fmla="*/ 160 f28 1"/>
                <a:gd name="f33" fmla="*/ 76 f27 1"/>
                <a:gd name="f34" fmla="*/ 139 f28 1"/>
                <a:gd name="f35" fmla="*/ 112 f27 1"/>
                <a:gd name="f36" fmla="*/ 103 f28 1"/>
                <a:gd name="f37" fmla="*/ 122 f27 1"/>
                <a:gd name="f38" fmla="*/ 17 f28 1"/>
                <a:gd name="f39" fmla="*/ 72 f27 1"/>
                <a:gd name="f40" fmla="*/ 7 f28 1"/>
                <a:gd name="f41" fmla="*/ 36 f27 1"/>
                <a:gd name="f42" fmla="*/ 28 f28 1"/>
                <a:gd name="f43" fmla="*/ 0 f27 1"/>
                <a:gd name="f44" fmla="*/ f29 1 f2"/>
                <a:gd name="f45" fmla="*/ f32 1 160"/>
                <a:gd name="f46" fmla="*/ f33 1 129"/>
                <a:gd name="f47" fmla="*/ f34 1 160"/>
                <a:gd name="f48" fmla="*/ f35 1 129"/>
                <a:gd name="f49" fmla="*/ f36 1 160"/>
                <a:gd name="f50" fmla="*/ f37 1 129"/>
                <a:gd name="f51" fmla="*/ f38 1 160"/>
                <a:gd name="f52" fmla="*/ f39 1 129"/>
                <a:gd name="f53" fmla="*/ f40 1 160"/>
                <a:gd name="f54" fmla="*/ f41 1 129"/>
                <a:gd name="f55" fmla="*/ f42 1 160"/>
                <a:gd name="f56" fmla="*/ f43 1 129"/>
                <a:gd name="f57" fmla="*/ 0 1 f30"/>
                <a:gd name="f58" fmla="*/ f6 1 f30"/>
                <a:gd name="f59" fmla="*/ 0 1 f31"/>
                <a:gd name="f60" fmla="*/ f7 1 f31"/>
                <a:gd name="f61" fmla="+- f44 0 f1"/>
                <a:gd name="f62" fmla="*/ f45 1 f30"/>
                <a:gd name="f63" fmla="*/ f46 1 f31"/>
                <a:gd name="f64" fmla="*/ f47 1 f30"/>
                <a:gd name="f65" fmla="*/ f48 1 f31"/>
                <a:gd name="f66" fmla="*/ f49 1 f30"/>
                <a:gd name="f67" fmla="*/ f50 1 f31"/>
                <a:gd name="f68" fmla="*/ f51 1 f30"/>
                <a:gd name="f69" fmla="*/ f52 1 f31"/>
                <a:gd name="f70" fmla="*/ f53 1 f30"/>
                <a:gd name="f71" fmla="*/ f54 1 f31"/>
                <a:gd name="f72" fmla="*/ f55 1 f30"/>
                <a:gd name="f73" fmla="*/ f56 1 f31"/>
                <a:gd name="f74" fmla="*/ f57 f25 1"/>
                <a:gd name="f75" fmla="*/ f58 f25 1"/>
                <a:gd name="f76" fmla="*/ f60 f26 1"/>
                <a:gd name="f77" fmla="*/ f59 f26 1"/>
                <a:gd name="f78" fmla="*/ f62 f25 1"/>
                <a:gd name="f79" fmla="*/ f63 f26 1"/>
                <a:gd name="f80" fmla="*/ f64 f25 1"/>
                <a:gd name="f81" fmla="*/ f65 f26 1"/>
                <a:gd name="f82" fmla="*/ f66 f25 1"/>
                <a:gd name="f83" fmla="*/ f67 f26 1"/>
                <a:gd name="f84" fmla="*/ f68 f25 1"/>
                <a:gd name="f85" fmla="*/ f69 f26 1"/>
                <a:gd name="f86" fmla="*/ f70 f25 1"/>
                <a:gd name="f87" fmla="*/ f71 f26 1"/>
                <a:gd name="f88" fmla="*/ f72 f25 1"/>
                <a:gd name="f89" fmla="*/ f73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1">
                  <a:pos x="f78" y="f79"/>
                </a:cxn>
                <a:cxn ang="f61">
                  <a:pos x="f80" y="f81"/>
                </a:cxn>
                <a:cxn ang="f61">
                  <a:pos x="f82" y="f83"/>
                </a:cxn>
                <a:cxn ang="f61">
                  <a:pos x="f84" y="f85"/>
                </a:cxn>
                <a:cxn ang="f61">
                  <a:pos x="f86" y="f87"/>
                </a:cxn>
                <a:cxn ang="f61">
                  <a:pos x="f88" y="f89"/>
                </a:cxn>
              </a:cxnLst>
              <a:rect l="f74" t="f77" r="f75" b="f76"/>
              <a:pathLst>
                <a:path w="160" h="12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11" y="f12"/>
                    <a:pt x="f13" y="f7"/>
                    <a:pt x="f14" y="f15"/>
                  </a:cubicBezTo>
                  <a:cubicBezTo>
                    <a:pt x="f16" y="f17"/>
                    <a:pt x="f16" y="f17"/>
                    <a:pt x="f16" y="f17"/>
                  </a:cubicBezTo>
                  <a:cubicBezTo>
                    <a:pt x="f18" y="f19"/>
                    <a:pt x="f5" y="f20"/>
                    <a:pt x="f21" y="f22"/>
                  </a:cubicBezTo>
                  <a:cubicBezTo>
                    <a:pt x="f23" y="f5"/>
                    <a:pt x="f23" y="f5"/>
                    <a:pt x="f23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3" name="Freeform 204">
              <a:extLst>
                <a:ext uri="{FF2B5EF4-FFF2-40B4-BE49-F238E27FC236}">
                  <a16:creationId xmlns:a16="http://schemas.microsoft.com/office/drawing/2014/main" id="{B5763677-382C-D919-359A-F0577C296160}"/>
                </a:ext>
              </a:extLst>
            </p:cNvPr>
            <p:cNvSpPr/>
            <p:nvPr/>
          </p:nvSpPr>
          <p:spPr>
            <a:xfrm>
              <a:off x="8878028" y="2876318"/>
              <a:ext cx="112791" cy="925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109"/>
                <a:gd name="f8" fmla="val 63"/>
                <a:gd name="f9" fmla="val 113"/>
                <a:gd name="f10" fmla="val 97"/>
                <a:gd name="f11" fmla="val 106"/>
                <a:gd name="f12" fmla="val 98"/>
                <a:gd name="f13" fmla="val 89"/>
                <a:gd name="f14" fmla="val 104"/>
                <a:gd name="f15" fmla="val 12"/>
                <a:gd name="f16" fmla="val 59"/>
                <a:gd name="f17" fmla="val 3"/>
                <a:gd name="f18" fmla="val 54"/>
                <a:gd name="f19" fmla="val 43"/>
                <a:gd name="f20" fmla="val 5"/>
                <a:gd name="f21" fmla="val 35"/>
                <a:gd name="f22" fmla="val 25"/>
                <a:gd name="f23" fmla="+- 0 0 -90"/>
                <a:gd name="f24" fmla="*/ f3 1 133"/>
                <a:gd name="f25" fmla="*/ f4 1 109"/>
                <a:gd name="f26" fmla="+- f7 0 f5"/>
                <a:gd name="f27" fmla="+- f6 0 f5"/>
                <a:gd name="f28" fmla="*/ f23 f0 1"/>
                <a:gd name="f29" fmla="*/ f27 1 133"/>
                <a:gd name="f30" fmla="*/ f26 1 109"/>
                <a:gd name="f31" fmla="*/ 133 f27 1"/>
                <a:gd name="f32" fmla="*/ 63 f26 1"/>
                <a:gd name="f33" fmla="*/ 113 f27 1"/>
                <a:gd name="f34" fmla="*/ 97 f26 1"/>
                <a:gd name="f35" fmla="*/ 89 f27 1"/>
                <a:gd name="f36" fmla="*/ 104 f26 1"/>
                <a:gd name="f37" fmla="*/ 12 f27 1"/>
                <a:gd name="f38" fmla="*/ 59 f26 1"/>
                <a:gd name="f39" fmla="*/ 5 f27 1"/>
                <a:gd name="f40" fmla="*/ 35 f26 1"/>
                <a:gd name="f41" fmla="*/ 25 f27 1"/>
                <a:gd name="f42" fmla="*/ 0 f26 1"/>
                <a:gd name="f43" fmla="*/ f28 1 f2"/>
                <a:gd name="f44" fmla="*/ f31 1 133"/>
                <a:gd name="f45" fmla="*/ f32 1 109"/>
                <a:gd name="f46" fmla="*/ f33 1 133"/>
                <a:gd name="f47" fmla="*/ f34 1 109"/>
                <a:gd name="f48" fmla="*/ f35 1 133"/>
                <a:gd name="f49" fmla="*/ f36 1 109"/>
                <a:gd name="f50" fmla="*/ f37 1 133"/>
                <a:gd name="f51" fmla="*/ f38 1 109"/>
                <a:gd name="f52" fmla="*/ f39 1 133"/>
                <a:gd name="f53" fmla="*/ f40 1 109"/>
                <a:gd name="f54" fmla="*/ f41 1 133"/>
                <a:gd name="f55" fmla="*/ f42 1 109"/>
                <a:gd name="f56" fmla="*/ 0 1 f29"/>
                <a:gd name="f57" fmla="*/ f6 1 f29"/>
                <a:gd name="f58" fmla="*/ 0 1 f30"/>
                <a:gd name="f59" fmla="*/ f7 1 f30"/>
                <a:gd name="f60" fmla="+- f43 0 f1"/>
                <a:gd name="f61" fmla="*/ f44 1 f29"/>
                <a:gd name="f62" fmla="*/ f45 1 f30"/>
                <a:gd name="f63" fmla="*/ f46 1 f29"/>
                <a:gd name="f64" fmla="*/ f47 1 f30"/>
                <a:gd name="f65" fmla="*/ f48 1 f29"/>
                <a:gd name="f66" fmla="*/ f49 1 f30"/>
                <a:gd name="f67" fmla="*/ f50 1 f29"/>
                <a:gd name="f68" fmla="*/ f51 1 f30"/>
                <a:gd name="f69" fmla="*/ f52 1 f29"/>
                <a:gd name="f70" fmla="*/ f53 1 f30"/>
                <a:gd name="f71" fmla="*/ f54 1 f29"/>
                <a:gd name="f72" fmla="*/ f55 1 f30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4 1"/>
                <a:gd name="f86" fmla="*/ f70 f25 1"/>
                <a:gd name="f87" fmla="*/ f71 f24 1"/>
                <a:gd name="f88" fmla="*/ f72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85" y="f86"/>
                </a:cxn>
                <a:cxn ang="f60">
                  <a:pos x="f87" y="f88"/>
                </a:cxn>
              </a:cxnLst>
              <a:rect l="f73" t="f76" r="f74" b="f75"/>
              <a:pathLst>
                <a:path w="133" h="10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7" y="f11"/>
                    <a:pt x="f12" y="f7"/>
                    <a:pt x="f13" y="f14"/>
                  </a:cubicBezTo>
                  <a:cubicBezTo>
                    <a:pt x="f15" y="f16"/>
                    <a:pt x="f15" y="f16"/>
                    <a:pt x="f15" y="f16"/>
                  </a:cubicBezTo>
                  <a:cubicBezTo>
                    <a:pt x="f17" y="f18"/>
                    <a:pt x="f5" y="f19"/>
                    <a:pt x="f20" y="f21"/>
                  </a:cubicBezTo>
                  <a:cubicBezTo>
                    <a:pt x="f22" y="f5"/>
                    <a:pt x="f22" y="f5"/>
                    <a:pt x="f22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4" name="Freeform 205">
              <a:extLst>
                <a:ext uri="{FF2B5EF4-FFF2-40B4-BE49-F238E27FC236}">
                  <a16:creationId xmlns:a16="http://schemas.microsoft.com/office/drawing/2014/main" id="{69713E0C-CC05-AF53-2B7D-9FAFF79803CC}"/>
                </a:ext>
              </a:extLst>
            </p:cNvPr>
            <p:cNvSpPr/>
            <p:nvPr/>
          </p:nvSpPr>
          <p:spPr>
            <a:xfrm>
              <a:off x="8883103" y="2930816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0"/>
                <a:gd name="f9" fmla="val 17"/>
                <a:gd name="f10" fmla="val 23"/>
                <a:gd name="f11" fmla="+- 0 0 -90"/>
                <a:gd name="f12" fmla="*/ f3 1 50"/>
                <a:gd name="f13" fmla="*/ f4 1 40"/>
                <a:gd name="f14" fmla="+- f7 0 f5"/>
                <a:gd name="f15" fmla="+- f6 0 f5"/>
                <a:gd name="f16" fmla="*/ f11 f0 1"/>
                <a:gd name="f17" fmla="*/ f15 1 50"/>
                <a:gd name="f18" fmla="*/ f14 1 40"/>
                <a:gd name="f19" fmla="*/ 10 f15 1"/>
                <a:gd name="f20" fmla="*/ 0 f14 1"/>
                <a:gd name="f21" fmla="*/ 0 f15 1"/>
                <a:gd name="f22" fmla="*/ 17 f14 1"/>
                <a:gd name="f23" fmla="*/ 40 f15 1"/>
                <a:gd name="f24" fmla="*/ 40 f14 1"/>
                <a:gd name="f25" fmla="*/ 50 f15 1"/>
                <a:gd name="f26" fmla="*/ 23 f14 1"/>
                <a:gd name="f27" fmla="*/ f16 1 f2"/>
                <a:gd name="f28" fmla="*/ f19 1 50"/>
                <a:gd name="f29" fmla="*/ f20 1 40"/>
                <a:gd name="f30" fmla="*/ f21 1 50"/>
                <a:gd name="f31" fmla="*/ f22 1 40"/>
                <a:gd name="f32" fmla="*/ f23 1 50"/>
                <a:gd name="f33" fmla="*/ f24 1 40"/>
                <a:gd name="f34" fmla="*/ f25 1 50"/>
                <a:gd name="f35" fmla="*/ f26 1 40"/>
                <a:gd name="f36" fmla="*/ 0 1 f17"/>
                <a:gd name="f37" fmla="*/ f6 1 f17"/>
                <a:gd name="f38" fmla="*/ 0 1 f18"/>
                <a:gd name="f39" fmla="*/ f7 1 f18"/>
                <a:gd name="f40" fmla="+- f27 0 f1"/>
                <a:gd name="f41" fmla="*/ f28 1 f17"/>
                <a:gd name="f42" fmla="*/ f29 1 f18"/>
                <a:gd name="f43" fmla="*/ f30 1 f17"/>
                <a:gd name="f44" fmla="*/ f31 1 f18"/>
                <a:gd name="f45" fmla="*/ f32 1 f17"/>
                <a:gd name="f46" fmla="*/ f33 1 f18"/>
                <a:gd name="f47" fmla="*/ f34 1 f17"/>
                <a:gd name="f48" fmla="*/ f35 1 f18"/>
                <a:gd name="f49" fmla="*/ f36 f12 1"/>
                <a:gd name="f50" fmla="*/ f37 f12 1"/>
                <a:gd name="f51" fmla="*/ f39 f13 1"/>
                <a:gd name="f52" fmla="*/ f38 f13 1"/>
                <a:gd name="f53" fmla="*/ f41 f12 1"/>
                <a:gd name="f54" fmla="*/ f42 f13 1"/>
                <a:gd name="f55" fmla="*/ f43 f12 1"/>
                <a:gd name="f56" fmla="*/ f44 f13 1"/>
                <a:gd name="f57" fmla="*/ f45 f12 1"/>
                <a:gd name="f58" fmla="*/ f46 f13 1"/>
                <a:gd name="f59" fmla="*/ f47 f12 1"/>
                <a:gd name="f60" fmla="*/ f48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3" y="f54"/>
                </a:cxn>
                <a:cxn ang="f40">
                  <a:pos x="f55" y="f56"/>
                </a:cxn>
                <a:cxn ang="f40">
                  <a:pos x="f57" y="f58"/>
                </a:cxn>
                <a:cxn ang="f40">
                  <a:pos x="f59" y="f60"/>
                </a:cxn>
              </a:cxnLst>
              <a:rect l="f49" t="f52" r="f50" b="f51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7" y="f7"/>
                  </a:lnTo>
                  <a:lnTo>
                    <a:pt x="f6" y="f10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5" name="Freeform 206">
              <a:extLst>
                <a:ext uri="{FF2B5EF4-FFF2-40B4-BE49-F238E27FC236}">
                  <a16:creationId xmlns:a16="http://schemas.microsoft.com/office/drawing/2014/main" id="{55404F3B-E8F5-346F-7C57-1C86220A4897}"/>
                </a:ext>
              </a:extLst>
            </p:cNvPr>
            <p:cNvSpPr/>
            <p:nvPr/>
          </p:nvSpPr>
          <p:spPr>
            <a:xfrm>
              <a:off x="8971809" y="2776200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1"/>
                <a:gd name="f9" fmla="val 17"/>
                <a:gd name="f10" fmla="val 41"/>
                <a:gd name="f11" fmla="val 24"/>
                <a:gd name="f12" fmla="+- 0 0 -90"/>
                <a:gd name="f13" fmla="*/ f3 1 50"/>
                <a:gd name="f14" fmla="*/ f4 1 40"/>
                <a:gd name="f15" fmla="+- f7 0 f5"/>
                <a:gd name="f16" fmla="+- f6 0 f5"/>
                <a:gd name="f17" fmla="*/ f12 f0 1"/>
                <a:gd name="f18" fmla="*/ f16 1 50"/>
                <a:gd name="f19" fmla="*/ f15 1 40"/>
                <a:gd name="f20" fmla="*/ 11 f16 1"/>
                <a:gd name="f21" fmla="*/ 0 f15 1"/>
                <a:gd name="f22" fmla="*/ 0 f16 1"/>
                <a:gd name="f23" fmla="*/ 17 f15 1"/>
                <a:gd name="f24" fmla="*/ 41 f16 1"/>
                <a:gd name="f25" fmla="*/ 40 f15 1"/>
                <a:gd name="f26" fmla="*/ 50 f16 1"/>
                <a:gd name="f27" fmla="*/ 24 f15 1"/>
                <a:gd name="f28" fmla="*/ f17 1 f2"/>
                <a:gd name="f29" fmla="*/ f20 1 50"/>
                <a:gd name="f30" fmla="*/ f21 1 40"/>
                <a:gd name="f31" fmla="*/ f22 1 50"/>
                <a:gd name="f32" fmla="*/ f23 1 40"/>
                <a:gd name="f33" fmla="*/ f24 1 50"/>
                <a:gd name="f34" fmla="*/ f25 1 40"/>
                <a:gd name="f35" fmla="*/ f26 1 50"/>
                <a:gd name="f36" fmla="*/ f27 1 40"/>
                <a:gd name="f37" fmla="*/ 0 1 f18"/>
                <a:gd name="f38" fmla="*/ f6 1 f18"/>
                <a:gd name="f39" fmla="*/ 0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9"/>
                <a:gd name="f46" fmla="*/ f33 1 f18"/>
                <a:gd name="f47" fmla="*/ f34 1 f19"/>
                <a:gd name="f48" fmla="*/ f35 1 f18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4 1"/>
                <a:gd name="f58" fmla="*/ f46 f13 1"/>
                <a:gd name="f59" fmla="*/ f47 f14 1"/>
                <a:gd name="f60" fmla="*/ f48 f13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7"/>
                </a:cxn>
                <a:cxn ang="f41">
                  <a:pos x="f58" y="f59"/>
                </a:cxn>
                <a:cxn ang="f41">
                  <a:pos x="f60" y="f61"/>
                </a:cxn>
              </a:cxnLst>
              <a:rect l="f50" t="f53" r="f51" b="f52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10" y="f7"/>
                  </a:lnTo>
                  <a:lnTo>
                    <a:pt x="f6" y="f11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6" name="Line 207">
              <a:extLst>
                <a:ext uri="{FF2B5EF4-FFF2-40B4-BE49-F238E27FC236}">
                  <a16:creationId xmlns:a16="http://schemas.microsoft.com/office/drawing/2014/main" id="{B9027D7C-B9BB-96FF-C9E7-C46342BAD0B3}"/>
                </a:ext>
              </a:extLst>
            </p:cNvPr>
            <p:cNvSpPr/>
            <p:nvPr/>
          </p:nvSpPr>
          <p:spPr>
            <a:xfrm flipH="1">
              <a:off x="8921115" y="2791416"/>
              <a:ext cx="89976" cy="1520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7" name="Freeform 208">
              <a:extLst>
                <a:ext uri="{FF2B5EF4-FFF2-40B4-BE49-F238E27FC236}">
                  <a16:creationId xmlns:a16="http://schemas.microsoft.com/office/drawing/2014/main" id="{757B7202-08DE-4061-422B-B237DF27FDC7}"/>
                </a:ext>
              </a:extLst>
            </p:cNvPr>
            <p:cNvSpPr/>
            <p:nvPr/>
          </p:nvSpPr>
          <p:spPr>
            <a:xfrm>
              <a:off x="8908450" y="2673550"/>
              <a:ext cx="217974" cy="2167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7"/>
                <a:gd name="f7" fmla="val 256"/>
                <a:gd name="f8" fmla="val 9"/>
                <a:gd name="f9" fmla="val 11"/>
                <a:gd name="f10" fmla="val 175"/>
                <a:gd name="f11" fmla="val 144"/>
                <a:gd name="f12" fmla="val 2"/>
                <a:gd name="f13" fmla="val 107"/>
                <a:gd name="f14" fmla="val 20"/>
                <a:gd name="f15" fmla="val 76"/>
                <a:gd name="f16" fmla="val 52"/>
                <a:gd name="f17" fmla="val 19"/>
                <a:gd name="f18" fmla="val 125"/>
                <a:gd name="f19" fmla="val 181"/>
                <a:gd name="f20" fmla="val 33"/>
                <a:gd name="f21" fmla="val 238"/>
                <a:gd name="f22" fmla="val 65"/>
                <a:gd name="f23" fmla="val 138"/>
                <a:gd name="f24" fmla="val 224"/>
                <a:gd name="f25" fmla="val 194"/>
                <a:gd name="f26" fmla="val 206"/>
                <a:gd name="f27" fmla="val 226"/>
                <a:gd name="f28" fmla="val 176"/>
                <a:gd name="f29" fmla="val 245"/>
                <a:gd name="f30" fmla="val 143"/>
                <a:gd name="f31" fmla="val 251"/>
                <a:gd name="f32" fmla="val 140"/>
                <a:gd name="f33" fmla="+- 0 0 -90"/>
                <a:gd name="f34" fmla="*/ f3 1 257"/>
                <a:gd name="f35" fmla="*/ f4 1 256"/>
                <a:gd name="f36" fmla="+- f7 0 f5"/>
                <a:gd name="f37" fmla="+- f6 0 f5"/>
                <a:gd name="f38" fmla="*/ f33 f0 1"/>
                <a:gd name="f39" fmla="*/ f37 1 257"/>
                <a:gd name="f40" fmla="*/ f36 1 256"/>
                <a:gd name="f41" fmla="*/ 9 f37 1"/>
                <a:gd name="f42" fmla="*/ 180 f36 1"/>
                <a:gd name="f43" fmla="*/ 11 f37 1"/>
                <a:gd name="f44" fmla="*/ 175 f36 1"/>
                <a:gd name="f45" fmla="*/ 20 f37 1"/>
                <a:gd name="f46" fmla="*/ 76 f36 1"/>
                <a:gd name="f47" fmla="*/ 181 f37 1"/>
                <a:gd name="f48" fmla="*/ 33 f36 1"/>
                <a:gd name="f49" fmla="*/ 224 f37 1"/>
                <a:gd name="f50" fmla="*/ 194 f36 1"/>
                <a:gd name="f51" fmla="*/ 143 f37 1"/>
                <a:gd name="f52" fmla="*/ 251 f36 1"/>
                <a:gd name="f53" fmla="*/ 140 f37 1"/>
                <a:gd name="f54" fmla="*/ 256 f36 1"/>
                <a:gd name="f55" fmla="*/ f38 1 f2"/>
                <a:gd name="f56" fmla="*/ f41 1 257"/>
                <a:gd name="f57" fmla="*/ f42 1 256"/>
                <a:gd name="f58" fmla="*/ f43 1 257"/>
                <a:gd name="f59" fmla="*/ f44 1 256"/>
                <a:gd name="f60" fmla="*/ f45 1 257"/>
                <a:gd name="f61" fmla="*/ f46 1 256"/>
                <a:gd name="f62" fmla="*/ f47 1 257"/>
                <a:gd name="f63" fmla="*/ f48 1 256"/>
                <a:gd name="f64" fmla="*/ f49 1 257"/>
                <a:gd name="f65" fmla="*/ f50 1 256"/>
                <a:gd name="f66" fmla="*/ f51 1 257"/>
                <a:gd name="f67" fmla="*/ f52 1 256"/>
                <a:gd name="f68" fmla="*/ f53 1 257"/>
                <a:gd name="f69" fmla="*/ f54 1 256"/>
                <a:gd name="f70" fmla="*/ 0 1 f39"/>
                <a:gd name="f71" fmla="*/ f6 1 f39"/>
                <a:gd name="f72" fmla="*/ 0 1 f40"/>
                <a:gd name="f73" fmla="*/ f7 1 f40"/>
                <a:gd name="f74" fmla="+- f55 0 f1"/>
                <a:gd name="f75" fmla="*/ f56 1 f39"/>
                <a:gd name="f76" fmla="*/ f57 1 f40"/>
                <a:gd name="f77" fmla="*/ f58 1 f39"/>
                <a:gd name="f78" fmla="*/ f59 1 f40"/>
                <a:gd name="f79" fmla="*/ f60 1 f39"/>
                <a:gd name="f80" fmla="*/ f61 1 f40"/>
                <a:gd name="f81" fmla="*/ f62 1 f39"/>
                <a:gd name="f82" fmla="*/ f63 1 f40"/>
                <a:gd name="f83" fmla="*/ f64 1 f39"/>
                <a:gd name="f84" fmla="*/ f65 1 f40"/>
                <a:gd name="f85" fmla="*/ f66 1 f39"/>
                <a:gd name="f86" fmla="*/ f67 1 f40"/>
                <a:gd name="f87" fmla="*/ f68 1 f39"/>
                <a:gd name="f88" fmla="*/ f69 1 f40"/>
                <a:gd name="f89" fmla="*/ f70 f34 1"/>
                <a:gd name="f90" fmla="*/ f71 f34 1"/>
                <a:gd name="f91" fmla="*/ f73 f35 1"/>
                <a:gd name="f92" fmla="*/ f72 f35 1"/>
                <a:gd name="f93" fmla="*/ f75 f34 1"/>
                <a:gd name="f94" fmla="*/ f76 f35 1"/>
                <a:gd name="f95" fmla="*/ f77 f34 1"/>
                <a:gd name="f96" fmla="*/ f78 f35 1"/>
                <a:gd name="f97" fmla="*/ f79 f34 1"/>
                <a:gd name="f98" fmla="*/ f80 f35 1"/>
                <a:gd name="f99" fmla="*/ f81 f34 1"/>
                <a:gd name="f100" fmla="*/ f82 f35 1"/>
                <a:gd name="f101" fmla="*/ f83 f34 1"/>
                <a:gd name="f102" fmla="*/ f84 f35 1"/>
                <a:gd name="f103" fmla="*/ f85 f34 1"/>
                <a:gd name="f104" fmla="*/ f86 f35 1"/>
                <a:gd name="f105" fmla="*/ f87 f34 1"/>
                <a:gd name="f106" fmla="*/ f88 f3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3" y="f94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</a:cxnLst>
              <a:rect l="f89" t="f92" r="f90" b="f91"/>
              <a:pathLst>
                <a:path w="257" h="256">
                  <a:moveTo>
                    <a:pt x="f8" y="f2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5" y="f11"/>
                    <a:pt x="f12" y="f13"/>
                    <a:pt x="f14" y="f15"/>
                  </a:cubicBezTo>
                  <a:cubicBezTo>
                    <a:pt x="f16" y="f17"/>
                    <a:pt x="f18" y="f5"/>
                    <a:pt x="f19" y="f20"/>
                  </a:cubicBezTo>
                  <a:cubicBezTo>
                    <a:pt x="f21" y="f22"/>
                    <a:pt x="f6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7"/>
                    <a:pt x="f32" y="f7"/>
                    <a:pt x="f32" y="f7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8" name="Line 209">
              <a:extLst>
                <a:ext uri="{FF2B5EF4-FFF2-40B4-BE49-F238E27FC236}">
                  <a16:creationId xmlns:a16="http://schemas.microsoft.com/office/drawing/2014/main" id="{14CC9221-80DE-6A7A-A47C-D6E3E1109DF2}"/>
                </a:ext>
              </a:extLst>
            </p:cNvPr>
            <p:cNvSpPr/>
            <p:nvPr/>
          </p:nvSpPr>
          <p:spPr>
            <a:xfrm flipV="1">
              <a:off x="9069394" y="2648212"/>
              <a:ext cx="22814" cy="3928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9" name="Line 210">
              <a:extLst>
                <a:ext uri="{FF2B5EF4-FFF2-40B4-BE49-F238E27FC236}">
                  <a16:creationId xmlns:a16="http://schemas.microsoft.com/office/drawing/2014/main" id="{51A256A1-7C32-ADEF-F0DD-09600EB152E0}"/>
                </a:ext>
              </a:extLst>
            </p:cNvPr>
            <p:cNvSpPr/>
            <p:nvPr/>
          </p:nvSpPr>
          <p:spPr>
            <a:xfrm flipV="1">
              <a:off x="9128958" y="2747058"/>
              <a:ext cx="41824" cy="101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0" name="Line 211">
              <a:extLst>
                <a:ext uri="{FF2B5EF4-FFF2-40B4-BE49-F238E27FC236}">
                  <a16:creationId xmlns:a16="http://schemas.microsoft.com/office/drawing/2014/main" id="{AA6D6354-1CF3-83D5-A430-ABBF10AE16C9}"/>
                </a:ext>
              </a:extLst>
            </p:cNvPr>
            <p:cNvSpPr/>
            <p:nvPr/>
          </p:nvSpPr>
          <p:spPr>
            <a:xfrm>
              <a:off x="9113742" y="2850971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1" name="Line 212">
              <a:extLst>
                <a:ext uri="{FF2B5EF4-FFF2-40B4-BE49-F238E27FC236}">
                  <a16:creationId xmlns:a16="http://schemas.microsoft.com/office/drawing/2014/main" id="{B44EF337-DE82-5368-B042-58E4D441A792}"/>
                </a:ext>
              </a:extLst>
            </p:cNvPr>
            <p:cNvSpPr/>
            <p:nvPr/>
          </p:nvSpPr>
          <p:spPr>
            <a:xfrm>
              <a:off x="9042775" y="2906740"/>
              <a:ext cx="8869" cy="43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2" name="Line 213">
              <a:extLst>
                <a:ext uri="{FF2B5EF4-FFF2-40B4-BE49-F238E27FC236}">
                  <a16:creationId xmlns:a16="http://schemas.microsoft.com/office/drawing/2014/main" id="{65656471-057D-CAFE-2475-0981022880A1}"/>
                </a:ext>
              </a:extLst>
            </p:cNvPr>
            <p:cNvSpPr/>
            <p:nvPr/>
          </p:nvSpPr>
          <p:spPr>
            <a:xfrm flipH="1" flipV="1">
              <a:off x="8962939" y="2626659"/>
              <a:ext cx="11402" cy="418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3" name="Line 214">
              <a:extLst>
                <a:ext uri="{FF2B5EF4-FFF2-40B4-BE49-F238E27FC236}">
                  <a16:creationId xmlns:a16="http://schemas.microsoft.com/office/drawing/2014/main" id="{577C7F9D-DA76-58D8-F27E-6000A14B74B8}"/>
                </a:ext>
              </a:extLst>
            </p:cNvPr>
            <p:cNvSpPr/>
            <p:nvPr/>
          </p:nvSpPr>
          <p:spPr>
            <a:xfrm flipH="1" flipV="1">
              <a:off x="8862822" y="2706505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4" name="Line 215">
              <a:extLst>
                <a:ext uri="{FF2B5EF4-FFF2-40B4-BE49-F238E27FC236}">
                  <a16:creationId xmlns:a16="http://schemas.microsoft.com/office/drawing/2014/main" id="{A355CD19-983E-26D9-AE9A-DBC66615BB71}"/>
                </a:ext>
              </a:extLst>
            </p:cNvPr>
            <p:cNvSpPr/>
            <p:nvPr/>
          </p:nvSpPr>
          <p:spPr>
            <a:xfrm flipH="1">
              <a:off x="8846344" y="2816754"/>
              <a:ext cx="41824" cy="13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5" name="Line 216">
              <a:extLst>
                <a:ext uri="{FF2B5EF4-FFF2-40B4-BE49-F238E27FC236}">
                  <a16:creationId xmlns:a16="http://schemas.microsoft.com/office/drawing/2014/main" id="{22997C4A-5F2D-DFA5-23EE-392A0A6DB303}"/>
                </a:ext>
              </a:extLst>
            </p:cNvPr>
            <p:cNvSpPr/>
            <p:nvPr/>
          </p:nvSpPr>
          <p:spPr>
            <a:xfrm flipH="1">
              <a:off x="8771574" y="2520214"/>
              <a:ext cx="154606" cy="2686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6" name="Line 217">
              <a:extLst>
                <a:ext uri="{FF2B5EF4-FFF2-40B4-BE49-F238E27FC236}">
                  <a16:creationId xmlns:a16="http://schemas.microsoft.com/office/drawing/2014/main" id="{E2D2FB40-EEFF-4E8E-6AC5-1E9C5008F9B0}"/>
                </a:ext>
              </a:extLst>
            </p:cNvPr>
            <p:cNvSpPr/>
            <p:nvPr/>
          </p:nvSpPr>
          <p:spPr>
            <a:xfrm flipH="1">
              <a:off x="9069394" y="2951088"/>
              <a:ext cx="82378" cy="1406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37" name="Line 218">
              <a:extLst>
                <a:ext uri="{FF2B5EF4-FFF2-40B4-BE49-F238E27FC236}">
                  <a16:creationId xmlns:a16="http://schemas.microsoft.com/office/drawing/2014/main" id="{E20D836B-A19D-9202-4A86-22686E45B79E}"/>
                </a:ext>
              </a:extLst>
            </p:cNvPr>
            <p:cNvSpPr/>
            <p:nvPr/>
          </p:nvSpPr>
          <p:spPr>
            <a:xfrm flipH="1">
              <a:off x="9116284" y="2527813"/>
              <a:ext cx="43086" cy="734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38" name="Group 202">
            <a:extLst>
              <a:ext uri="{FF2B5EF4-FFF2-40B4-BE49-F238E27FC236}">
                <a16:creationId xmlns:a16="http://schemas.microsoft.com/office/drawing/2014/main" id="{C68ABC2D-AF01-A506-6310-2E77173A881F}"/>
              </a:ext>
            </a:extLst>
          </p:cNvPr>
          <p:cNvGrpSpPr/>
          <p:nvPr/>
        </p:nvGrpSpPr>
        <p:grpSpPr>
          <a:xfrm>
            <a:off x="11037568" y="2649033"/>
            <a:ext cx="399208" cy="571545"/>
            <a:chOff x="8771574" y="2520214"/>
            <a:chExt cx="399208" cy="571545"/>
          </a:xfrm>
        </p:grpSpPr>
        <p:sp>
          <p:nvSpPr>
            <p:cNvPr id="39" name="Freeform 203">
              <a:extLst>
                <a:ext uri="{FF2B5EF4-FFF2-40B4-BE49-F238E27FC236}">
                  <a16:creationId xmlns:a16="http://schemas.microsoft.com/office/drawing/2014/main" id="{C3633A37-FDCD-53F6-C3B2-29881D3E193E}"/>
                </a:ext>
              </a:extLst>
            </p:cNvPr>
            <p:cNvSpPr/>
            <p:nvPr/>
          </p:nvSpPr>
          <p:spPr>
            <a:xfrm>
              <a:off x="8894505" y="2821829"/>
              <a:ext cx="135596" cy="1089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0"/>
                <a:gd name="f7" fmla="val 129"/>
                <a:gd name="f8" fmla="val 76"/>
                <a:gd name="f9" fmla="val 139"/>
                <a:gd name="f10" fmla="val 112"/>
                <a:gd name="f11" fmla="val 132"/>
                <a:gd name="f12" fmla="val 125"/>
                <a:gd name="f13" fmla="val 115"/>
                <a:gd name="f14" fmla="val 103"/>
                <a:gd name="f15" fmla="val 122"/>
                <a:gd name="f16" fmla="val 17"/>
                <a:gd name="f17" fmla="val 72"/>
                <a:gd name="f18" fmla="val 4"/>
                <a:gd name="f19" fmla="val 65"/>
                <a:gd name="f20" fmla="val 49"/>
                <a:gd name="f21" fmla="val 7"/>
                <a:gd name="f22" fmla="val 36"/>
                <a:gd name="f23" fmla="val 28"/>
                <a:gd name="f24" fmla="+- 0 0 -90"/>
                <a:gd name="f25" fmla="*/ f3 1 160"/>
                <a:gd name="f26" fmla="*/ f4 1 129"/>
                <a:gd name="f27" fmla="+- f7 0 f5"/>
                <a:gd name="f28" fmla="+- f6 0 f5"/>
                <a:gd name="f29" fmla="*/ f24 f0 1"/>
                <a:gd name="f30" fmla="*/ f28 1 160"/>
                <a:gd name="f31" fmla="*/ f27 1 129"/>
                <a:gd name="f32" fmla="*/ 160 f28 1"/>
                <a:gd name="f33" fmla="*/ 76 f27 1"/>
                <a:gd name="f34" fmla="*/ 139 f28 1"/>
                <a:gd name="f35" fmla="*/ 112 f27 1"/>
                <a:gd name="f36" fmla="*/ 103 f28 1"/>
                <a:gd name="f37" fmla="*/ 122 f27 1"/>
                <a:gd name="f38" fmla="*/ 17 f28 1"/>
                <a:gd name="f39" fmla="*/ 72 f27 1"/>
                <a:gd name="f40" fmla="*/ 7 f28 1"/>
                <a:gd name="f41" fmla="*/ 36 f27 1"/>
                <a:gd name="f42" fmla="*/ 28 f28 1"/>
                <a:gd name="f43" fmla="*/ 0 f27 1"/>
                <a:gd name="f44" fmla="*/ f29 1 f2"/>
                <a:gd name="f45" fmla="*/ f32 1 160"/>
                <a:gd name="f46" fmla="*/ f33 1 129"/>
                <a:gd name="f47" fmla="*/ f34 1 160"/>
                <a:gd name="f48" fmla="*/ f35 1 129"/>
                <a:gd name="f49" fmla="*/ f36 1 160"/>
                <a:gd name="f50" fmla="*/ f37 1 129"/>
                <a:gd name="f51" fmla="*/ f38 1 160"/>
                <a:gd name="f52" fmla="*/ f39 1 129"/>
                <a:gd name="f53" fmla="*/ f40 1 160"/>
                <a:gd name="f54" fmla="*/ f41 1 129"/>
                <a:gd name="f55" fmla="*/ f42 1 160"/>
                <a:gd name="f56" fmla="*/ f43 1 129"/>
                <a:gd name="f57" fmla="*/ 0 1 f30"/>
                <a:gd name="f58" fmla="*/ f6 1 f30"/>
                <a:gd name="f59" fmla="*/ 0 1 f31"/>
                <a:gd name="f60" fmla="*/ f7 1 f31"/>
                <a:gd name="f61" fmla="+- f44 0 f1"/>
                <a:gd name="f62" fmla="*/ f45 1 f30"/>
                <a:gd name="f63" fmla="*/ f46 1 f31"/>
                <a:gd name="f64" fmla="*/ f47 1 f30"/>
                <a:gd name="f65" fmla="*/ f48 1 f31"/>
                <a:gd name="f66" fmla="*/ f49 1 f30"/>
                <a:gd name="f67" fmla="*/ f50 1 f31"/>
                <a:gd name="f68" fmla="*/ f51 1 f30"/>
                <a:gd name="f69" fmla="*/ f52 1 f31"/>
                <a:gd name="f70" fmla="*/ f53 1 f30"/>
                <a:gd name="f71" fmla="*/ f54 1 f31"/>
                <a:gd name="f72" fmla="*/ f55 1 f30"/>
                <a:gd name="f73" fmla="*/ f56 1 f31"/>
                <a:gd name="f74" fmla="*/ f57 f25 1"/>
                <a:gd name="f75" fmla="*/ f58 f25 1"/>
                <a:gd name="f76" fmla="*/ f60 f26 1"/>
                <a:gd name="f77" fmla="*/ f59 f26 1"/>
                <a:gd name="f78" fmla="*/ f62 f25 1"/>
                <a:gd name="f79" fmla="*/ f63 f26 1"/>
                <a:gd name="f80" fmla="*/ f64 f25 1"/>
                <a:gd name="f81" fmla="*/ f65 f26 1"/>
                <a:gd name="f82" fmla="*/ f66 f25 1"/>
                <a:gd name="f83" fmla="*/ f67 f26 1"/>
                <a:gd name="f84" fmla="*/ f68 f25 1"/>
                <a:gd name="f85" fmla="*/ f69 f26 1"/>
                <a:gd name="f86" fmla="*/ f70 f25 1"/>
                <a:gd name="f87" fmla="*/ f71 f26 1"/>
                <a:gd name="f88" fmla="*/ f72 f25 1"/>
                <a:gd name="f89" fmla="*/ f73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1">
                  <a:pos x="f78" y="f79"/>
                </a:cxn>
                <a:cxn ang="f61">
                  <a:pos x="f80" y="f81"/>
                </a:cxn>
                <a:cxn ang="f61">
                  <a:pos x="f82" y="f83"/>
                </a:cxn>
                <a:cxn ang="f61">
                  <a:pos x="f84" y="f85"/>
                </a:cxn>
                <a:cxn ang="f61">
                  <a:pos x="f86" y="f87"/>
                </a:cxn>
                <a:cxn ang="f61">
                  <a:pos x="f88" y="f89"/>
                </a:cxn>
              </a:cxnLst>
              <a:rect l="f74" t="f77" r="f75" b="f76"/>
              <a:pathLst>
                <a:path w="160" h="12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11" y="f12"/>
                    <a:pt x="f13" y="f7"/>
                    <a:pt x="f14" y="f15"/>
                  </a:cubicBezTo>
                  <a:cubicBezTo>
                    <a:pt x="f16" y="f17"/>
                    <a:pt x="f16" y="f17"/>
                    <a:pt x="f16" y="f17"/>
                  </a:cubicBezTo>
                  <a:cubicBezTo>
                    <a:pt x="f18" y="f19"/>
                    <a:pt x="f5" y="f20"/>
                    <a:pt x="f21" y="f22"/>
                  </a:cubicBezTo>
                  <a:cubicBezTo>
                    <a:pt x="f23" y="f5"/>
                    <a:pt x="f23" y="f5"/>
                    <a:pt x="f23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0" name="Freeform 204">
              <a:extLst>
                <a:ext uri="{FF2B5EF4-FFF2-40B4-BE49-F238E27FC236}">
                  <a16:creationId xmlns:a16="http://schemas.microsoft.com/office/drawing/2014/main" id="{4A871879-EAE7-0B89-4F42-1E29665AC3C6}"/>
                </a:ext>
              </a:extLst>
            </p:cNvPr>
            <p:cNvSpPr/>
            <p:nvPr/>
          </p:nvSpPr>
          <p:spPr>
            <a:xfrm>
              <a:off x="8878028" y="2876318"/>
              <a:ext cx="112791" cy="925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109"/>
                <a:gd name="f8" fmla="val 63"/>
                <a:gd name="f9" fmla="val 113"/>
                <a:gd name="f10" fmla="val 97"/>
                <a:gd name="f11" fmla="val 106"/>
                <a:gd name="f12" fmla="val 98"/>
                <a:gd name="f13" fmla="val 89"/>
                <a:gd name="f14" fmla="val 104"/>
                <a:gd name="f15" fmla="val 12"/>
                <a:gd name="f16" fmla="val 59"/>
                <a:gd name="f17" fmla="val 3"/>
                <a:gd name="f18" fmla="val 54"/>
                <a:gd name="f19" fmla="val 43"/>
                <a:gd name="f20" fmla="val 5"/>
                <a:gd name="f21" fmla="val 35"/>
                <a:gd name="f22" fmla="val 25"/>
                <a:gd name="f23" fmla="+- 0 0 -90"/>
                <a:gd name="f24" fmla="*/ f3 1 133"/>
                <a:gd name="f25" fmla="*/ f4 1 109"/>
                <a:gd name="f26" fmla="+- f7 0 f5"/>
                <a:gd name="f27" fmla="+- f6 0 f5"/>
                <a:gd name="f28" fmla="*/ f23 f0 1"/>
                <a:gd name="f29" fmla="*/ f27 1 133"/>
                <a:gd name="f30" fmla="*/ f26 1 109"/>
                <a:gd name="f31" fmla="*/ 133 f27 1"/>
                <a:gd name="f32" fmla="*/ 63 f26 1"/>
                <a:gd name="f33" fmla="*/ 113 f27 1"/>
                <a:gd name="f34" fmla="*/ 97 f26 1"/>
                <a:gd name="f35" fmla="*/ 89 f27 1"/>
                <a:gd name="f36" fmla="*/ 104 f26 1"/>
                <a:gd name="f37" fmla="*/ 12 f27 1"/>
                <a:gd name="f38" fmla="*/ 59 f26 1"/>
                <a:gd name="f39" fmla="*/ 5 f27 1"/>
                <a:gd name="f40" fmla="*/ 35 f26 1"/>
                <a:gd name="f41" fmla="*/ 25 f27 1"/>
                <a:gd name="f42" fmla="*/ 0 f26 1"/>
                <a:gd name="f43" fmla="*/ f28 1 f2"/>
                <a:gd name="f44" fmla="*/ f31 1 133"/>
                <a:gd name="f45" fmla="*/ f32 1 109"/>
                <a:gd name="f46" fmla="*/ f33 1 133"/>
                <a:gd name="f47" fmla="*/ f34 1 109"/>
                <a:gd name="f48" fmla="*/ f35 1 133"/>
                <a:gd name="f49" fmla="*/ f36 1 109"/>
                <a:gd name="f50" fmla="*/ f37 1 133"/>
                <a:gd name="f51" fmla="*/ f38 1 109"/>
                <a:gd name="f52" fmla="*/ f39 1 133"/>
                <a:gd name="f53" fmla="*/ f40 1 109"/>
                <a:gd name="f54" fmla="*/ f41 1 133"/>
                <a:gd name="f55" fmla="*/ f42 1 109"/>
                <a:gd name="f56" fmla="*/ 0 1 f29"/>
                <a:gd name="f57" fmla="*/ f6 1 f29"/>
                <a:gd name="f58" fmla="*/ 0 1 f30"/>
                <a:gd name="f59" fmla="*/ f7 1 f30"/>
                <a:gd name="f60" fmla="+- f43 0 f1"/>
                <a:gd name="f61" fmla="*/ f44 1 f29"/>
                <a:gd name="f62" fmla="*/ f45 1 f30"/>
                <a:gd name="f63" fmla="*/ f46 1 f29"/>
                <a:gd name="f64" fmla="*/ f47 1 f30"/>
                <a:gd name="f65" fmla="*/ f48 1 f29"/>
                <a:gd name="f66" fmla="*/ f49 1 f30"/>
                <a:gd name="f67" fmla="*/ f50 1 f29"/>
                <a:gd name="f68" fmla="*/ f51 1 f30"/>
                <a:gd name="f69" fmla="*/ f52 1 f29"/>
                <a:gd name="f70" fmla="*/ f53 1 f30"/>
                <a:gd name="f71" fmla="*/ f54 1 f29"/>
                <a:gd name="f72" fmla="*/ f55 1 f30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4 1"/>
                <a:gd name="f86" fmla="*/ f70 f25 1"/>
                <a:gd name="f87" fmla="*/ f71 f24 1"/>
                <a:gd name="f88" fmla="*/ f72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85" y="f86"/>
                </a:cxn>
                <a:cxn ang="f60">
                  <a:pos x="f87" y="f88"/>
                </a:cxn>
              </a:cxnLst>
              <a:rect l="f73" t="f76" r="f74" b="f75"/>
              <a:pathLst>
                <a:path w="133" h="10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7" y="f11"/>
                    <a:pt x="f12" y="f7"/>
                    <a:pt x="f13" y="f14"/>
                  </a:cubicBezTo>
                  <a:cubicBezTo>
                    <a:pt x="f15" y="f16"/>
                    <a:pt x="f15" y="f16"/>
                    <a:pt x="f15" y="f16"/>
                  </a:cubicBezTo>
                  <a:cubicBezTo>
                    <a:pt x="f17" y="f18"/>
                    <a:pt x="f5" y="f19"/>
                    <a:pt x="f20" y="f21"/>
                  </a:cubicBezTo>
                  <a:cubicBezTo>
                    <a:pt x="f22" y="f5"/>
                    <a:pt x="f22" y="f5"/>
                    <a:pt x="f22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1" name="Freeform 205">
              <a:extLst>
                <a:ext uri="{FF2B5EF4-FFF2-40B4-BE49-F238E27FC236}">
                  <a16:creationId xmlns:a16="http://schemas.microsoft.com/office/drawing/2014/main" id="{99370CEE-9B91-6127-F667-53D2CB8C2AEA}"/>
                </a:ext>
              </a:extLst>
            </p:cNvPr>
            <p:cNvSpPr/>
            <p:nvPr/>
          </p:nvSpPr>
          <p:spPr>
            <a:xfrm>
              <a:off x="8883103" y="2930816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0"/>
                <a:gd name="f9" fmla="val 17"/>
                <a:gd name="f10" fmla="val 23"/>
                <a:gd name="f11" fmla="+- 0 0 -90"/>
                <a:gd name="f12" fmla="*/ f3 1 50"/>
                <a:gd name="f13" fmla="*/ f4 1 40"/>
                <a:gd name="f14" fmla="+- f7 0 f5"/>
                <a:gd name="f15" fmla="+- f6 0 f5"/>
                <a:gd name="f16" fmla="*/ f11 f0 1"/>
                <a:gd name="f17" fmla="*/ f15 1 50"/>
                <a:gd name="f18" fmla="*/ f14 1 40"/>
                <a:gd name="f19" fmla="*/ 10 f15 1"/>
                <a:gd name="f20" fmla="*/ 0 f14 1"/>
                <a:gd name="f21" fmla="*/ 0 f15 1"/>
                <a:gd name="f22" fmla="*/ 17 f14 1"/>
                <a:gd name="f23" fmla="*/ 40 f15 1"/>
                <a:gd name="f24" fmla="*/ 40 f14 1"/>
                <a:gd name="f25" fmla="*/ 50 f15 1"/>
                <a:gd name="f26" fmla="*/ 23 f14 1"/>
                <a:gd name="f27" fmla="*/ f16 1 f2"/>
                <a:gd name="f28" fmla="*/ f19 1 50"/>
                <a:gd name="f29" fmla="*/ f20 1 40"/>
                <a:gd name="f30" fmla="*/ f21 1 50"/>
                <a:gd name="f31" fmla="*/ f22 1 40"/>
                <a:gd name="f32" fmla="*/ f23 1 50"/>
                <a:gd name="f33" fmla="*/ f24 1 40"/>
                <a:gd name="f34" fmla="*/ f25 1 50"/>
                <a:gd name="f35" fmla="*/ f26 1 40"/>
                <a:gd name="f36" fmla="*/ 0 1 f17"/>
                <a:gd name="f37" fmla="*/ f6 1 f17"/>
                <a:gd name="f38" fmla="*/ 0 1 f18"/>
                <a:gd name="f39" fmla="*/ f7 1 f18"/>
                <a:gd name="f40" fmla="+- f27 0 f1"/>
                <a:gd name="f41" fmla="*/ f28 1 f17"/>
                <a:gd name="f42" fmla="*/ f29 1 f18"/>
                <a:gd name="f43" fmla="*/ f30 1 f17"/>
                <a:gd name="f44" fmla="*/ f31 1 f18"/>
                <a:gd name="f45" fmla="*/ f32 1 f17"/>
                <a:gd name="f46" fmla="*/ f33 1 f18"/>
                <a:gd name="f47" fmla="*/ f34 1 f17"/>
                <a:gd name="f48" fmla="*/ f35 1 f18"/>
                <a:gd name="f49" fmla="*/ f36 f12 1"/>
                <a:gd name="f50" fmla="*/ f37 f12 1"/>
                <a:gd name="f51" fmla="*/ f39 f13 1"/>
                <a:gd name="f52" fmla="*/ f38 f13 1"/>
                <a:gd name="f53" fmla="*/ f41 f12 1"/>
                <a:gd name="f54" fmla="*/ f42 f13 1"/>
                <a:gd name="f55" fmla="*/ f43 f12 1"/>
                <a:gd name="f56" fmla="*/ f44 f13 1"/>
                <a:gd name="f57" fmla="*/ f45 f12 1"/>
                <a:gd name="f58" fmla="*/ f46 f13 1"/>
                <a:gd name="f59" fmla="*/ f47 f12 1"/>
                <a:gd name="f60" fmla="*/ f48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3" y="f54"/>
                </a:cxn>
                <a:cxn ang="f40">
                  <a:pos x="f55" y="f56"/>
                </a:cxn>
                <a:cxn ang="f40">
                  <a:pos x="f57" y="f58"/>
                </a:cxn>
                <a:cxn ang="f40">
                  <a:pos x="f59" y="f60"/>
                </a:cxn>
              </a:cxnLst>
              <a:rect l="f49" t="f52" r="f50" b="f51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7" y="f7"/>
                  </a:lnTo>
                  <a:lnTo>
                    <a:pt x="f6" y="f10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2" name="Freeform 206">
              <a:extLst>
                <a:ext uri="{FF2B5EF4-FFF2-40B4-BE49-F238E27FC236}">
                  <a16:creationId xmlns:a16="http://schemas.microsoft.com/office/drawing/2014/main" id="{1FA74A58-745E-957D-623A-BCDFC2CDCC04}"/>
                </a:ext>
              </a:extLst>
            </p:cNvPr>
            <p:cNvSpPr/>
            <p:nvPr/>
          </p:nvSpPr>
          <p:spPr>
            <a:xfrm>
              <a:off x="8971809" y="2776200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1"/>
                <a:gd name="f9" fmla="val 17"/>
                <a:gd name="f10" fmla="val 41"/>
                <a:gd name="f11" fmla="val 24"/>
                <a:gd name="f12" fmla="+- 0 0 -90"/>
                <a:gd name="f13" fmla="*/ f3 1 50"/>
                <a:gd name="f14" fmla="*/ f4 1 40"/>
                <a:gd name="f15" fmla="+- f7 0 f5"/>
                <a:gd name="f16" fmla="+- f6 0 f5"/>
                <a:gd name="f17" fmla="*/ f12 f0 1"/>
                <a:gd name="f18" fmla="*/ f16 1 50"/>
                <a:gd name="f19" fmla="*/ f15 1 40"/>
                <a:gd name="f20" fmla="*/ 11 f16 1"/>
                <a:gd name="f21" fmla="*/ 0 f15 1"/>
                <a:gd name="f22" fmla="*/ 0 f16 1"/>
                <a:gd name="f23" fmla="*/ 17 f15 1"/>
                <a:gd name="f24" fmla="*/ 41 f16 1"/>
                <a:gd name="f25" fmla="*/ 40 f15 1"/>
                <a:gd name="f26" fmla="*/ 50 f16 1"/>
                <a:gd name="f27" fmla="*/ 24 f15 1"/>
                <a:gd name="f28" fmla="*/ f17 1 f2"/>
                <a:gd name="f29" fmla="*/ f20 1 50"/>
                <a:gd name="f30" fmla="*/ f21 1 40"/>
                <a:gd name="f31" fmla="*/ f22 1 50"/>
                <a:gd name="f32" fmla="*/ f23 1 40"/>
                <a:gd name="f33" fmla="*/ f24 1 50"/>
                <a:gd name="f34" fmla="*/ f25 1 40"/>
                <a:gd name="f35" fmla="*/ f26 1 50"/>
                <a:gd name="f36" fmla="*/ f27 1 40"/>
                <a:gd name="f37" fmla="*/ 0 1 f18"/>
                <a:gd name="f38" fmla="*/ f6 1 f18"/>
                <a:gd name="f39" fmla="*/ 0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9"/>
                <a:gd name="f46" fmla="*/ f33 1 f18"/>
                <a:gd name="f47" fmla="*/ f34 1 f19"/>
                <a:gd name="f48" fmla="*/ f35 1 f18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4 1"/>
                <a:gd name="f58" fmla="*/ f46 f13 1"/>
                <a:gd name="f59" fmla="*/ f47 f14 1"/>
                <a:gd name="f60" fmla="*/ f48 f13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7"/>
                </a:cxn>
                <a:cxn ang="f41">
                  <a:pos x="f58" y="f59"/>
                </a:cxn>
                <a:cxn ang="f41">
                  <a:pos x="f60" y="f61"/>
                </a:cxn>
              </a:cxnLst>
              <a:rect l="f50" t="f53" r="f51" b="f52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10" y="f7"/>
                  </a:lnTo>
                  <a:lnTo>
                    <a:pt x="f6" y="f11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3" name="Line 207">
              <a:extLst>
                <a:ext uri="{FF2B5EF4-FFF2-40B4-BE49-F238E27FC236}">
                  <a16:creationId xmlns:a16="http://schemas.microsoft.com/office/drawing/2014/main" id="{7BED217C-3C83-1186-0089-030736F40C83}"/>
                </a:ext>
              </a:extLst>
            </p:cNvPr>
            <p:cNvSpPr/>
            <p:nvPr/>
          </p:nvSpPr>
          <p:spPr>
            <a:xfrm flipH="1">
              <a:off x="8921115" y="2791416"/>
              <a:ext cx="89976" cy="1520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4" name="Freeform 208">
              <a:extLst>
                <a:ext uri="{FF2B5EF4-FFF2-40B4-BE49-F238E27FC236}">
                  <a16:creationId xmlns:a16="http://schemas.microsoft.com/office/drawing/2014/main" id="{766C38D4-826A-08DB-C8D6-A7A47493775D}"/>
                </a:ext>
              </a:extLst>
            </p:cNvPr>
            <p:cNvSpPr/>
            <p:nvPr/>
          </p:nvSpPr>
          <p:spPr>
            <a:xfrm>
              <a:off x="8908450" y="2673550"/>
              <a:ext cx="217974" cy="2167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7"/>
                <a:gd name="f7" fmla="val 256"/>
                <a:gd name="f8" fmla="val 9"/>
                <a:gd name="f9" fmla="val 11"/>
                <a:gd name="f10" fmla="val 175"/>
                <a:gd name="f11" fmla="val 144"/>
                <a:gd name="f12" fmla="val 2"/>
                <a:gd name="f13" fmla="val 107"/>
                <a:gd name="f14" fmla="val 20"/>
                <a:gd name="f15" fmla="val 76"/>
                <a:gd name="f16" fmla="val 52"/>
                <a:gd name="f17" fmla="val 19"/>
                <a:gd name="f18" fmla="val 125"/>
                <a:gd name="f19" fmla="val 181"/>
                <a:gd name="f20" fmla="val 33"/>
                <a:gd name="f21" fmla="val 238"/>
                <a:gd name="f22" fmla="val 65"/>
                <a:gd name="f23" fmla="val 138"/>
                <a:gd name="f24" fmla="val 224"/>
                <a:gd name="f25" fmla="val 194"/>
                <a:gd name="f26" fmla="val 206"/>
                <a:gd name="f27" fmla="val 226"/>
                <a:gd name="f28" fmla="val 176"/>
                <a:gd name="f29" fmla="val 245"/>
                <a:gd name="f30" fmla="val 143"/>
                <a:gd name="f31" fmla="val 251"/>
                <a:gd name="f32" fmla="val 140"/>
                <a:gd name="f33" fmla="+- 0 0 -90"/>
                <a:gd name="f34" fmla="*/ f3 1 257"/>
                <a:gd name="f35" fmla="*/ f4 1 256"/>
                <a:gd name="f36" fmla="+- f7 0 f5"/>
                <a:gd name="f37" fmla="+- f6 0 f5"/>
                <a:gd name="f38" fmla="*/ f33 f0 1"/>
                <a:gd name="f39" fmla="*/ f37 1 257"/>
                <a:gd name="f40" fmla="*/ f36 1 256"/>
                <a:gd name="f41" fmla="*/ 9 f37 1"/>
                <a:gd name="f42" fmla="*/ 180 f36 1"/>
                <a:gd name="f43" fmla="*/ 11 f37 1"/>
                <a:gd name="f44" fmla="*/ 175 f36 1"/>
                <a:gd name="f45" fmla="*/ 20 f37 1"/>
                <a:gd name="f46" fmla="*/ 76 f36 1"/>
                <a:gd name="f47" fmla="*/ 181 f37 1"/>
                <a:gd name="f48" fmla="*/ 33 f36 1"/>
                <a:gd name="f49" fmla="*/ 224 f37 1"/>
                <a:gd name="f50" fmla="*/ 194 f36 1"/>
                <a:gd name="f51" fmla="*/ 143 f37 1"/>
                <a:gd name="f52" fmla="*/ 251 f36 1"/>
                <a:gd name="f53" fmla="*/ 140 f37 1"/>
                <a:gd name="f54" fmla="*/ 256 f36 1"/>
                <a:gd name="f55" fmla="*/ f38 1 f2"/>
                <a:gd name="f56" fmla="*/ f41 1 257"/>
                <a:gd name="f57" fmla="*/ f42 1 256"/>
                <a:gd name="f58" fmla="*/ f43 1 257"/>
                <a:gd name="f59" fmla="*/ f44 1 256"/>
                <a:gd name="f60" fmla="*/ f45 1 257"/>
                <a:gd name="f61" fmla="*/ f46 1 256"/>
                <a:gd name="f62" fmla="*/ f47 1 257"/>
                <a:gd name="f63" fmla="*/ f48 1 256"/>
                <a:gd name="f64" fmla="*/ f49 1 257"/>
                <a:gd name="f65" fmla="*/ f50 1 256"/>
                <a:gd name="f66" fmla="*/ f51 1 257"/>
                <a:gd name="f67" fmla="*/ f52 1 256"/>
                <a:gd name="f68" fmla="*/ f53 1 257"/>
                <a:gd name="f69" fmla="*/ f54 1 256"/>
                <a:gd name="f70" fmla="*/ 0 1 f39"/>
                <a:gd name="f71" fmla="*/ f6 1 f39"/>
                <a:gd name="f72" fmla="*/ 0 1 f40"/>
                <a:gd name="f73" fmla="*/ f7 1 f40"/>
                <a:gd name="f74" fmla="+- f55 0 f1"/>
                <a:gd name="f75" fmla="*/ f56 1 f39"/>
                <a:gd name="f76" fmla="*/ f57 1 f40"/>
                <a:gd name="f77" fmla="*/ f58 1 f39"/>
                <a:gd name="f78" fmla="*/ f59 1 f40"/>
                <a:gd name="f79" fmla="*/ f60 1 f39"/>
                <a:gd name="f80" fmla="*/ f61 1 f40"/>
                <a:gd name="f81" fmla="*/ f62 1 f39"/>
                <a:gd name="f82" fmla="*/ f63 1 f40"/>
                <a:gd name="f83" fmla="*/ f64 1 f39"/>
                <a:gd name="f84" fmla="*/ f65 1 f40"/>
                <a:gd name="f85" fmla="*/ f66 1 f39"/>
                <a:gd name="f86" fmla="*/ f67 1 f40"/>
                <a:gd name="f87" fmla="*/ f68 1 f39"/>
                <a:gd name="f88" fmla="*/ f69 1 f40"/>
                <a:gd name="f89" fmla="*/ f70 f34 1"/>
                <a:gd name="f90" fmla="*/ f71 f34 1"/>
                <a:gd name="f91" fmla="*/ f73 f35 1"/>
                <a:gd name="f92" fmla="*/ f72 f35 1"/>
                <a:gd name="f93" fmla="*/ f75 f34 1"/>
                <a:gd name="f94" fmla="*/ f76 f35 1"/>
                <a:gd name="f95" fmla="*/ f77 f34 1"/>
                <a:gd name="f96" fmla="*/ f78 f35 1"/>
                <a:gd name="f97" fmla="*/ f79 f34 1"/>
                <a:gd name="f98" fmla="*/ f80 f35 1"/>
                <a:gd name="f99" fmla="*/ f81 f34 1"/>
                <a:gd name="f100" fmla="*/ f82 f35 1"/>
                <a:gd name="f101" fmla="*/ f83 f34 1"/>
                <a:gd name="f102" fmla="*/ f84 f35 1"/>
                <a:gd name="f103" fmla="*/ f85 f34 1"/>
                <a:gd name="f104" fmla="*/ f86 f35 1"/>
                <a:gd name="f105" fmla="*/ f87 f34 1"/>
                <a:gd name="f106" fmla="*/ f88 f3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3" y="f94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</a:cxnLst>
              <a:rect l="f89" t="f92" r="f90" b="f91"/>
              <a:pathLst>
                <a:path w="257" h="256">
                  <a:moveTo>
                    <a:pt x="f8" y="f2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5" y="f11"/>
                    <a:pt x="f12" y="f13"/>
                    <a:pt x="f14" y="f15"/>
                  </a:cubicBezTo>
                  <a:cubicBezTo>
                    <a:pt x="f16" y="f17"/>
                    <a:pt x="f18" y="f5"/>
                    <a:pt x="f19" y="f20"/>
                  </a:cubicBezTo>
                  <a:cubicBezTo>
                    <a:pt x="f21" y="f22"/>
                    <a:pt x="f6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7"/>
                    <a:pt x="f32" y="f7"/>
                    <a:pt x="f32" y="f7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5" name="Line 209">
              <a:extLst>
                <a:ext uri="{FF2B5EF4-FFF2-40B4-BE49-F238E27FC236}">
                  <a16:creationId xmlns:a16="http://schemas.microsoft.com/office/drawing/2014/main" id="{073593E6-7D7E-6C57-9087-F68041780265}"/>
                </a:ext>
              </a:extLst>
            </p:cNvPr>
            <p:cNvSpPr/>
            <p:nvPr/>
          </p:nvSpPr>
          <p:spPr>
            <a:xfrm flipV="1">
              <a:off x="9069394" y="2648212"/>
              <a:ext cx="22814" cy="3928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6" name="Line 210">
              <a:extLst>
                <a:ext uri="{FF2B5EF4-FFF2-40B4-BE49-F238E27FC236}">
                  <a16:creationId xmlns:a16="http://schemas.microsoft.com/office/drawing/2014/main" id="{9B4E72E7-523B-389A-779E-0E8E68D22843}"/>
                </a:ext>
              </a:extLst>
            </p:cNvPr>
            <p:cNvSpPr/>
            <p:nvPr/>
          </p:nvSpPr>
          <p:spPr>
            <a:xfrm flipV="1">
              <a:off x="9128958" y="2747058"/>
              <a:ext cx="41824" cy="101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7" name="Line 211">
              <a:extLst>
                <a:ext uri="{FF2B5EF4-FFF2-40B4-BE49-F238E27FC236}">
                  <a16:creationId xmlns:a16="http://schemas.microsoft.com/office/drawing/2014/main" id="{5F8DE0BC-C6C7-A9D8-4307-60D68CAA5A93}"/>
                </a:ext>
              </a:extLst>
            </p:cNvPr>
            <p:cNvSpPr/>
            <p:nvPr/>
          </p:nvSpPr>
          <p:spPr>
            <a:xfrm>
              <a:off x="9113742" y="2850971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8" name="Line 212">
              <a:extLst>
                <a:ext uri="{FF2B5EF4-FFF2-40B4-BE49-F238E27FC236}">
                  <a16:creationId xmlns:a16="http://schemas.microsoft.com/office/drawing/2014/main" id="{DBEDFA32-2C40-71AA-438F-DCA99CA48792}"/>
                </a:ext>
              </a:extLst>
            </p:cNvPr>
            <p:cNvSpPr/>
            <p:nvPr/>
          </p:nvSpPr>
          <p:spPr>
            <a:xfrm>
              <a:off x="9042775" y="2906740"/>
              <a:ext cx="8869" cy="43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49" name="Line 213">
              <a:extLst>
                <a:ext uri="{FF2B5EF4-FFF2-40B4-BE49-F238E27FC236}">
                  <a16:creationId xmlns:a16="http://schemas.microsoft.com/office/drawing/2014/main" id="{357872B4-2CB7-BE01-5ACE-C5CD9FD5E5FE}"/>
                </a:ext>
              </a:extLst>
            </p:cNvPr>
            <p:cNvSpPr/>
            <p:nvPr/>
          </p:nvSpPr>
          <p:spPr>
            <a:xfrm flipH="1" flipV="1">
              <a:off x="8962939" y="2626659"/>
              <a:ext cx="11402" cy="418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0" name="Line 214">
              <a:extLst>
                <a:ext uri="{FF2B5EF4-FFF2-40B4-BE49-F238E27FC236}">
                  <a16:creationId xmlns:a16="http://schemas.microsoft.com/office/drawing/2014/main" id="{D5C80F83-DF9D-3AD1-8D9D-967E3A8BBC42}"/>
                </a:ext>
              </a:extLst>
            </p:cNvPr>
            <p:cNvSpPr/>
            <p:nvPr/>
          </p:nvSpPr>
          <p:spPr>
            <a:xfrm flipH="1" flipV="1">
              <a:off x="8862822" y="2706505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1" name="Line 215">
              <a:extLst>
                <a:ext uri="{FF2B5EF4-FFF2-40B4-BE49-F238E27FC236}">
                  <a16:creationId xmlns:a16="http://schemas.microsoft.com/office/drawing/2014/main" id="{9C57E14B-AE79-E4E8-42CE-C2523BF36685}"/>
                </a:ext>
              </a:extLst>
            </p:cNvPr>
            <p:cNvSpPr/>
            <p:nvPr/>
          </p:nvSpPr>
          <p:spPr>
            <a:xfrm flipH="1">
              <a:off x="8846344" y="2816754"/>
              <a:ext cx="41824" cy="13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2" name="Line 216">
              <a:extLst>
                <a:ext uri="{FF2B5EF4-FFF2-40B4-BE49-F238E27FC236}">
                  <a16:creationId xmlns:a16="http://schemas.microsoft.com/office/drawing/2014/main" id="{75639D95-718E-534C-0142-F7C4CA8991E4}"/>
                </a:ext>
              </a:extLst>
            </p:cNvPr>
            <p:cNvSpPr/>
            <p:nvPr/>
          </p:nvSpPr>
          <p:spPr>
            <a:xfrm flipH="1">
              <a:off x="8771574" y="2520214"/>
              <a:ext cx="154606" cy="2686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3" name="Line 217">
              <a:extLst>
                <a:ext uri="{FF2B5EF4-FFF2-40B4-BE49-F238E27FC236}">
                  <a16:creationId xmlns:a16="http://schemas.microsoft.com/office/drawing/2014/main" id="{C12C91EF-DC71-E063-7E51-19D6A7ED350C}"/>
                </a:ext>
              </a:extLst>
            </p:cNvPr>
            <p:cNvSpPr/>
            <p:nvPr/>
          </p:nvSpPr>
          <p:spPr>
            <a:xfrm flipH="1">
              <a:off x="9069394" y="2951088"/>
              <a:ext cx="82378" cy="1406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4" name="Line 218">
              <a:extLst>
                <a:ext uri="{FF2B5EF4-FFF2-40B4-BE49-F238E27FC236}">
                  <a16:creationId xmlns:a16="http://schemas.microsoft.com/office/drawing/2014/main" id="{D9197252-A5AC-8B7B-C373-EB0047B7D879}"/>
                </a:ext>
              </a:extLst>
            </p:cNvPr>
            <p:cNvSpPr/>
            <p:nvPr/>
          </p:nvSpPr>
          <p:spPr>
            <a:xfrm flipH="1">
              <a:off x="9116284" y="2527813"/>
              <a:ext cx="43086" cy="734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55" name="Group 202">
            <a:extLst>
              <a:ext uri="{FF2B5EF4-FFF2-40B4-BE49-F238E27FC236}">
                <a16:creationId xmlns:a16="http://schemas.microsoft.com/office/drawing/2014/main" id="{310979A8-A0DE-23EB-10D5-4BA2D204520B}"/>
              </a:ext>
            </a:extLst>
          </p:cNvPr>
          <p:cNvGrpSpPr/>
          <p:nvPr/>
        </p:nvGrpSpPr>
        <p:grpSpPr>
          <a:xfrm>
            <a:off x="5419558" y="4586179"/>
            <a:ext cx="399208" cy="571545"/>
            <a:chOff x="8771574" y="2520214"/>
            <a:chExt cx="399208" cy="571545"/>
          </a:xfrm>
        </p:grpSpPr>
        <p:sp>
          <p:nvSpPr>
            <p:cNvPr id="56" name="Freeform 203">
              <a:extLst>
                <a:ext uri="{FF2B5EF4-FFF2-40B4-BE49-F238E27FC236}">
                  <a16:creationId xmlns:a16="http://schemas.microsoft.com/office/drawing/2014/main" id="{8FC778AE-E3F7-0479-52A6-BED925397EAC}"/>
                </a:ext>
              </a:extLst>
            </p:cNvPr>
            <p:cNvSpPr/>
            <p:nvPr/>
          </p:nvSpPr>
          <p:spPr>
            <a:xfrm>
              <a:off x="8894505" y="2821829"/>
              <a:ext cx="135596" cy="1089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0"/>
                <a:gd name="f7" fmla="val 129"/>
                <a:gd name="f8" fmla="val 76"/>
                <a:gd name="f9" fmla="val 139"/>
                <a:gd name="f10" fmla="val 112"/>
                <a:gd name="f11" fmla="val 132"/>
                <a:gd name="f12" fmla="val 125"/>
                <a:gd name="f13" fmla="val 115"/>
                <a:gd name="f14" fmla="val 103"/>
                <a:gd name="f15" fmla="val 122"/>
                <a:gd name="f16" fmla="val 17"/>
                <a:gd name="f17" fmla="val 72"/>
                <a:gd name="f18" fmla="val 4"/>
                <a:gd name="f19" fmla="val 65"/>
                <a:gd name="f20" fmla="val 49"/>
                <a:gd name="f21" fmla="val 7"/>
                <a:gd name="f22" fmla="val 36"/>
                <a:gd name="f23" fmla="val 28"/>
                <a:gd name="f24" fmla="+- 0 0 -90"/>
                <a:gd name="f25" fmla="*/ f3 1 160"/>
                <a:gd name="f26" fmla="*/ f4 1 129"/>
                <a:gd name="f27" fmla="+- f7 0 f5"/>
                <a:gd name="f28" fmla="+- f6 0 f5"/>
                <a:gd name="f29" fmla="*/ f24 f0 1"/>
                <a:gd name="f30" fmla="*/ f28 1 160"/>
                <a:gd name="f31" fmla="*/ f27 1 129"/>
                <a:gd name="f32" fmla="*/ 160 f28 1"/>
                <a:gd name="f33" fmla="*/ 76 f27 1"/>
                <a:gd name="f34" fmla="*/ 139 f28 1"/>
                <a:gd name="f35" fmla="*/ 112 f27 1"/>
                <a:gd name="f36" fmla="*/ 103 f28 1"/>
                <a:gd name="f37" fmla="*/ 122 f27 1"/>
                <a:gd name="f38" fmla="*/ 17 f28 1"/>
                <a:gd name="f39" fmla="*/ 72 f27 1"/>
                <a:gd name="f40" fmla="*/ 7 f28 1"/>
                <a:gd name="f41" fmla="*/ 36 f27 1"/>
                <a:gd name="f42" fmla="*/ 28 f28 1"/>
                <a:gd name="f43" fmla="*/ 0 f27 1"/>
                <a:gd name="f44" fmla="*/ f29 1 f2"/>
                <a:gd name="f45" fmla="*/ f32 1 160"/>
                <a:gd name="f46" fmla="*/ f33 1 129"/>
                <a:gd name="f47" fmla="*/ f34 1 160"/>
                <a:gd name="f48" fmla="*/ f35 1 129"/>
                <a:gd name="f49" fmla="*/ f36 1 160"/>
                <a:gd name="f50" fmla="*/ f37 1 129"/>
                <a:gd name="f51" fmla="*/ f38 1 160"/>
                <a:gd name="f52" fmla="*/ f39 1 129"/>
                <a:gd name="f53" fmla="*/ f40 1 160"/>
                <a:gd name="f54" fmla="*/ f41 1 129"/>
                <a:gd name="f55" fmla="*/ f42 1 160"/>
                <a:gd name="f56" fmla="*/ f43 1 129"/>
                <a:gd name="f57" fmla="*/ 0 1 f30"/>
                <a:gd name="f58" fmla="*/ f6 1 f30"/>
                <a:gd name="f59" fmla="*/ 0 1 f31"/>
                <a:gd name="f60" fmla="*/ f7 1 f31"/>
                <a:gd name="f61" fmla="+- f44 0 f1"/>
                <a:gd name="f62" fmla="*/ f45 1 f30"/>
                <a:gd name="f63" fmla="*/ f46 1 f31"/>
                <a:gd name="f64" fmla="*/ f47 1 f30"/>
                <a:gd name="f65" fmla="*/ f48 1 f31"/>
                <a:gd name="f66" fmla="*/ f49 1 f30"/>
                <a:gd name="f67" fmla="*/ f50 1 f31"/>
                <a:gd name="f68" fmla="*/ f51 1 f30"/>
                <a:gd name="f69" fmla="*/ f52 1 f31"/>
                <a:gd name="f70" fmla="*/ f53 1 f30"/>
                <a:gd name="f71" fmla="*/ f54 1 f31"/>
                <a:gd name="f72" fmla="*/ f55 1 f30"/>
                <a:gd name="f73" fmla="*/ f56 1 f31"/>
                <a:gd name="f74" fmla="*/ f57 f25 1"/>
                <a:gd name="f75" fmla="*/ f58 f25 1"/>
                <a:gd name="f76" fmla="*/ f60 f26 1"/>
                <a:gd name="f77" fmla="*/ f59 f26 1"/>
                <a:gd name="f78" fmla="*/ f62 f25 1"/>
                <a:gd name="f79" fmla="*/ f63 f26 1"/>
                <a:gd name="f80" fmla="*/ f64 f25 1"/>
                <a:gd name="f81" fmla="*/ f65 f26 1"/>
                <a:gd name="f82" fmla="*/ f66 f25 1"/>
                <a:gd name="f83" fmla="*/ f67 f26 1"/>
                <a:gd name="f84" fmla="*/ f68 f25 1"/>
                <a:gd name="f85" fmla="*/ f69 f26 1"/>
                <a:gd name="f86" fmla="*/ f70 f25 1"/>
                <a:gd name="f87" fmla="*/ f71 f26 1"/>
                <a:gd name="f88" fmla="*/ f72 f25 1"/>
                <a:gd name="f89" fmla="*/ f73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1">
                  <a:pos x="f78" y="f79"/>
                </a:cxn>
                <a:cxn ang="f61">
                  <a:pos x="f80" y="f81"/>
                </a:cxn>
                <a:cxn ang="f61">
                  <a:pos x="f82" y="f83"/>
                </a:cxn>
                <a:cxn ang="f61">
                  <a:pos x="f84" y="f85"/>
                </a:cxn>
                <a:cxn ang="f61">
                  <a:pos x="f86" y="f87"/>
                </a:cxn>
                <a:cxn ang="f61">
                  <a:pos x="f88" y="f89"/>
                </a:cxn>
              </a:cxnLst>
              <a:rect l="f74" t="f77" r="f75" b="f76"/>
              <a:pathLst>
                <a:path w="160" h="12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11" y="f12"/>
                    <a:pt x="f13" y="f7"/>
                    <a:pt x="f14" y="f15"/>
                  </a:cubicBezTo>
                  <a:cubicBezTo>
                    <a:pt x="f16" y="f17"/>
                    <a:pt x="f16" y="f17"/>
                    <a:pt x="f16" y="f17"/>
                  </a:cubicBezTo>
                  <a:cubicBezTo>
                    <a:pt x="f18" y="f19"/>
                    <a:pt x="f5" y="f20"/>
                    <a:pt x="f21" y="f22"/>
                  </a:cubicBezTo>
                  <a:cubicBezTo>
                    <a:pt x="f23" y="f5"/>
                    <a:pt x="f23" y="f5"/>
                    <a:pt x="f23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7" name="Freeform 204">
              <a:extLst>
                <a:ext uri="{FF2B5EF4-FFF2-40B4-BE49-F238E27FC236}">
                  <a16:creationId xmlns:a16="http://schemas.microsoft.com/office/drawing/2014/main" id="{8F599823-3E33-E2BA-82B8-BC1445DE7D48}"/>
                </a:ext>
              </a:extLst>
            </p:cNvPr>
            <p:cNvSpPr/>
            <p:nvPr/>
          </p:nvSpPr>
          <p:spPr>
            <a:xfrm>
              <a:off x="8878028" y="2876318"/>
              <a:ext cx="112791" cy="925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109"/>
                <a:gd name="f8" fmla="val 63"/>
                <a:gd name="f9" fmla="val 113"/>
                <a:gd name="f10" fmla="val 97"/>
                <a:gd name="f11" fmla="val 106"/>
                <a:gd name="f12" fmla="val 98"/>
                <a:gd name="f13" fmla="val 89"/>
                <a:gd name="f14" fmla="val 104"/>
                <a:gd name="f15" fmla="val 12"/>
                <a:gd name="f16" fmla="val 59"/>
                <a:gd name="f17" fmla="val 3"/>
                <a:gd name="f18" fmla="val 54"/>
                <a:gd name="f19" fmla="val 43"/>
                <a:gd name="f20" fmla="val 5"/>
                <a:gd name="f21" fmla="val 35"/>
                <a:gd name="f22" fmla="val 25"/>
                <a:gd name="f23" fmla="+- 0 0 -90"/>
                <a:gd name="f24" fmla="*/ f3 1 133"/>
                <a:gd name="f25" fmla="*/ f4 1 109"/>
                <a:gd name="f26" fmla="+- f7 0 f5"/>
                <a:gd name="f27" fmla="+- f6 0 f5"/>
                <a:gd name="f28" fmla="*/ f23 f0 1"/>
                <a:gd name="f29" fmla="*/ f27 1 133"/>
                <a:gd name="f30" fmla="*/ f26 1 109"/>
                <a:gd name="f31" fmla="*/ 133 f27 1"/>
                <a:gd name="f32" fmla="*/ 63 f26 1"/>
                <a:gd name="f33" fmla="*/ 113 f27 1"/>
                <a:gd name="f34" fmla="*/ 97 f26 1"/>
                <a:gd name="f35" fmla="*/ 89 f27 1"/>
                <a:gd name="f36" fmla="*/ 104 f26 1"/>
                <a:gd name="f37" fmla="*/ 12 f27 1"/>
                <a:gd name="f38" fmla="*/ 59 f26 1"/>
                <a:gd name="f39" fmla="*/ 5 f27 1"/>
                <a:gd name="f40" fmla="*/ 35 f26 1"/>
                <a:gd name="f41" fmla="*/ 25 f27 1"/>
                <a:gd name="f42" fmla="*/ 0 f26 1"/>
                <a:gd name="f43" fmla="*/ f28 1 f2"/>
                <a:gd name="f44" fmla="*/ f31 1 133"/>
                <a:gd name="f45" fmla="*/ f32 1 109"/>
                <a:gd name="f46" fmla="*/ f33 1 133"/>
                <a:gd name="f47" fmla="*/ f34 1 109"/>
                <a:gd name="f48" fmla="*/ f35 1 133"/>
                <a:gd name="f49" fmla="*/ f36 1 109"/>
                <a:gd name="f50" fmla="*/ f37 1 133"/>
                <a:gd name="f51" fmla="*/ f38 1 109"/>
                <a:gd name="f52" fmla="*/ f39 1 133"/>
                <a:gd name="f53" fmla="*/ f40 1 109"/>
                <a:gd name="f54" fmla="*/ f41 1 133"/>
                <a:gd name="f55" fmla="*/ f42 1 109"/>
                <a:gd name="f56" fmla="*/ 0 1 f29"/>
                <a:gd name="f57" fmla="*/ f6 1 f29"/>
                <a:gd name="f58" fmla="*/ 0 1 f30"/>
                <a:gd name="f59" fmla="*/ f7 1 f30"/>
                <a:gd name="f60" fmla="+- f43 0 f1"/>
                <a:gd name="f61" fmla="*/ f44 1 f29"/>
                <a:gd name="f62" fmla="*/ f45 1 f30"/>
                <a:gd name="f63" fmla="*/ f46 1 f29"/>
                <a:gd name="f64" fmla="*/ f47 1 f30"/>
                <a:gd name="f65" fmla="*/ f48 1 f29"/>
                <a:gd name="f66" fmla="*/ f49 1 f30"/>
                <a:gd name="f67" fmla="*/ f50 1 f29"/>
                <a:gd name="f68" fmla="*/ f51 1 f30"/>
                <a:gd name="f69" fmla="*/ f52 1 f29"/>
                <a:gd name="f70" fmla="*/ f53 1 f30"/>
                <a:gd name="f71" fmla="*/ f54 1 f29"/>
                <a:gd name="f72" fmla="*/ f55 1 f30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4 1"/>
                <a:gd name="f86" fmla="*/ f70 f25 1"/>
                <a:gd name="f87" fmla="*/ f71 f24 1"/>
                <a:gd name="f88" fmla="*/ f72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85" y="f86"/>
                </a:cxn>
                <a:cxn ang="f60">
                  <a:pos x="f87" y="f88"/>
                </a:cxn>
              </a:cxnLst>
              <a:rect l="f73" t="f76" r="f74" b="f75"/>
              <a:pathLst>
                <a:path w="133" h="10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7" y="f11"/>
                    <a:pt x="f12" y="f7"/>
                    <a:pt x="f13" y="f14"/>
                  </a:cubicBezTo>
                  <a:cubicBezTo>
                    <a:pt x="f15" y="f16"/>
                    <a:pt x="f15" y="f16"/>
                    <a:pt x="f15" y="f16"/>
                  </a:cubicBezTo>
                  <a:cubicBezTo>
                    <a:pt x="f17" y="f18"/>
                    <a:pt x="f5" y="f19"/>
                    <a:pt x="f20" y="f21"/>
                  </a:cubicBezTo>
                  <a:cubicBezTo>
                    <a:pt x="f22" y="f5"/>
                    <a:pt x="f22" y="f5"/>
                    <a:pt x="f22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8" name="Freeform 205">
              <a:extLst>
                <a:ext uri="{FF2B5EF4-FFF2-40B4-BE49-F238E27FC236}">
                  <a16:creationId xmlns:a16="http://schemas.microsoft.com/office/drawing/2014/main" id="{5155557A-CDA1-E4A5-FBE6-3953EA69014B}"/>
                </a:ext>
              </a:extLst>
            </p:cNvPr>
            <p:cNvSpPr/>
            <p:nvPr/>
          </p:nvSpPr>
          <p:spPr>
            <a:xfrm>
              <a:off x="8883103" y="2930816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0"/>
                <a:gd name="f9" fmla="val 17"/>
                <a:gd name="f10" fmla="val 23"/>
                <a:gd name="f11" fmla="+- 0 0 -90"/>
                <a:gd name="f12" fmla="*/ f3 1 50"/>
                <a:gd name="f13" fmla="*/ f4 1 40"/>
                <a:gd name="f14" fmla="+- f7 0 f5"/>
                <a:gd name="f15" fmla="+- f6 0 f5"/>
                <a:gd name="f16" fmla="*/ f11 f0 1"/>
                <a:gd name="f17" fmla="*/ f15 1 50"/>
                <a:gd name="f18" fmla="*/ f14 1 40"/>
                <a:gd name="f19" fmla="*/ 10 f15 1"/>
                <a:gd name="f20" fmla="*/ 0 f14 1"/>
                <a:gd name="f21" fmla="*/ 0 f15 1"/>
                <a:gd name="f22" fmla="*/ 17 f14 1"/>
                <a:gd name="f23" fmla="*/ 40 f15 1"/>
                <a:gd name="f24" fmla="*/ 40 f14 1"/>
                <a:gd name="f25" fmla="*/ 50 f15 1"/>
                <a:gd name="f26" fmla="*/ 23 f14 1"/>
                <a:gd name="f27" fmla="*/ f16 1 f2"/>
                <a:gd name="f28" fmla="*/ f19 1 50"/>
                <a:gd name="f29" fmla="*/ f20 1 40"/>
                <a:gd name="f30" fmla="*/ f21 1 50"/>
                <a:gd name="f31" fmla="*/ f22 1 40"/>
                <a:gd name="f32" fmla="*/ f23 1 50"/>
                <a:gd name="f33" fmla="*/ f24 1 40"/>
                <a:gd name="f34" fmla="*/ f25 1 50"/>
                <a:gd name="f35" fmla="*/ f26 1 40"/>
                <a:gd name="f36" fmla="*/ 0 1 f17"/>
                <a:gd name="f37" fmla="*/ f6 1 f17"/>
                <a:gd name="f38" fmla="*/ 0 1 f18"/>
                <a:gd name="f39" fmla="*/ f7 1 f18"/>
                <a:gd name="f40" fmla="+- f27 0 f1"/>
                <a:gd name="f41" fmla="*/ f28 1 f17"/>
                <a:gd name="f42" fmla="*/ f29 1 f18"/>
                <a:gd name="f43" fmla="*/ f30 1 f17"/>
                <a:gd name="f44" fmla="*/ f31 1 f18"/>
                <a:gd name="f45" fmla="*/ f32 1 f17"/>
                <a:gd name="f46" fmla="*/ f33 1 f18"/>
                <a:gd name="f47" fmla="*/ f34 1 f17"/>
                <a:gd name="f48" fmla="*/ f35 1 f18"/>
                <a:gd name="f49" fmla="*/ f36 f12 1"/>
                <a:gd name="f50" fmla="*/ f37 f12 1"/>
                <a:gd name="f51" fmla="*/ f39 f13 1"/>
                <a:gd name="f52" fmla="*/ f38 f13 1"/>
                <a:gd name="f53" fmla="*/ f41 f12 1"/>
                <a:gd name="f54" fmla="*/ f42 f13 1"/>
                <a:gd name="f55" fmla="*/ f43 f12 1"/>
                <a:gd name="f56" fmla="*/ f44 f13 1"/>
                <a:gd name="f57" fmla="*/ f45 f12 1"/>
                <a:gd name="f58" fmla="*/ f46 f13 1"/>
                <a:gd name="f59" fmla="*/ f47 f12 1"/>
                <a:gd name="f60" fmla="*/ f48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3" y="f54"/>
                </a:cxn>
                <a:cxn ang="f40">
                  <a:pos x="f55" y="f56"/>
                </a:cxn>
                <a:cxn ang="f40">
                  <a:pos x="f57" y="f58"/>
                </a:cxn>
                <a:cxn ang="f40">
                  <a:pos x="f59" y="f60"/>
                </a:cxn>
              </a:cxnLst>
              <a:rect l="f49" t="f52" r="f50" b="f51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7" y="f7"/>
                  </a:lnTo>
                  <a:lnTo>
                    <a:pt x="f6" y="f10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59" name="Freeform 206">
              <a:extLst>
                <a:ext uri="{FF2B5EF4-FFF2-40B4-BE49-F238E27FC236}">
                  <a16:creationId xmlns:a16="http://schemas.microsoft.com/office/drawing/2014/main" id="{7F46A649-7B7E-2216-1FFC-471A5D72298E}"/>
                </a:ext>
              </a:extLst>
            </p:cNvPr>
            <p:cNvSpPr/>
            <p:nvPr/>
          </p:nvSpPr>
          <p:spPr>
            <a:xfrm>
              <a:off x="8971809" y="2776200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1"/>
                <a:gd name="f9" fmla="val 17"/>
                <a:gd name="f10" fmla="val 41"/>
                <a:gd name="f11" fmla="val 24"/>
                <a:gd name="f12" fmla="+- 0 0 -90"/>
                <a:gd name="f13" fmla="*/ f3 1 50"/>
                <a:gd name="f14" fmla="*/ f4 1 40"/>
                <a:gd name="f15" fmla="+- f7 0 f5"/>
                <a:gd name="f16" fmla="+- f6 0 f5"/>
                <a:gd name="f17" fmla="*/ f12 f0 1"/>
                <a:gd name="f18" fmla="*/ f16 1 50"/>
                <a:gd name="f19" fmla="*/ f15 1 40"/>
                <a:gd name="f20" fmla="*/ 11 f16 1"/>
                <a:gd name="f21" fmla="*/ 0 f15 1"/>
                <a:gd name="f22" fmla="*/ 0 f16 1"/>
                <a:gd name="f23" fmla="*/ 17 f15 1"/>
                <a:gd name="f24" fmla="*/ 41 f16 1"/>
                <a:gd name="f25" fmla="*/ 40 f15 1"/>
                <a:gd name="f26" fmla="*/ 50 f16 1"/>
                <a:gd name="f27" fmla="*/ 24 f15 1"/>
                <a:gd name="f28" fmla="*/ f17 1 f2"/>
                <a:gd name="f29" fmla="*/ f20 1 50"/>
                <a:gd name="f30" fmla="*/ f21 1 40"/>
                <a:gd name="f31" fmla="*/ f22 1 50"/>
                <a:gd name="f32" fmla="*/ f23 1 40"/>
                <a:gd name="f33" fmla="*/ f24 1 50"/>
                <a:gd name="f34" fmla="*/ f25 1 40"/>
                <a:gd name="f35" fmla="*/ f26 1 50"/>
                <a:gd name="f36" fmla="*/ f27 1 40"/>
                <a:gd name="f37" fmla="*/ 0 1 f18"/>
                <a:gd name="f38" fmla="*/ f6 1 f18"/>
                <a:gd name="f39" fmla="*/ 0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9"/>
                <a:gd name="f46" fmla="*/ f33 1 f18"/>
                <a:gd name="f47" fmla="*/ f34 1 f19"/>
                <a:gd name="f48" fmla="*/ f35 1 f18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4 1"/>
                <a:gd name="f58" fmla="*/ f46 f13 1"/>
                <a:gd name="f59" fmla="*/ f47 f14 1"/>
                <a:gd name="f60" fmla="*/ f48 f13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7"/>
                </a:cxn>
                <a:cxn ang="f41">
                  <a:pos x="f58" y="f59"/>
                </a:cxn>
                <a:cxn ang="f41">
                  <a:pos x="f60" y="f61"/>
                </a:cxn>
              </a:cxnLst>
              <a:rect l="f50" t="f53" r="f51" b="f52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10" y="f7"/>
                  </a:lnTo>
                  <a:lnTo>
                    <a:pt x="f6" y="f11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0" name="Line 207">
              <a:extLst>
                <a:ext uri="{FF2B5EF4-FFF2-40B4-BE49-F238E27FC236}">
                  <a16:creationId xmlns:a16="http://schemas.microsoft.com/office/drawing/2014/main" id="{D2FE0530-E96F-D973-DCC0-6DA7C2436A3D}"/>
                </a:ext>
              </a:extLst>
            </p:cNvPr>
            <p:cNvSpPr/>
            <p:nvPr/>
          </p:nvSpPr>
          <p:spPr>
            <a:xfrm flipH="1">
              <a:off x="8921115" y="2791416"/>
              <a:ext cx="89976" cy="1520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1" name="Freeform 208">
              <a:extLst>
                <a:ext uri="{FF2B5EF4-FFF2-40B4-BE49-F238E27FC236}">
                  <a16:creationId xmlns:a16="http://schemas.microsoft.com/office/drawing/2014/main" id="{FDF6B109-1125-F38E-6FF3-BBB005AD455A}"/>
                </a:ext>
              </a:extLst>
            </p:cNvPr>
            <p:cNvSpPr/>
            <p:nvPr/>
          </p:nvSpPr>
          <p:spPr>
            <a:xfrm>
              <a:off x="8908450" y="2673550"/>
              <a:ext cx="217974" cy="2167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7"/>
                <a:gd name="f7" fmla="val 256"/>
                <a:gd name="f8" fmla="val 9"/>
                <a:gd name="f9" fmla="val 11"/>
                <a:gd name="f10" fmla="val 175"/>
                <a:gd name="f11" fmla="val 144"/>
                <a:gd name="f12" fmla="val 2"/>
                <a:gd name="f13" fmla="val 107"/>
                <a:gd name="f14" fmla="val 20"/>
                <a:gd name="f15" fmla="val 76"/>
                <a:gd name="f16" fmla="val 52"/>
                <a:gd name="f17" fmla="val 19"/>
                <a:gd name="f18" fmla="val 125"/>
                <a:gd name="f19" fmla="val 181"/>
                <a:gd name="f20" fmla="val 33"/>
                <a:gd name="f21" fmla="val 238"/>
                <a:gd name="f22" fmla="val 65"/>
                <a:gd name="f23" fmla="val 138"/>
                <a:gd name="f24" fmla="val 224"/>
                <a:gd name="f25" fmla="val 194"/>
                <a:gd name="f26" fmla="val 206"/>
                <a:gd name="f27" fmla="val 226"/>
                <a:gd name="f28" fmla="val 176"/>
                <a:gd name="f29" fmla="val 245"/>
                <a:gd name="f30" fmla="val 143"/>
                <a:gd name="f31" fmla="val 251"/>
                <a:gd name="f32" fmla="val 140"/>
                <a:gd name="f33" fmla="+- 0 0 -90"/>
                <a:gd name="f34" fmla="*/ f3 1 257"/>
                <a:gd name="f35" fmla="*/ f4 1 256"/>
                <a:gd name="f36" fmla="+- f7 0 f5"/>
                <a:gd name="f37" fmla="+- f6 0 f5"/>
                <a:gd name="f38" fmla="*/ f33 f0 1"/>
                <a:gd name="f39" fmla="*/ f37 1 257"/>
                <a:gd name="f40" fmla="*/ f36 1 256"/>
                <a:gd name="f41" fmla="*/ 9 f37 1"/>
                <a:gd name="f42" fmla="*/ 180 f36 1"/>
                <a:gd name="f43" fmla="*/ 11 f37 1"/>
                <a:gd name="f44" fmla="*/ 175 f36 1"/>
                <a:gd name="f45" fmla="*/ 20 f37 1"/>
                <a:gd name="f46" fmla="*/ 76 f36 1"/>
                <a:gd name="f47" fmla="*/ 181 f37 1"/>
                <a:gd name="f48" fmla="*/ 33 f36 1"/>
                <a:gd name="f49" fmla="*/ 224 f37 1"/>
                <a:gd name="f50" fmla="*/ 194 f36 1"/>
                <a:gd name="f51" fmla="*/ 143 f37 1"/>
                <a:gd name="f52" fmla="*/ 251 f36 1"/>
                <a:gd name="f53" fmla="*/ 140 f37 1"/>
                <a:gd name="f54" fmla="*/ 256 f36 1"/>
                <a:gd name="f55" fmla="*/ f38 1 f2"/>
                <a:gd name="f56" fmla="*/ f41 1 257"/>
                <a:gd name="f57" fmla="*/ f42 1 256"/>
                <a:gd name="f58" fmla="*/ f43 1 257"/>
                <a:gd name="f59" fmla="*/ f44 1 256"/>
                <a:gd name="f60" fmla="*/ f45 1 257"/>
                <a:gd name="f61" fmla="*/ f46 1 256"/>
                <a:gd name="f62" fmla="*/ f47 1 257"/>
                <a:gd name="f63" fmla="*/ f48 1 256"/>
                <a:gd name="f64" fmla="*/ f49 1 257"/>
                <a:gd name="f65" fmla="*/ f50 1 256"/>
                <a:gd name="f66" fmla="*/ f51 1 257"/>
                <a:gd name="f67" fmla="*/ f52 1 256"/>
                <a:gd name="f68" fmla="*/ f53 1 257"/>
                <a:gd name="f69" fmla="*/ f54 1 256"/>
                <a:gd name="f70" fmla="*/ 0 1 f39"/>
                <a:gd name="f71" fmla="*/ f6 1 f39"/>
                <a:gd name="f72" fmla="*/ 0 1 f40"/>
                <a:gd name="f73" fmla="*/ f7 1 f40"/>
                <a:gd name="f74" fmla="+- f55 0 f1"/>
                <a:gd name="f75" fmla="*/ f56 1 f39"/>
                <a:gd name="f76" fmla="*/ f57 1 f40"/>
                <a:gd name="f77" fmla="*/ f58 1 f39"/>
                <a:gd name="f78" fmla="*/ f59 1 f40"/>
                <a:gd name="f79" fmla="*/ f60 1 f39"/>
                <a:gd name="f80" fmla="*/ f61 1 f40"/>
                <a:gd name="f81" fmla="*/ f62 1 f39"/>
                <a:gd name="f82" fmla="*/ f63 1 f40"/>
                <a:gd name="f83" fmla="*/ f64 1 f39"/>
                <a:gd name="f84" fmla="*/ f65 1 f40"/>
                <a:gd name="f85" fmla="*/ f66 1 f39"/>
                <a:gd name="f86" fmla="*/ f67 1 f40"/>
                <a:gd name="f87" fmla="*/ f68 1 f39"/>
                <a:gd name="f88" fmla="*/ f69 1 f40"/>
                <a:gd name="f89" fmla="*/ f70 f34 1"/>
                <a:gd name="f90" fmla="*/ f71 f34 1"/>
                <a:gd name="f91" fmla="*/ f73 f35 1"/>
                <a:gd name="f92" fmla="*/ f72 f35 1"/>
                <a:gd name="f93" fmla="*/ f75 f34 1"/>
                <a:gd name="f94" fmla="*/ f76 f35 1"/>
                <a:gd name="f95" fmla="*/ f77 f34 1"/>
                <a:gd name="f96" fmla="*/ f78 f35 1"/>
                <a:gd name="f97" fmla="*/ f79 f34 1"/>
                <a:gd name="f98" fmla="*/ f80 f35 1"/>
                <a:gd name="f99" fmla="*/ f81 f34 1"/>
                <a:gd name="f100" fmla="*/ f82 f35 1"/>
                <a:gd name="f101" fmla="*/ f83 f34 1"/>
                <a:gd name="f102" fmla="*/ f84 f35 1"/>
                <a:gd name="f103" fmla="*/ f85 f34 1"/>
                <a:gd name="f104" fmla="*/ f86 f35 1"/>
                <a:gd name="f105" fmla="*/ f87 f34 1"/>
                <a:gd name="f106" fmla="*/ f88 f3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3" y="f94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</a:cxnLst>
              <a:rect l="f89" t="f92" r="f90" b="f91"/>
              <a:pathLst>
                <a:path w="257" h="256">
                  <a:moveTo>
                    <a:pt x="f8" y="f2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5" y="f11"/>
                    <a:pt x="f12" y="f13"/>
                    <a:pt x="f14" y="f15"/>
                  </a:cubicBezTo>
                  <a:cubicBezTo>
                    <a:pt x="f16" y="f17"/>
                    <a:pt x="f18" y="f5"/>
                    <a:pt x="f19" y="f20"/>
                  </a:cubicBezTo>
                  <a:cubicBezTo>
                    <a:pt x="f21" y="f22"/>
                    <a:pt x="f6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7"/>
                    <a:pt x="f32" y="f7"/>
                    <a:pt x="f32" y="f7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2" name="Line 209">
              <a:extLst>
                <a:ext uri="{FF2B5EF4-FFF2-40B4-BE49-F238E27FC236}">
                  <a16:creationId xmlns:a16="http://schemas.microsoft.com/office/drawing/2014/main" id="{A8AF6EC0-6334-4436-2215-868425861C9D}"/>
                </a:ext>
              </a:extLst>
            </p:cNvPr>
            <p:cNvSpPr/>
            <p:nvPr/>
          </p:nvSpPr>
          <p:spPr>
            <a:xfrm flipV="1">
              <a:off x="9069394" y="2648212"/>
              <a:ext cx="22814" cy="3928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3" name="Line 210">
              <a:extLst>
                <a:ext uri="{FF2B5EF4-FFF2-40B4-BE49-F238E27FC236}">
                  <a16:creationId xmlns:a16="http://schemas.microsoft.com/office/drawing/2014/main" id="{49915C0F-D0BE-2C6E-4FE1-8E60865F7228}"/>
                </a:ext>
              </a:extLst>
            </p:cNvPr>
            <p:cNvSpPr/>
            <p:nvPr/>
          </p:nvSpPr>
          <p:spPr>
            <a:xfrm flipV="1">
              <a:off x="9128958" y="2747058"/>
              <a:ext cx="41824" cy="101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4" name="Line 211">
              <a:extLst>
                <a:ext uri="{FF2B5EF4-FFF2-40B4-BE49-F238E27FC236}">
                  <a16:creationId xmlns:a16="http://schemas.microsoft.com/office/drawing/2014/main" id="{761D2BE3-F8B4-1B92-2075-4B94F3BC6976}"/>
                </a:ext>
              </a:extLst>
            </p:cNvPr>
            <p:cNvSpPr/>
            <p:nvPr/>
          </p:nvSpPr>
          <p:spPr>
            <a:xfrm>
              <a:off x="9113742" y="2850971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5" name="Line 212">
              <a:extLst>
                <a:ext uri="{FF2B5EF4-FFF2-40B4-BE49-F238E27FC236}">
                  <a16:creationId xmlns:a16="http://schemas.microsoft.com/office/drawing/2014/main" id="{D25DDA7B-9484-ACE2-CB1C-7C22386EA531}"/>
                </a:ext>
              </a:extLst>
            </p:cNvPr>
            <p:cNvSpPr/>
            <p:nvPr/>
          </p:nvSpPr>
          <p:spPr>
            <a:xfrm>
              <a:off x="9042775" y="2906740"/>
              <a:ext cx="8869" cy="43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6" name="Line 213">
              <a:extLst>
                <a:ext uri="{FF2B5EF4-FFF2-40B4-BE49-F238E27FC236}">
                  <a16:creationId xmlns:a16="http://schemas.microsoft.com/office/drawing/2014/main" id="{29C2D069-E9CC-1FB6-EDB0-4BC1205202A2}"/>
                </a:ext>
              </a:extLst>
            </p:cNvPr>
            <p:cNvSpPr/>
            <p:nvPr/>
          </p:nvSpPr>
          <p:spPr>
            <a:xfrm flipH="1" flipV="1">
              <a:off x="8962939" y="2626659"/>
              <a:ext cx="11402" cy="418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7" name="Line 214">
              <a:extLst>
                <a:ext uri="{FF2B5EF4-FFF2-40B4-BE49-F238E27FC236}">
                  <a16:creationId xmlns:a16="http://schemas.microsoft.com/office/drawing/2014/main" id="{6F1488E3-F2ED-06C7-6D75-3A98B7C1F228}"/>
                </a:ext>
              </a:extLst>
            </p:cNvPr>
            <p:cNvSpPr/>
            <p:nvPr/>
          </p:nvSpPr>
          <p:spPr>
            <a:xfrm flipH="1" flipV="1">
              <a:off x="8862822" y="2706505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8" name="Line 215">
              <a:extLst>
                <a:ext uri="{FF2B5EF4-FFF2-40B4-BE49-F238E27FC236}">
                  <a16:creationId xmlns:a16="http://schemas.microsoft.com/office/drawing/2014/main" id="{08DC312C-7312-5915-E9D9-BF79DE44021F}"/>
                </a:ext>
              </a:extLst>
            </p:cNvPr>
            <p:cNvSpPr/>
            <p:nvPr/>
          </p:nvSpPr>
          <p:spPr>
            <a:xfrm flipH="1">
              <a:off x="8846344" y="2816754"/>
              <a:ext cx="41824" cy="13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69" name="Line 216">
              <a:extLst>
                <a:ext uri="{FF2B5EF4-FFF2-40B4-BE49-F238E27FC236}">
                  <a16:creationId xmlns:a16="http://schemas.microsoft.com/office/drawing/2014/main" id="{9B1A615F-8B86-D741-FA8B-AD8F353C0A81}"/>
                </a:ext>
              </a:extLst>
            </p:cNvPr>
            <p:cNvSpPr/>
            <p:nvPr/>
          </p:nvSpPr>
          <p:spPr>
            <a:xfrm flipH="1">
              <a:off x="8771574" y="2520214"/>
              <a:ext cx="154606" cy="2686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0" name="Line 217">
              <a:extLst>
                <a:ext uri="{FF2B5EF4-FFF2-40B4-BE49-F238E27FC236}">
                  <a16:creationId xmlns:a16="http://schemas.microsoft.com/office/drawing/2014/main" id="{75E7489A-75B6-D99B-C4AD-5B78E50948AB}"/>
                </a:ext>
              </a:extLst>
            </p:cNvPr>
            <p:cNvSpPr/>
            <p:nvPr/>
          </p:nvSpPr>
          <p:spPr>
            <a:xfrm flipH="1">
              <a:off x="9069394" y="2951088"/>
              <a:ext cx="82378" cy="1406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1" name="Line 218">
              <a:extLst>
                <a:ext uri="{FF2B5EF4-FFF2-40B4-BE49-F238E27FC236}">
                  <a16:creationId xmlns:a16="http://schemas.microsoft.com/office/drawing/2014/main" id="{AD6FAB4E-5BE7-209E-F6AE-7814B1158D2D}"/>
                </a:ext>
              </a:extLst>
            </p:cNvPr>
            <p:cNvSpPr/>
            <p:nvPr/>
          </p:nvSpPr>
          <p:spPr>
            <a:xfrm flipH="1">
              <a:off x="9116284" y="2527813"/>
              <a:ext cx="43086" cy="734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72" name="Group 202">
            <a:extLst>
              <a:ext uri="{FF2B5EF4-FFF2-40B4-BE49-F238E27FC236}">
                <a16:creationId xmlns:a16="http://schemas.microsoft.com/office/drawing/2014/main" id="{B4C34337-00F0-0C5F-4A6A-F4C5875F8D21}"/>
              </a:ext>
            </a:extLst>
          </p:cNvPr>
          <p:cNvGrpSpPr/>
          <p:nvPr/>
        </p:nvGrpSpPr>
        <p:grpSpPr>
          <a:xfrm>
            <a:off x="11068979" y="4604795"/>
            <a:ext cx="399208" cy="571545"/>
            <a:chOff x="8771574" y="2520214"/>
            <a:chExt cx="399208" cy="571545"/>
          </a:xfrm>
        </p:grpSpPr>
        <p:sp>
          <p:nvSpPr>
            <p:cNvPr id="73" name="Freeform 203">
              <a:extLst>
                <a:ext uri="{FF2B5EF4-FFF2-40B4-BE49-F238E27FC236}">
                  <a16:creationId xmlns:a16="http://schemas.microsoft.com/office/drawing/2014/main" id="{BFD6AE26-020F-C0D8-9255-39FBE280F702}"/>
                </a:ext>
              </a:extLst>
            </p:cNvPr>
            <p:cNvSpPr/>
            <p:nvPr/>
          </p:nvSpPr>
          <p:spPr>
            <a:xfrm>
              <a:off x="8894505" y="2821829"/>
              <a:ext cx="135596" cy="10898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0"/>
                <a:gd name="f7" fmla="val 129"/>
                <a:gd name="f8" fmla="val 76"/>
                <a:gd name="f9" fmla="val 139"/>
                <a:gd name="f10" fmla="val 112"/>
                <a:gd name="f11" fmla="val 132"/>
                <a:gd name="f12" fmla="val 125"/>
                <a:gd name="f13" fmla="val 115"/>
                <a:gd name="f14" fmla="val 103"/>
                <a:gd name="f15" fmla="val 122"/>
                <a:gd name="f16" fmla="val 17"/>
                <a:gd name="f17" fmla="val 72"/>
                <a:gd name="f18" fmla="val 4"/>
                <a:gd name="f19" fmla="val 65"/>
                <a:gd name="f20" fmla="val 49"/>
                <a:gd name="f21" fmla="val 7"/>
                <a:gd name="f22" fmla="val 36"/>
                <a:gd name="f23" fmla="val 28"/>
                <a:gd name="f24" fmla="+- 0 0 -90"/>
                <a:gd name="f25" fmla="*/ f3 1 160"/>
                <a:gd name="f26" fmla="*/ f4 1 129"/>
                <a:gd name="f27" fmla="+- f7 0 f5"/>
                <a:gd name="f28" fmla="+- f6 0 f5"/>
                <a:gd name="f29" fmla="*/ f24 f0 1"/>
                <a:gd name="f30" fmla="*/ f28 1 160"/>
                <a:gd name="f31" fmla="*/ f27 1 129"/>
                <a:gd name="f32" fmla="*/ 160 f28 1"/>
                <a:gd name="f33" fmla="*/ 76 f27 1"/>
                <a:gd name="f34" fmla="*/ 139 f28 1"/>
                <a:gd name="f35" fmla="*/ 112 f27 1"/>
                <a:gd name="f36" fmla="*/ 103 f28 1"/>
                <a:gd name="f37" fmla="*/ 122 f27 1"/>
                <a:gd name="f38" fmla="*/ 17 f28 1"/>
                <a:gd name="f39" fmla="*/ 72 f27 1"/>
                <a:gd name="f40" fmla="*/ 7 f28 1"/>
                <a:gd name="f41" fmla="*/ 36 f27 1"/>
                <a:gd name="f42" fmla="*/ 28 f28 1"/>
                <a:gd name="f43" fmla="*/ 0 f27 1"/>
                <a:gd name="f44" fmla="*/ f29 1 f2"/>
                <a:gd name="f45" fmla="*/ f32 1 160"/>
                <a:gd name="f46" fmla="*/ f33 1 129"/>
                <a:gd name="f47" fmla="*/ f34 1 160"/>
                <a:gd name="f48" fmla="*/ f35 1 129"/>
                <a:gd name="f49" fmla="*/ f36 1 160"/>
                <a:gd name="f50" fmla="*/ f37 1 129"/>
                <a:gd name="f51" fmla="*/ f38 1 160"/>
                <a:gd name="f52" fmla="*/ f39 1 129"/>
                <a:gd name="f53" fmla="*/ f40 1 160"/>
                <a:gd name="f54" fmla="*/ f41 1 129"/>
                <a:gd name="f55" fmla="*/ f42 1 160"/>
                <a:gd name="f56" fmla="*/ f43 1 129"/>
                <a:gd name="f57" fmla="*/ 0 1 f30"/>
                <a:gd name="f58" fmla="*/ f6 1 f30"/>
                <a:gd name="f59" fmla="*/ 0 1 f31"/>
                <a:gd name="f60" fmla="*/ f7 1 f31"/>
                <a:gd name="f61" fmla="+- f44 0 f1"/>
                <a:gd name="f62" fmla="*/ f45 1 f30"/>
                <a:gd name="f63" fmla="*/ f46 1 f31"/>
                <a:gd name="f64" fmla="*/ f47 1 f30"/>
                <a:gd name="f65" fmla="*/ f48 1 f31"/>
                <a:gd name="f66" fmla="*/ f49 1 f30"/>
                <a:gd name="f67" fmla="*/ f50 1 f31"/>
                <a:gd name="f68" fmla="*/ f51 1 f30"/>
                <a:gd name="f69" fmla="*/ f52 1 f31"/>
                <a:gd name="f70" fmla="*/ f53 1 f30"/>
                <a:gd name="f71" fmla="*/ f54 1 f31"/>
                <a:gd name="f72" fmla="*/ f55 1 f30"/>
                <a:gd name="f73" fmla="*/ f56 1 f31"/>
                <a:gd name="f74" fmla="*/ f57 f25 1"/>
                <a:gd name="f75" fmla="*/ f58 f25 1"/>
                <a:gd name="f76" fmla="*/ f60 f26 1"/>
                <a:gd name="f77" fmla="*/ f59 f26 1"/>
                <a:gd name="f78" fmla="*/ f62 f25 1"/>
                <a:gd name="f79" fmla="*/ f63 f26 1"/>
                <a:gd name="f80" fmla="*/ f64 f25 1"/>
                <a:gd name="f81" fmla="*/ f65 f26 1"/>
                <a:gd name="f82" fmla="*/ f66 f25 1"/>
                <a:gd name="f83" fmla="*/ f67 f26 1"/>
                <a:gd name="f84" fmla="*/ f68 f25 1"/>
                <a:gd name="f85" fmla="*/ f69 f26 1"/>
                <a:gd name="f86" fmla="*/ f70 f25 1"/>
                <a:gd name="f87" fmla="*/ f71 f26 1"/>
                <a:gd name="f88" fmla="*/ f72 f25 1"/>
                <a:gd name="f89" fmla="*/ f73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1">
                  <a:pos x="f78" y="f79"/>
                </a:cxn>
                <a:cxn ang="f61">
                  <a:pos x="f80" y="f81"/>
                </a:cxn>
                <a:cxn ang="f61">
                  <a:pos x="f82" y="f83"/>
                </a:cxn>
                <a:cxn ang="f61">
                  <a:pos x="f84" y="f85"/>
                </a:cxn>
                <a:cxn ang="f61">
                  <a:pos x="f86" y="f87"/>
                </a:cxn>
                <a:cxn ang="f61">
                  <a:pos x="f88" y="f89"/>
                </a:cxn>
              </a:cxnLst>
              <a:rect l="f74" t="f77" r="f75" b="f76"/>
              <a:pathLst>
                <a:path w="160" h="12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11" y="f12"/>
                    <a:pt x="f13" y="f7"/>
                    <a:pt x="f14" y="f15"/>
                  </a:cubicBezTo>
                  <a:cubicBezTo>
                    <a:pt x="f16" y="f17"/>
                    <a:pt x="f16" y="f17"/>
                    <a:pt x="f16" y="f17"/>
                  </a:cubicBezTo>
                  <a:cubicBezTo>
                    <a:pt x="f18" y="f19"/>
                    <a:pt x="f5" y="f20"/>
                    <a:pt x="f21" y="f22"/>
                  </a:cubicBezTo>
                  <a:cubicBezTo>
                    <a:pt x="f23" y="f5"/>
                    <a:pt x="f23" y="f5"/>
                    <a:pt x="f23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4" name="Freeform 204">
              <a:extLst>
                <a:ext uri="{FF2B5EF4-FFF2-40B4-BE49-F238E27FC236}">
                  <a16:creationId xmlns:a16="http://schemas.microsoft.com/office/drawing/2014/main" id="{8D2E300F-2840-F92A-B5C8-79CC31EB7F58}"/>
                </a:ext>
              </a:extLst>
            </p:cNvPr>
            <p:cNvSpPr/>
            <p:nvPr/>
          </p:nvSpPr>
          <p:spPr>
            <a:xfrm>
              <a:off x="8878028" y="2876318"/>
              <a:ext cx="112791" cy="925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109"/>
                <a:gd name="f8" fmla="val 63"/>
                <a:gd name="f9" fmla="val 113"/>
                <a:gd name="f10" fmla="val 97"/>
                <a:gd name="f11" fmla="val 106"/>
                <a:gd name="f12" fmla="val 98"/>
                <a:gd name="f13" fmla="val 89"/>
                <a:gd name="f14" fmla="val 104"/>
                <a:gd name="f15" fmla="val 12"/>
                <a:gd name="f16" fmla="val 59"/>
                <a:gd name="f17" fmla="val 3"/>
                <a:gd name="f18" fmla="val 54"/>
                <a:gd name="f19" fmla="val 43"/>
                <a:gd name="f20" fmla="val 5"/>
                <a:gd name="f21" fmla="val 35"/>
                <a:gd name="f22" fmla="val 25"/>
                <a:gd name="f23" fmla="+- 0 0 -90"/>
                <a:gd name="f24" fmla="*/ f3 1 133"/>
                <a:gd name="f25" fmla="*/ f4 1 109"/>
                <a:gd name="f26" fmla="+- f7 0 f5"/>
                <a:gd name="f27" fmla="+- f6 0 f5"/>
                <a:gd name="f28" fmla="*/ f23 f0 1"/>
                <a:gd name="f29" fmla="*/ f27 1 133"/>
                <a:gd name="f30" fmla="*/ f26 1 109"/>
                <a:gd name="f31" fmla="*/ 133 f27 1"/>
                <a:gd name="f32" fmla="*/ 63 f26 1"/>
                <a:gd name="f33" fmla="*/ 113 f27 1"/>
                <a:gd name="f34" fmla="*/ 97 f26 1"/>
                <a:gd name="f35" fmla="*/ 89 f27 1"/>
                <a:gd name="f36" fmla="*/ 104 f26 1"/>
                <a:gd name="f37" fmla="*/ 12 f27 1"/>
                <a:gd name="f38" fmla="*/ 59 f26 1"/>
                <a:gd name="f39" fmla="*/ 5 f27 1"/>
                <a:gd name="f40" fmla="*/ 35 f26 1"/>
                <a:gd name="f41" fmla="*/ 25 f27 1"/>
                <a:gd name="f42" fmla="*/ 0 f26 1"/>
                <a:gd name="f43" fmla="*/ f28 1 f2"/>
                <a:gd name="f44" fmla="*/ f31 1 133"/>
                <a:gd name="f45" fmla="*/ f32 1 109"/>
                <a:gd name="f46" fmla="*/ f33 1 133"/>
                <a:gd name="f47" fmla="*/ f34 1 109"/>
                <a:gd name="f48" fmla="*/ f35 1 133"/>
                <a:gd name="f49" fmla="*/ f36 1 109"/>
                <a:gd name="f50" fmla="*/ f37 1 133"/>
                <a:gd name="f51" fmla="*/ f38 1 109"/>
                <a:gd name="f52" fmla="*/ f39 1 133"/>
                <a:gd name="f53" fmla="*/ f40 1 109"/>
                <a:gd name="f54" fmla="*/ f41 1 133"/>
                <a:gd name="f55" fmla="*/ f42 1 109"/>
                <a:gd name="f56" fmla="*/ 0 1 f29"/>
                <a:gd name="f57" fmla="*/ f6 1 f29"/>
                <a:gd name="f58" fmla="*/ 0 1 f30"/>
                <a:gd name="f59" fmla="*/ f7 1 f30"/>
                <a:gd name="f60" fmla="+- f43 0 f1"/>
                <a:gd name="f61" fmla="*/ f44 1 f29"/>
                <a:gd name="f62" fmla="*/ f45 1 f30"/>
                <a:gd name="f63" fmla="*/ f46 1 f29"/>
                <a:gd name="f64" fmla="*/ f47 1 f30"/>
                <a:gd name="f65" fmla="*/ f48 1 f29"/>
                <a:gd name="f66" fmla="*/ f49 1 f30"/>
                <a:gd name="f67" fmla="*/ f50 1 f29"/>
                <a:gd name="f68" fmla="*/ f51 1 f30"/>
                <a:gd name="f69" fmla="*/ f52 1 f29"/>
                <a:gd name="f70" fmla="*/ f53 1 f30"/>
                <a:gd name="f71" fmla="*/ f54 1 f29"/>
                <a:gd name="f72" fmla="*/ f55 1 f30"/>
                <a:gd name="f73" fmla="*/ f56 f24 1"/>
                <a:gd name="f74" fmla="*/ f57 f24 1"/>
                <a:gd name="f75" fmla="*/ f59 f25 1"/>
                <a:gd name="f76" fmla="*/ f58 f25 1"/>
                <a:gd name="f77" fmla="*/ f61 f24 1"/>
                <a:gd name="f78" fmla="*/ f62 f25 1"/>
                <a:gd name="f79" fmla="*/ f63 f24 1"/>
                <a:gd name="f80" fmla="*/ f64 f25 1"/>
                <a:gd name="f81" fmla="*/ f65 f24 1"/>
                <a:gd name="f82" fmla="*/ f66 f25 1"/>
                <a:gd name="f83" fmla="*/ f67 f24 1"/>
                <a:gd name="f84" fmla="*/ f68 f25 1"/>
                <a:gd name="f85" fmla="*/ f69 f24 1"/>
                <a:gd name="f86" fmla="*/ f70 f25 1"/>
                <a:gd name="f87" fmla="*/ f71 f24 1"/>
                <a:gd name="f88" fmla="*/ f72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85" y="f86"/>
                </a:cxn>
                <a:cxn ang="f60">
                  <a:pos x="f87" y="f88"/>
                </a:cxn>
              </a:cxnLst>
              <a:rect l="f73" t="f76" r="f74" b="f75"/>
              <a:pathLst>
                <a:path w="133" h="109">
                  <a:moveTo>
                    <a:pt x="f6" y="f8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7" y="f11"/>
                    <a:pt x="f12" y="f7"/>
                    <a:pt x="f13" y="f14"/>
                  </a:cubicBezTo>
                  <a:cubicBezTo>
                    <a:pt x="f15" y="f16"/>
                    <a:pt x="f15" y="f16"/>
                    <a:pt x="f15" y="f16"/>
                  </a:cubicBezTo>
                  <a:cubicBezTo>
                    <a:pt x="f17" y="f18"/>
                    <a:pt x="f5" y="f19"/>
                    <a:pt x="f20" y="f21"/>
                  </a:cubicBezTo>
                  <a:cubicBezTo>
                    <a:pt x="f22" y="f5"/>
                    <a:pt x="f22" y="f5"/>
                    <a:pt x="f22" y="f5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5" name="Freeform 205">
              <a:extLst>
                <a:ext uri="{FF2B5EF4-FFF2-40B4-BE49-F238E27FC236}">
                  <a16:creationId xmlns:a16="http://schemas.microsoft.com/office/drawing/2014/main" id="{D5F8AAD0-EC42-780C-23BA-7D1C14EA73AC}"/>
                </a:ext>
              </a:extLst>
            </p:cNvPr>
            <p:cNvSpPr/>
            <p:nvPr/>
          </p:nvSpPr>
          <p:spPr>
            <a:xfrm>
              <a:off x="8883103" y="2930816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0"/>
                <a:gd name="f9" fmla="val 17"/>
                <a:gd name="f10" fmla="val 23"/>
                <a:gd name="f11" fmla="+- 0 0 -90"/>
                <a:gd name="f12" fmla="*/ f3 1 50"/>
                <a:gd name="f13" fmla="*/ f4 1 40"/>
                <a:gd name="f14" fmla="+- f7 0 f5"/>
                <a:gd name="f15" fmla="+- f6 0 f5"/>
                <a:gd name="f16" fmla="*/ f11 f0 1"/>
                <a:gd name="f17" fmla="*/ f15 1 50"/>
                <a:gd name="f18" fmla="*/ f14 1 40"/>
                <a:gd name="f19" fmla="*/ 10 f15 1"/>
                <a:gd name="f20" fmla="*/ 0 f14 1"/>
                <a:gd name="f21" fmla="*/ 0 f15 1"/>
                <a:gd name="f22" fmla="*/ 17 f14 1"/>
                <a:gd name="f23" fmla="*/ 40 f15 1"/>
                <a:gd name="f24" fmla="*/ 40 f14 1"/>
                <a:gd name="f25" fmla="*/ 50 f15 1"/>
                <a:gd name="f26" fmla="*/ 23 f14 1"/>
                <a:gd name="f27" fmla="*/ f16 1 f2"/>
                <a:gd name="f28" fmla="*/ f19 1 50"/>
                <a:gd name="f29" fmla="*/ f20 1 40"/>
                <a:gd name="f30" fmla="*/ f21 1 50"/>
                <a:gd name="f31" fmla="*/ f22 1 40"/>
                <a:gd name="f32" fmla="*/ f23 1 50"/>
                <a:gd name="f33" fmla="*/ f24 1 40"/>
                <a:gd name="f34" fmla="*/ f25 1 50"/>
                <a:gd name="f35" fmla="*/ f26 1 40"/>
                <a:gd name="f36" fmla="*/ 0 1 f17"/>
                <a:gd name="f37" fmla="*/ f6 1 f17"/>
                <a:gd name="f38" fmla="*/ 0 1 f18"/>
                <a:gd name="f39" fmla="*/ f7 1 f18"/>
                <a:gd name="f40" fmla="+- f27 0 f1"/>
                <a:gd name="f41" fmla="*/ f28 1 f17"/>
                <a:gd name="f42" fmla="*/ f29 1 f18"/>
                <a:gd name="f43" fmla="*/ f30 1 f17"/>
                <a:gd name="f44" fmla="*/ f31 1 f18"/>
                <a:gd name="f45" fmla="*/ f32 1 f17"/>
                <a:gd name="f46" fmla="*/ f33 1 f18"/>
                <a:gd name="f47" fmla="*/ f34 1 f17"/>
                <a:gd name="f48" fmla="*/ f35 1 f18"/>
                <a:gd name="f49" fmla="*/ f36 f12 1"/>
                <a:gd name="f50" fmla="*/ f37 f12 1"/>
                <a:gd name="f51" fmla="*/ f39 f13 1"/>
                <a:gd name="f52" fmla="*/ f38 f13 1"/>
                <a:gd name="f53" fmla="*/ f41 f12 1"/>
                <a:gd name="f54" fmla="*/ f42 f13 1"/>
                <a:gd name="f55" fmla="*/ f43 f12 1"/>
                <a:gd name="f56" fmla="*/ f44 f13 1"/>
                <a:gd name="f57" fmla="*/ f45 f12 1"/>
                <a:gd name="f58" fmla="*/ f46 f13 1"/>
                <a:gd name="f59" fmla="*/ f47 f12 1"/>
                <a:gd name="f60" fmla="*/ f48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3" y="f54"/>
                </a:cxn>
                <a:cxn ang="f40">
                  <a:pos x="f55" y="f56"/>
                </a:cxn>
                <a:cxn ang="f40">
                  <a:pos x="f57" y="f58"/>
                </a:cxn>
                <a:cxn ang="f40">
                  <a:pos x="f59" y="f60"/>
                </a:cxn>
              </a:cxnLst>
              <a:rect l="f49" t="f52" r="f50" b="f51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7" y="f7"/>
                  </a:lnTo>
                  <a:lnTo>
                    <a:pt x="f6" y="f10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6" name="Freeform 206">
              <a:extLst>
                <a:ext uri="{FF2B5EF4-FFF2-40B4-BE49-F238E27FC236}">
                  <a16:creationId xmlns:a16="http://schemas.microsoft.com/office/drawing/2014/main" id="{0DE25D7F-112B-1790-1B6E-02005D74A999}"/>
                </a:ext>
              </a:extLst>
            </p:cNvPr>
            <p:cNvSpPr/>
            <p:nvPr/>
          </p:nvSpPr>
          <p:spPr>
            <a:xfrm>
              <a:off x="8971809" y="2776200"/>
              <a:ext cx="63367" cy="50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0"/>
                <a:gd name="f7" fmla="val 40"/>
                <a:gd name="f8" fmla="val 11"/>
                <a:gd name="f9" fmla="val 17"/>
                <a:gd name="f10" fmla="val 41"/>
                <a:gd name="f11" fmla="val 24"/>
                <a:gd name="f12" fmla="+- 0 0 -90"/>
                <a:gd name="f13" fmla="*/ f3 1 50"/>
                <a:gd name="f14" fmla="*/ f4 1 40"/>
                <a:gd name="f15" fmla="+- f7 0 f5"/>
                <a:gd name="f16" fmla="+- f6 0 f5"/>
                <a:gd name="f17" fmla="*/ f12 f0 1"/>
                <a:gd name="f18" fmla="*/ f16 1 50"/>
                <a:gd name="f19" fmla="*/ f15 1 40"/>
                <a:gd name="f20" fmla="*/ 11 f16 1"/>
                <a:gd name="f21" fmla="*/ 0 f15 1"/>
                <a:gd name="f22" fmla="*/ 0 f16 1"/>
                <a:gd name="f23" fmla="*/ 17 f15 1"/>
                <a:gd name="f24" fmla="*/ 41 f16 1"/>
                <a:gd name="f25" fmla="*/ 40 f15 1"/>
                <a:gd name="f26" fmla="*/ 50 f16 1"/>
                <a:gd name="f27" fmla="*/ 24 f15 1"/>
                <a:gd name="f28" fmla="*/ f17 1 f2"/>
                <a:gd name="f29" fmla="*/ f20 1 50"/>
                <a:gd name="f30" fmla="*/ f21 1 40"/>
                <a:gd name="f31" fmla="*/ f22 1 50"/>
                <a:gd name="f32" fmla="*/ f23 1 40"/>
                <a:gd name="f33" fmla="*/ f24 1 50"/>
                <a:gd name="f34" fmla="*/ f25 1 40"/>
                <a:gd name="f35" fmla="*/ f26 1 50"/>
                <a:gd name="f36" fmla="*/ f27 1 40"/>
                <a:gd name="f37" fmla="*/ 0 1 f18"/>
                <a:gd name="f38" fmla="*/ f6 1 f18"/>
                <a:gd name="f39" fmla="*/ 0 1 f19"/>
                <a:gd name="f40" fmla="*/ f7 1 f19"/>
                <a:gd name="f41" fmla="+- f28 0 f1"/>
                <a:gd name="f42" fmla="*/ f29 1 f18"/>
                <a:gd name="f43" fmla="*/ f30 1 f19"/>
                <a:gd name="f44" fmla="*/ f31 1 f18"/>
                <a:gd name="f45" fmla="*/ f32 1 f19"/>
                <a:gd name="f46" fmla="*/ f33 1 f18"/>
                <a:gd name="f47" fmla="*/ f34 1 f19"/>
                <a:gd name="f48" fmla="*/ f35 1 f18"/>
                <a:gd name="f49" fmla="*/ f36 1 f19"/>
                <a:gd name="f50" fmla="*/ f37 f13 1"/>
                <a:gd name="f51" fmla="*/ f38 f13 1"/>
                <a:gd name="f52" fmla="*/ f40 f14 1"/>
                <a:gd name="f53" fmla="*/ f39 f14 1"/>
                <a:gd name="f54" fmla="*/ f42 f13 1"/>
                <a:gd name="f55" fmla="*/ f43 f14 1"/>
                <a:gd name="f56" fmla="*/ f44 f13 1"/>
                <a:gd name="f57" fmla="*/ f45 f14 1"/>
                <a:gd name="f58" fmla="*/ f46 f13 1"/>
                <a:gd name="f59" fmla="*/ f47 f14 1"/>
                <a:gd name="f60" fmla="*/ f48 f13 1"/>
                <a:gd name="f61" fmla="*/ f49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54" y="f55"/>
                </a:cxn>
                <a:cxn ang="f41">
                  <a:pos x="f56" y="f57"/>
                </a:cxn>
                <a:cxn ang="f41">
                  <a:pos x="f58" y="f59"/>
                </a:cxn>
                <a:cxn ang="f41">
                  <a:pos x="f60" y="f61"/>
                </a:cxn>
              </a:cxnLst>
              <a:rect l="f50" t="f53" r="f51" b="f52"/>
              <a:pathLst>
                <a:path w="50" h="40">
                  <a:moveTo>
                    <a:pt x="f8" y="f5"/>
                  </a:moveTo>
                  <a:lnTo>
                    <a:pt x="f5" y="f9"/>
                  </a:lnTo>
                  <a:lnTo>
                    <a:pt x="f10" y="f7"/>
                  </a:lnTo>
                  <a:lnTo>
                    <a:pt x="f6" y="f11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7" name="Line 207">
              <a:extLst>
                <a:ext uri="{FF2B5EF4-FFF2-40B4-BE49-F238E27FC236}">
                  <a16:creationId xmlns:a16="http://schemas.microsoft.com/office/drawing/2014/main" id="{C25450A2-E403-9141-DABF-DF5B521AB6E2}"/>
                </a:ext>
              </a:extLst>
            </p:cNvPr>
            <p:cNvSpPr/>
            <p:nvPr/>
          </p:nvSpPr>
          <p:spPr>
            <a:xfrm flipH="1">
              <a:off x="8921115" y="2791416"/>
              <a:ext cx="89976" cy="1520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8" name="Freeform 208">
              <a:extLst>
                <a:ext uri="{FF2B5EF4-FFF2-40B4-BE49-F238E27FC236}">
                  <a16:creationId xmlns:a16="http://schemas.microsoft.com/office/drawing/2014/main" id="{99A9CE8C-BD47-FC53-AF5D-D8D385E63778}"/>
                </a:ext>
              </a:extLst>
            </p:cNvPr>
            <p:cNvSpPr/>
            <p:nvPr/>
          </p:nvSpPr>
          <p:spPr>
            <a:xfrm>
              <a:off x="8908450" y="2673550"/>
              <a:ext cx="217974" cy="2167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7"/>
                <a:gd name="f7" fmla="val 256"/>
                <a:gd name="f8" fmla="val 9"/>
                <a:gd name="f9" fmla="val 11"/>
                <a:gd name="f10" fmla="val 175"/>
                <a:gd name="f11" fmla="val 144"/>
                <a:gd name="f12" fmla="val 2"/>
                <a:gd name="f13" fmla="val 107"/>
                <a:gd name="f14" fmla="val 20"/>
                <a:gd name="f15" fmla="val 76"/>
                <a:gd name="f16" fmla="val 52"/>
                <a:gd name="f17" fmla="val 19"/>
                <a:gd name="f18" fmla="val 125"/>
                <a:gd name="f19" fmla="val 181"/>
                <a:gd name="f20" fmla="val 33"/>
                <a:gd name="f21" fmla="val 238"/>
                <a:gd name="f22" fmla="val 65"/>
                <a:gd name="f23" fmla="val 138"/>
                <a:gd name="f24" fmla="val 224"/>
                <a:gd name="f25" fmla="val 194"/>
                <a:gd name="f26" fmla="val 206"/>
                <a:gd name="f27" fmla="val 226"/>
                <a:gd name="f28" fmla="val 176"/>
                <a:gd name="f29" fmla="val 245"/>
                <a:gd name="f30" fmla="val 143"/>
                <a:gd name="f31" fmla="val 251"/>
                <a:gd name="f32" fmla="val 140"/>
                <a:gd name="f33" fmla="+- 0 0 -90"/>
                <a:gd name="f34" fmla="*/ f3 1 257"/>
                <a:gd name="f35" fmla="*/ f4 1 256"/>
                <a:gd name="f36" fmla="+- f7 0 f5"/>
                <a:gd name="f37" fmla="+- f6 0 f5"/>
                <a:gd name="f38" fmla="*/ f33 f0 1"/>
                <a:gd name="f39" fmla="*/ f37 1 257"/>
                <a:gd name="f40" fmla="*/ f36 1 256"/>
                <a:gd name="f41" fmla="*/ 9 f37 1"/>
                <a:gd name="f42" fmla="*/ 180 f36 1"/>
                <a:gd name="f43" fmla="*/ 11 f37 1"/>
                <a:gd name="f44" fmla="*/ 175 f36 1"/>
                <a:gd name="f45" fmla="*/ 20 f37 1"/>
                <a:gd name="f46" fmla="*/ 76 f36 1"/>
                <a:gd name="f47" fmla="*/ 181 f37 1"/>
                <a:gd name="f48" fmla="*/ 33 f36 1"/>
                <a:gd name="f49" fmla="*/ 224 f37 1"/>
                <a:gd name="f50" fmla="*/ 194 f36 1"/>
                <a:gd name="f51" fmla="*/ 143 f37 1"/>
                <a:gd name="f52" fmla="*/ 251 f36 1"/>
                <a:gd name="f53" fmla="*/ 140 f37 1"/>
                <a:gd name="f54" fmla="*/ 256 f36 1"/>
                <a:gd name="f55" fmla="*/ f38 1 f2"/>
                <a:gd name="f56" fmla="*/ f41 1 257"/>
                <a:gd name="f57" fmla="*/ f42 1 256"/>
                <a:gd name="f58" fmla="*/ f43 1 257"/>
                <a:gd name="f59" fmla="*/ f44 1 256"/>
                <a:gd name="f60" fmla="*/ f45 1 257"/>
                <a:gd name="f61" fmla="*/ f46 1 256"/>
                <a:gd name="f62" fmla="*/ f47 1 257"/>
                <a:gd name="f63" fmla="*/ f48 1 256"/>
                <a:gd name="f64" fmla="*/ f49 1 257"/>
                <a:gd name="f65" fmla="*/ f50 1 256"/>
                <a:gd name="f66" fmla="*/ f51 1 257"/>
                <a:gd name="f67" fmla="*/ f52 1 256"/>
                <a:gd name="f68" fmla="*/ f53 1 257"/>
                <a:gd name="f69" fmla="*/ f54 1 256"/>
                <a:gd name="f70" fmla="*/ 0 1 f39"/>
                <a:gd name="f71" fmla="*/ f6 1 f39"/>
                <a:gd name="f72" fmla="*/ 0 1 f40"/>
                <a:gd name="f73" fmla="*/ f7 1 f40"/>
                <a:gd name="f74" fmla="+- f55 0 f1"/>
                <a:gd name="f75" fmla="*/ f56 1 f39"/>
                <a:gd name="f76" fmla="*/ f57 1 f40"/>
                <a:gd name="f77" fmla="*/ f58 1 f39"/>
                <a:gd name="f78" fmla="*/ f59 1 f40"/>
                <a:gd name="f79" fmla="*/ f60 1 f39"/>
                <a:gd name="f80" fmla="*/ f61 1 f40"/>
                <a:gd name="f81" fmla="*/ f62 1 f39"/>
                <a:gd name="f82" fmla="*/ f63 1 f40"/>
                <a:gd name="f83" fmla="*/ f64 1 f39"/>
                <a:gd name="f84" fmla="*/ f65 1 f40"/>
                <a:gd name="f85" fmla="*/ f66 1 f39"/>
                <a:gd name="f86" fmla="*/ f67 1 f40"/>
                <a:gd name="f87" fmla="*/ f68 1 f39"/>
                <a:gd name="f88" fmla="*/ f69 1 f40"/>
                <a:gd name="f89" fmla="*/ f70 f34 1"/>
                <a:gd name="f90" fmla="*/ f71 f34 1"/>
                <a:gd name="f91" fmla="*/ f73 f35 1"/>
                <a:gd name="f92" fmla="*/ f72 f35 1"/>
                <a:gd name="f93" fmla="*/ f75 f34 1"/>
                <a:gd name="f94" fmla="*/ f76 f35 1"/>
                <a:gd name="f95" fmla="*/ f77 f34 1"/>
                <a:gd name="f96" fmla="*/ f78 f35 1"/>
                <a:gd name="f97" fmla="*/ f79 f34 1"/>
                <a:gd name="f98" fmla="*/ f80 f35 1"/>
                <a:gd name="f99" fmla="*/ f81 f34 1"/>
                <a:gd name="f100" fmla="*/ f82 f35 1"/>
                <a:gd name="f101" fmla="*/ f83 f34 1"/>
                <a:gd name="f102" fmla="*/ f84 f35 1"/>
                <a:gd name="f103" fmla="*/ f85 f34 1"/>
                <a:gd name="f104" fmla="*/ f86 f35 1"/>
                <a:gd name="f105" fmla="*/ f87 f34 1"/>
                <a:gd name="f106" fmla="*/ f88 f3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4">
                  <a:pos x="f93" y="f94"/>
                </a:cxn>
                <a:cxn ang="f74">
                  <a:pos x="f95" y="f96"/>
                </a:cxn>
                <a:cxn ang="f74">
                  <a:pos x="f97" y="f98"/>
                </a:cxn>
                <a:cxn ang="f74">
                  <a:pos x="f99" y="f100"/>
                </a:cxn>
                <a:cxn ang="f74">
                  <a:pos x="f101" y="f102"/>
                </a:cxn>
                <a:cxn ang="f74">
                  <a:pos x="f103" y="f104"/>
                </a:cxn>
                <a:cxn ang="f74">
                  <a:pos x="f105" y="f106"/>
                </a:cxn>
              </a:cxnLst>
              <a:rect l="f89" t="f92" r="f90" b="f91"/>
              <a:pathLst>
                <a:path w="257" h="256">
                  <a:moveTo>
                    <a:pt x="f8" y="f2"/>
                  </a:moveTo>
                  <a:cubicBezTo>
                    <a:pt x="f9" y="f10"/>
                    <a:pt x="f9" y="f10"/>
                    <a:pt x="f9" y="f10"/>
                  </a:cubicBezTo>
                  <a:cubicBezTo>
                    <a:pt x="f5" y="f11"/>
                    <a:pt x="f12" y="f13"/>
                    <a:pt x="f14" y="f15"/>
                  </a:cubicBezTo>
                  <a:cubicBezTo>
                    <a:pt x="f16" y="f17"/>
                    <a:pt x="f18" y="f5"/>
                    <a:pt x="f19" y="f20"/>
                  </a:cubicBezTo>
                  <a:cubicBezTo>
                    <a:pt x="f21" y="f22"/>
                    <a:pt x="f6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7"/>
                    <a:pt x="f32" y="f7"/>
                    <a:pt x="f32" y="f7"/>
                  </a:cubicBez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79" name="Line 209">
              <a:extLst>
                <a:ext uri="{FF2B5EF4-FFF2-40B4-BE49-F238E27FC236}">
                  <a16:creationId xmlns:a16="http://schemas.microsoft.com/office/drawing/2014/main" id="{FCB195FA-34B7-4F39-C18D-611C2E2A4439}"/>
                </a:ext>
              </a:extLst>
            </p:cNvPr>
            <p:cNvSpPr/>
            <p:nvPr/>
          </p:nvSpPr>
          <p:spPr>
            <a:xfrm flipV="1">
              <a:off x="9069394" y="2648212"/>
              <a:ext cx="22814" cy="3928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0" name="Line 210">
              <a:extLst>
                <a:ext uri="{FF2B5EF4-FFF2-40B4-BE49-F238E27FC236}">
                  <a16:creationId xmlns:a16="http://schemas.microsoft.com/office/drawing/2014/main" id="{4977A298-D13C-F6B3-2F64-EDF580A78BA0}"/>
                </a:ext>
              </a:extLst>
            </p:cNvPr>
            <p:cNvSpPr/>
            <p:nvPr/>
          </p:nvSpPr>
          <p:spPr>
            <a:xfrm flipV="1">
              <a:off x="9128958" y="2747058"/>
              <a:ext cx="41824" cy="101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1" name="Line 211">
              <a:extLst>
                <a:ext uri="{FF2B5EF4-FFF2-40B4-BE49-F238E27FC236}">
                  <a16:creationId xmlns:a16="http://schemas.microsoft.com/office/drawing/2014/main" id="{4894B125-372B-080B-6B24-818F8BCE03B5}"/>
                </a:ext>
              </a:extLst>
            </p:cNvPr>
            <p:cNvSpPr/>
            <p:nvPr/>
          </p:nvSpPr>
          <p:spPr>
            <a:xfrm>
              <a:off x="9113742" y="2850971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2" name="Line 212">
              <a:extLst>
                <a:ext uri="{FF2B5EF4-FFF2-40B4-BE49-F238E27FC236}">
                  <a16:creationId xmlns:a16="http://schemas.microsoft.com/office/drawing/2014/main" id="{0F4B6C52-EA14-8BBB-B4DE-C1E05F8C0F67}"/>
                </a:ext>
              </a:extLst>
            </p:cNvPr>
            <p:cNvSpPr/>
            <p:nvPr/>
          </p:nvSpPr>
          <p:spPr>
            <a:xfrm>
              <a:off x="9042775" y="2906740"/>
              <a:ext cx="8869" cy="430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3" name="Line 213">
              <a:extLst>
                <a:ext uri="{FF2B5EF4-FFF2-40B4-BE49-F238E27FC236}">
                  <a16:creationId xmlns:a16="http://schemas.microsoft.com/office/drawing/2014/main" id="{9B2EB0A5-FC8D-AA4E-A162-73E4F4E6CC20}"/>
                </a:ext>
              </a:extLst>
            </p:cNvPr>
            <p:cNvSpPr/>
            <p:nvPr/>
          </p:nvSpPr>
          <p:spPr>
            <a:xfrm flipH="1" flipV="1">
              <a:off x="8962939" y="2626659"/>
              <a:ext cx="11402" cy="418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4" name="Line 214">
              <a:extLst>
                <a:ext uri="{FF2B5EF4-FFF2-40B4-BE49-F238E27FC236}">
                  <a16:creationId xmlns:a16="http://schemas.microsoft.com/office/drawing/2014/main" id="{7A0E1F6B-5C2C-9C66-BDB4-560A1695C857}"/>
                </a:ext>
              </a:extLst>
            </p:cNvPr>
            <p:cNvSpPr/>
            <p:nvPr/>
          </p:nvSpPr>
          <p:spPr>
            <a:xfrm flipH="1" flipV="1">
              <a:off x="8862822" y="2706505"/>
              <a:ext cx="38020" cy="22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5" name="Line 215">
              <a:extLst>
                <a:ext uri="{FF2B5EF4-FFF2-40B4-BE49-F238E27FC236}">
                  <a16:creationId xmlns:a16="http://schemas.microsoft.com/office/drawing/2014/main" id="{8DBA748E-F62D-076B-D9CF-70355223F87E}"/>
                </a:ext>
              </a:extLst>
            </p:cNvPr>
            <p:cNvSpPr/>
            <p:nvPr/>
          </p:nvSpPr>
          <p:spPr>
            <a:xfrm flipH="1">
              <a:off x="8846344" y="2816754"/>
              <a:ext cx="41824" cy="1393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6" name="Line 216">
              <a:extLst>
                <a:ext uri="{FF2B5EF4-FFF2-40B4-BE49-F238E27FC236}">
                  <a16:creationId xmlns:a16="http://schemas.microsoft.com/office/drawing/2014/main" id="{5FDE4919-8E41-0344-1EC4-6D996BD84C10}"/>
                </a:ext>
              </a:extLst>
            </p:cNvPr>
            <p:cNvSpPr/>
            <p:nvPr/>
          </p:nvSpPr>
          <p:spPr>
            <a:xfrm flipH="1">
              <a:off x="8771574" y="2520214"/>
              <a:ext cx="154606" cy="2686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7" name="Line 217">
              <a:extLst>
                <a:ext uri="{FF2B5EF4-FFF2-40B4-BE49-F238E27FC236}">
                  <a16:creationId xmlns:a16="http://schemas.microsoft.com/office/drawing/2014/main" id="{3B877852-BA74-A53E-FAFA-9B8A087D1F12}"/>
                </a:ext>
              </a:extLst>
            </p:cNvPr>
            <p:cNvSpPr/>
            <p:nvPr/>
          </p:nvSpPr>
          <p:spPr>
            <a:xfrm flipH="1">
              <a:off x="9069394" y="2951088"/>
              <a:ext cx="82378" cy="1406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88" name="Line 218">
              <a:extLst>
                <a:ext uri="{FF2B5EF4-FFF2-40B4-BE49-F238E27FC236}">
                  <a16:creationId xmlns:a16="http://schemas.microsoft.com/office/drawing/2014/main" id="{DE66B1D8-05B0-FC7A-3415-E0A5340E57B3}"/>
                </a:ext>
              </a:extLst>
            </p:cNvPr>
            <p:cNvSpPr/>
            <p:nvPr/>
          </p:nvSpPr>
          <p:spPr>
            <a:xfrm flipH="1">
              <a:off x="9116284" y="2527813"/>
              <a:ext cx="43086" cy="734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7315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Cleaning: Category Standardisation &amp; Sentiment Outliers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FFFFFF"/>
                </a:solidFill>
              </a:rPr>
              <a:t>TBL Dataset · Category value fixes and problematic sentiment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5303520" cy="2258568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30352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79576"/>
            <a:ext cx="25021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Category Value </a:t>
            </a:r>
            <a:r>
              <a:rPr sz="1200" b="1" dirty="0" err="1">
                <a:solidFill>
                  <a:srgbClr val="FFFFFF"/>
                </a:solidFill>
              </a:rPr>
              <a:t>Standardisation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1472184"/>
            <a:ext cx="5120640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050" dirty="0">
                <a:solidFill>
                  <a:srgbClr val="1A2747"/>
                </a:solidFill>
              </a:rPr>
              <a:t>▸  Cleanliness column:</a:t>
            </a:r>
          </a:p>
          <a:p>
            <a:pPr>
              <a:spcBef>
                <a:spcPts val="250"/>
              </a:spcBef>
            </a:pPr>
            <a:r>
              <a:rPr sz="1050" dirty="0"/>
              <a:t>▸    "washed"  →  "clean"  (aligned to standard category label)</a:t>
            </a:r>
          </a:p>
          <a:p>
            <a:pPr>
              <a:spcBef>
                <a:spcPts val="250"/>
              </a:spcBef>
            </a:pPr>
            <a:r>
              <a:rPr sz="1050" dirty="0"/>
              <a:t>▸  </a:t>
            </a:r>
          </a:p>
          <a:p>
            <a:pPr>
              <a:spcBef>
                <a:spcPts val="250"/>
              </a:spcBef>
            </a:pPr>
            <a:r>
              <a:rPr sz="1050" dirty="0">
                <a:solidFill>
                  <a:srgbClr val="1A2747"/>
                </a:solidFill>
              </a:rPr>
              <a:t>▸  Experience column:</a:t>
            </a:r>
          </a:p>
          <a:p>
            <a:pPr>
              <a:spcBef>
                <a:spcPts val="250"/>
              </a:spcBef>
            </a:pPr>
            <a:r>
              <a:rPr sz="1050" dirty="0"/>
              <a:t>▸    "pain"  →  "painful"  (consistent with category schema)</a:t>
            </a:r>
          </a:p>
          <a:p>
            <a:pPr>
              <a:spcBef>
                <a:spcPts val="250"/>
              </a:spcBef>
            </a:pPr>
            <a:r>
              <a:rPr sz="1050" dirty="0"/>
              <a:t>▸    "recovery"  →  "recoverable"  (consistent with category schema)</a:t>
            </a:r>
          </a:p>
          <a:p>
            <a:pPr>
              <a:spcBef>
                <a:spcPts val="250"/>
              </a:spcBef>
            </a:pPr>
            <a:r>
              <a:rPr sz="1050" dirty="0">
                <a:solidFill>
                  <a:srgbClr val="888888"/>
                </a:solidFill>
              </a:rPr>
              <a:t>▸  These fixes ensure pivot tables and bar chart groupings are accurate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170432"/>
            <a:ext cx="5943600" cy="2258568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97880" y="1170432"/>
            <a:ext cx="5943600" cy="274320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1179576"/>
            <a:ext cx="47307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Sentiment Column — Problematic Rows Identified &amp; Excluded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72184"/>
            <a:ext cx="585216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1050" dirty="0">
                <a:solidFill>
                  <a:srgbClr val="1A2747"/>
                </a:solidFill>
              </a:rPr>
              <a:t>▸  Row 1 — Full review text placed in Sentiment field:</a:t>
            </a:r>
          </a:p>
          <a:p>
            <a:pPr>
              <a:spcBef>
                <a:spcPts val="250"/>
              </a:spcBef>
            </a:pPr>
            <a:r>
              <a:rPr sz="1050" dirty="0"/>
              <a:t>▸  "Both my sister and I chose the hospital group…  It took three additional phone calls to have this corrected, thanks to Diane."  — Review body incorrectly mapped to sentiment column</a:t>
            </a:r>
          </a:p>
          <a:p>
            <a:pPr>
              <a:spcBef>
                <a:spcPts val="250"/>
              </a:spcBef>
            </a:pPr>
            <a:r>
              <a:rPr sz="1050" dirty="0"/>
              <a:t>▸  </a:t>
            </a:r>
          </a:p>
          <a:p>
            <a:pPr>
              <a:spcBef>
                <a:spcPts val="250"/>
              </a:spcBef>
            </a:pPr>
            <a:r>
              <a:rPr sz="1050" dirty="0">
                <a:solidFill>
                  <a:srgbClr val="1A2747"/>
                </a:solidFill>
              </a:rPr>
              <a:t>▸  Row 2 — Incomplete fragment in Sentiment field:</a:t>
            </a:r>
          </a:p>
          <a:p>
            <a:pPr>
              <a:spcBef>
                <a:spcPts val="250"/>
              </a:spcBef>
            </a:pPr>
            <a:r>
              <a:rPr sz="1050" dirty="0"/>
              <a:t>▸  "long may it continue on my journey."  — Partial phrase with no analytical value</a:t>
            </a:r>
          </a:p>
          <a:p>
            <a:pPr>
              <a:spcBef>
                <a:spcPts val="250"/>
              </a:spcBef>
            </a:pPr>
            <a:r>
              <a:rPr sz="1050" dirty="0">
                <a:solidFill>
                  <a:srgbClr val="888888"/>
                </a:solidFill>
              </a:rPr>
              <a:t>▸  Both rows excluded from sentiment/polarity metrics; </a:t>
            </a:r>
            <a:r>
              <a:rPr sz="1050" dirty="0" err="1">
                <a:solidFill>
                  <a:srgbClr val="888888"/>
                </a:solidFill>
              </a:rPr>
              <a:t>review</a:t>
            </a:r>
            <a:r>
              <a:rPr lang="en-US" sz="1050" dirty="0" err="1">
                <a:solidFill>
                  <a:srgbClr val="888888"/>
                </a:solidFill>
              </a:rPr>
              <a:t>_</a:t>
            </a:r>
            <a:r>
              <a:rPr sz="1050" dirty="0" err="1">
                <a:solidFill>
                  <a:srgbClr val="888888"/>
                </a:solidFill>
              </a:rPr>
              <a:t>body</a:t>
            </a:r>
            <a:r>
              <a:rPr sz="1050" dirty="0">
                <a:solidFill>
                  <a:srgbClr val="888888"/>
                </a:solidFill>
              </a:rPr>
              <a:t> data preserved</a:t>
            </a:r>
          </a:p>
        </p:txBody>
      </p:sp>
      <p:grpSp>
        <p:nvGrpSpPr>
          <p:cNvPr id="2" name="Group 143">
            <a:extLst>
              <a:ext uri="{FF2B5EF4-FFF2-40B4-BE49-F238E27FC236}">
                <a16:creationId xmlns:a16="http://schemas.microsoft.com/office/drawing/2014/main" id="{773264B8-305F-5C6A-50E4-2E4B757ADBAF}"/>
              </a:ext>
            </a:extLst>
          </p:cNvPr>
          <p:cNvGrpSpPr/>
          <p:nvPr/>
        </p:nvGrpSpPr>
        <p:grpSpPr>
          <a:xfrm>
            <a:off x="4830003" y="2788062"/>
            <a:ext cx="517961" cy="571554"/>
            <a:chOff x="8712192" y="3800676"/>
            <a:chExt cx="517961" cy="571554"/>
          </a:xfrm>
        </p:grpSpPr>
        <p:sp>
          <p:nvSpPr>
            <p:cNvPr id="13" name="Freeform 144">
              <a:extLst>
                <a:ext uri="{FF2B5EF4-FFF2-40B4-BE49-F238E27FC236}">
                  <a16:creationId xmlns:a16="http://schemas.microsoft.com/office/drawing/2014/main" id="{3AE32726-B6D9-0F35-F5DA-CEF6EB05D8FC}"/>
                </a:ext>
              </a:extLst>
            </p:cNvPr>
            <p:cNvSpPr/>
            <p:nvPr/>
          </p:nvSpPr>
          <p:spPr>
            <a:xfrm>
              <a:off x="8904838" y="3937186"/>
              <a:ext cx="207952" cy="20795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"/>
                <a:gd name="f7" fmla="val 12"/>
                <a:gd name="f8" fmla="val 31"/>
                <a:gd name="f9" fmla="val 24"/>
                <a:gd name="f10" fmla="val 9"/>
                <a:gd name="f11" fmla="val 51"/>
                <a:gd name="f12" fmla="val 73"/>
                <a:gd name="f13" fmla="val 95"/>
                <a:gd name="f14" fmla="val 91"/>
                <a:gd name="f15" fmla="val 79"/>
                <a:gd name="f16" fmla="val 52"/>
                <a:gd name="f17" fmla="val 30"/>
                <a:gd name="f18" fmla="val 92"/>
                <a:gd name="f19" fmla="val 8"/>
                <a:gd name="f20" fmla="val 80"/>
                <a:gd name="f21" fmla="val 53"/>
                <a:gd name="f22" fmla="+- 0 0 -90"/>
                <a:gd name="f23" fmla="*/ f3 1 103"/>
                <a:gd name="f24" fmla="*/ f4 1 103"/>
                <a:gd name="f25" fmla="+- f6 0 f5"/>
                <a:gd name="f26" fmla="*/ f22 f0 1"/>
                <a:gd name="f27" fmla="*/ f25 1 103"/>
                <a:gd name="f28" fmla="*/ 12 f25 1"/>
                <a:gd name="f29" fmla="*/ 31 f25 1"/>
                <a:gd name="f30" fmla="*/ 73 f25 1"/>
                <a:gd name="f31" fmla="*/ 91 f25 1"/>
                <a:gd name="f32" fmla="*/ 30 f25 1"/>
                <a:gd name="f33" fmla="*/ 92 f25 1"/>
                <a:gd name="f34" fmla="*/ f26 1 f2"/>
                <a:gd name="f35" fmla="*/ f28 1 103"/>
                <a:gd name="f36" fmla="*/ f29 1 103"/>
                <a:gd name="f37" fmla="*/ f30 1 103"/>
                <a:gd name="f38" fmla="*/ f31 1 103"/>
                <a:gd name="f39" fmla="*/ f32 1 103"/>
                <a:gd name="f40" fmla="*/ f33 1 103"/>
                <a:gd name="f41" fmla="*/ 0 1 f27"/>
                <a:gd name="f42" fmla="*/ f6 1 f27"/>
                <a:gd name="f43" fmla="+- f34 0 f1"/>
                <a:gd name="f44" fmla="*/ f35 1 f27"/>
                <a:gd name="f45" fmla="*/ f36 1 f27"/>
                <a:gd name="f46" fmla="*/ f37 1 f27"/>
                <a:gd name="f47" fmla="*/ f38 1 f27"/>
                <a:gd name="f48" fmla="*/ f39 1 f27"/>
                <a:gd name="f49" fmla="*/ f40 1 f27"/>
                <a:gd name="f50" fmla="*/ f41 f23 1"/>
                <a:gd name="f51" fmla="*/ f42 f23 1"/>
                <a:gd name="f52" fmla="*/ f42 f24 1"/>
                <a:gd name="f53" fmla="*/ f41 f24 1"/>
                <a:gd name="f54" fmla="*/ f44 f23 1"/>
                <a:gd name="f55" fmla="*/ f45 f24 1"/>
                <a:gd name="f56" fmla="*/ f46 f23 1"/>
                <a:gd name="f57" fmla="*/ f44 f24 1"/>
                <a:gd name="f58" fmla="*/ f47 f23 1"/>
                <a:gd name="f59" fmla="*/ f46 f24 1"/>
                <a:gd name="f60" fmla="*/ f48 f23 1"/>
                <a:gd name="f61" fmla="*/ f4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4" y="f55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54" y="f55"/>
                </a:cxn>
              </a:cxnLst>
              <a:rect l="f50" t="f53" r="f51" b="f52"/>
              <a:pathLst>
                <a:path w="103" h="103">
                  <a:moveTo>
                    <a:pt x="f7" y="f8"/>
                  </a:moveTo>
                  <a:cubicBezTo>
                    <a:pt x="f9" y="f10"/>
                    <a:pt x="f11" y="f5"/>
                    <a:pt x="f12" y="f7"/>
                  </a:cubicBezTo>
                  <a:cubicBezTo>
                    <a:pt x="f13" y="f9"/>
                    <a:pt x="f6" y="f11"/>
                    <a:pt x="f14" y="f12"/>
                  </a:cubicBezTo>
                  <a:cubicBezTo>
                    <a:pt x="f15" y="f13"/>
                    <a:pt x="f16" y="f6"/>
                    <a:pt x="f17" y="f18"/>
                  </a:cubicBezTo>
                  <a:cubicBezTo>
                    <a:pt x="f19" y="f20"/>
                    <a:pt x="f5" y="f21"/>
                    <a:pt x="f7" y="f8"/>
                  </a:cubicBezTo>
                  <a:close/>
                </a:path>
              </a:pathLst>
            </a:custGeom>
            <a:solidFill>
              <a:srgbClr val="71EAE1"/>
            </a:solidFill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4" name="Freeform 145">
              <a:extLst>
                <a:ext uri="{FF2B5EF4-FFF2-40B4-BE49-F238E27FC236}">
                  <a16:creationId xmlns:a16="http://schemas.microsoft.com/office/drawing/2014/main" id="{9DEE44B7-2E4D-C862-1D93-C9E29C4D28A0}"/>
                </a:ext>
              </a:extLst>
            </p:cNvPr>
            <p:cNvSpPr/>
            <p:nvPr/>
          </p:nvSpPr>
          <p:spPr>
            <a:xfrm>
              <a:off x="8819360" y="3858091"/>
              <a:ext cx="376357" cy="3661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5"/>
                <a:gd name="f7" fmla="val 287"/>
                <a:gd name="f8" fmla="val 160"/>
                <a:gd name="f9" fmla="val 25"/>
                <a:gd name="f10" fmla="val 117"/>
                <a:gd name="f11" fmla="val 14"/>
                <a:gd name="f12" fmla="val 71"/>
                <a:gd name="f13" fmla="val 59"/>
                <a:gd name="f14" fmla="val 55"/>
                <a:gd name="f15" fmla="val 79"/>
                <a:gd name="f16" fmla="val 11"/>
                <a:gd name="f17" fmla="val 129"/>
                <a:gd name="f18" fmla="val 22"/>
                <a:gd name="f19" fmla="val 173"/>
                <a:gd name="f20" fmla="val 205"/>
                <a:gd name="f21" fmla="val 38"/>
                <a:gd name="f22" fmla="val 254"/>
                <a:gd name="f23" fmla="val 43"/>
                <a:gd name="f24" fmla="val 259"/>
                <a:gd name="f25" fmla="val 92"/>
                <a:gd name="f26" fmla="val 127"/>
                <a:gd name="f27" fmla="val 270"/>
                <a:gd name="f28" fmla="val 168"/>
                <a:gd name="f29" fmla="val 278"/>
                <a:gd name="f30" fmla="val 213"/>
                <a:gd name="f31" fmla="val 235"/>
                <a:gd name="f32" fmla="val 230"/>
                <a:gd name="f33" fmla="val 214"/>
                <a:gd name="f34" fmla="val 275"/>
                <a:gd name="f35" fmla="val 167"/>
                <a:gd name="f36" fmla="val 263"/>
                <a:gd name="f37" fmla="val 122"/>
                <a:gd name="f38" fmla="val 90"/>
                <a:gd name="f39" fmla="val 249"/>
                <a:gd name="f40" fmla="val 41"/>
                <a:gd name="f41" fmla="val 243"/>
                <a:gd name="f42" fmla="val 36"/>
                <a:gd name="f43" fmla="val 194"/>
                <a:gd name="f44" fmla="+- 0 0 -90"/>
                <a:gd name="f45" fmla="*/ f3 1 295"/>
                <a:gd name="f46" fmla="*/ f4 1 287"/>
                <a:gd name="f47" fmla="+- f7 0 f5"/>
                <a:gd name="f48" fmla="+- f6 0 f5"/>
                <a:gd name="f49" fmla="*/ f44 f0 1"/>
                <a:gd name="f50" fmla="*/ f48 1 295"/>
                <a:gd name="f51" fmla="*/ f47 1 287"/>
                <a:gd name="f52" fmla="*/ 0 f48 1"/>
                <a:gd name="f53" fmla="*/ 160 f47 1"/>
                <a:gd name="f54" fmla="*/ 25 f48 1"/>
                <a:gd name="f55" fmla="*/ 117 f47 1"/>
                <a:gd name="f56" fmla="*/ 14 f48 1"/>
                <a:gd name="f57" fmla="*/ 71 f47 1"/>
                <a:gd name="f58" fmla="*/ 59 f48 1"/>
                <a:gd name="f59" fmla="*/ 55 f47 1"/>
                <a:gd name="f60" fmla="*/ 79 f48 1"/>
                <a:gd name="f61" fmla="*/ 11 f47 1"/>
                <a:gd name="f62" fmla="*/ 129 f48 1"/>
                <a:gd name="f63" fmla="*/ 22 f47 1"/>
                <a:gd name="f64" fmla="*/ 173 f48 1"/>
                <a:gd name="f65" fmla="*/ 0 f47 1"/>
                <a:gd name="f66" fmla="*/ 205 f48 1"/>
                <a:gd name="f67" fmla="*/ 38 f47 1"/>
                <a:gd name="f68" fmla="*/ 254 f48 1"/>
                <a:gd name="f69" fmla="*/ 43 f47 1"/>
                <a:gd name="f70" fmla="*/ 259 f48 1"/>
                <a:gd name="f71" fmla="*/ 92 f47 1"/>
                <a:gd name="f72" fmla="*/ 295 f48 1"/>
                <a:gd name="f73" fmla="*/ 127 f47 1"/>
                <a:gd name="f74" fmla="*/ 270 f48 1"/>
                <a:gd name="f75" fmla="*/ 168 f47 1"/>
                <a:gd name="f76" fmla="*/ 278 f48 1"/>
                <a:gd name="f77" fmla="*/ 213 f47 1"/>
                <a:gd name="f78" fmla="*/ 235 f48 1"/>
                <a:gd name="f79" fmla="*/ 230 f47 1"/>
                <a:gd name="f80" fmla="*/ 214 f48 1"/>
                <a:gd name="f81" fmla="*/ 275 f47 1"/>
                <a:gd name="f82" fmla="*/ 167 f48 1"/>
                <a:gd name="f83" fmla="*/ 263 f47 1"/>
                <a:gd name="f84" fmla="*/ 122 f48 1"/>
                <a:gd name="f85" fmla="*/ 287 f47 1"/>
                <a:gd name="f86" fmla="*/ 90 f48 1"/>
                <a:gd name="f87" fmla="*/ 249 f47 1"/>
                <a:gd name="f88" fmla="*/ 41 f48 1"/>
                <a:gd name="f89" fmla="*/ 243 f47 1"/>
                <a:gd name="f90" fmla="*/ 36 f48 1"/>
                <a:gd name="f91" fmla="*/ 194 f47 1"/>
                <a:gd name="f92" fmla="*/ f49 1 f2"/>
                <a:gd name="f93" fmla="*/ f52 1 295"/>
                <a:gd name="f94" fmla="*/ f53 1 287"/>
                <a:gd name="f95" fmla="*/ f54 1 295"/>
                <a:gd name="f96" fmla="*/ f55 1 287"/>
                <a:gd name="f97" fmla="*/ f56 1 295"/>
                <a:gd name="f98" fmla="*/ f57 1 287"/>
                <a:gd name="f99" fmla="*/ f58 1 295"/>
                <a:gd name="f100" fmla="*/ f59 1 287"/>
                <a:gd name="f101" fmla="*/ f60 1 295"/>
                <a:gd name="f102" fmla="*/ f61 1 287"/>
                <a:gd name="f103" fmla="*/ f62 1 295"/>
                <a:gd name="f104" fmla="*/ f63 1 287"/>
                <a:gd name="f105" fmla="*/ f64 1 295"/>
                <a:gd name="f106" fmla="*/ f65 1 287"/>
                <a:gd name="f107" fmla="*/ f66 1 295"/>
                <a:gd name="f108" fmla="*/ f67 1 287"/>
                <a:gd name="f109" fmla="*/ f68 1 295"/>
                <a:gd name="f110" fmla="*/ f69 1 287"/>
                <a:gd name="f111" fmla="*/ f70 1 295"/>
                <a:gd name="f112" fmla="*/ f71 1 287"/>
                <a:gd name="f113" fmla="*/ f72 1 295"/>
                <a:gd name="f114" fmla="*/ f73 1 287"/>
                <a:gd name="f115" fmla="*/ f74 1 295"/>
                <a:gd name="f116" fmla="*/ f75 1 287"/>
                <a:gd name="f117" fmla="*/ f76 1 295"/>
                <a:gd name="f118" fmla="*/ f77 1 287"/>
                <a:gd name="f119" fmla="*/ f78 1 295"/>
                <a:gd name="f120" fmla="*/ f79 1 287"/>
                <a:gd name="f121" fmla="*/ f80 1 295"/>
                <a:gd name="f122" fmla="*/ f81 1 287"/>
                <a:gd name="f123" fmla="*/ f82 1 295"/>
                <a:gd name="f124" fmla="*/ f83 1 287"/>
                <a:gd name="f125" fmla="*/ f84 1 295"/>
                <a:gd name="f126" fmla="*/ f85 1 287"/>
                <a:gd name="f127" fmla="*/ f86 1 295"/>
                <a:gd name="f128" fmla="*/ f87 1 287"/>
                <a:gd name="f129" fmla="*/ f88 1 295"/>
                <a:gd name="f130" fmla="*/ f89 1 287"/>
                <a:gd name="f131" fmla="*/ f90 1 295"/>
                <a:gd name="f132" fmla="*/ f91 1 287"/>
                <a:gd name="f133" fmla="*/ 0 1 f50"/>
                <a:gd name="f134" fmla="*/ f6 1 f50"/>
                <a:gd name="f135" fmla="*/ 0 1 f51"/>
                <a:gd name="f136" fmla="*/ f7 1 f51"/>
                <a:gd name="f137" fmla="+- f92 0 f1"/>
                <a:gd name="f138" fmla="*/ f93 1 f50"/>
                <a:gd name="f139" fmla="*/ f94 1 f51"/>
                <a:gd name="f140" fmla="*/ f95 1 f50"/>
                <a:gd name="f141" fmla="*/ f96 1 f51"/>
                <a:gd name="f142" fmla="*/ f97 1 f50"/>
                <a:gd name="f143" fmla="*/ f98 1 f51"/>
                <a:gd name="f144" fmla="*/ f99 1 f50"/>
                <a:gd name="f145" fmla="*/ f100 1 f51"/>
                <a:gd name="f146" fmla="*/ f101 1 f50"/>
                <a:gd name="f147" fmla="*/ f102 1 f51"/>
                <a:gd name="f148" fmla="*/ f103 1 f50"/>
                <a:gd name="f149" fmla="*/ f104 1 f51"/>
                <a:gd name="f150" fmla="*/ f105 1 f50"/>
                <a:gd name="f151" fmla="*/ f106 1 f51"/>
                <a:gd name="f152" fmla="*/ f107 1 f50"/>
                <a:gd name="f153" fmla="*/ f108 1 f51"/>
                <a:gd name="f154" fmla="*/ f109 1 f50"/>
                <a:gd name="f155" fmla="*/ f110 1 f51"/>
                <a:gd name="f156" fmla="*/ f111 1 f50"/>
                <a:gd name="f157" fmla="*/ f112 1 f51"/>
                <a:gd name="f158" fmla="*/ f113 1 f50"/>
                <a:gd name="f159" fmla="*/ f114 1 f51"/>
                <a:gd name="f160" fmla="*/ f115 1 f50"/>
                <a:gd name="f161" fmla="*/ f116 1 f51"/>
                <a:gd name="f162" fmla="*/ f117 1 f50"/>
                <a:gd name="f163" fmla="*/ f118 1 f51"/>
                <a:gd name="f164" fmla="*/ f119 1 f50"/>
                <a:gd name="f165" fmla="*/ f120 1 f51"/>
                <a:gd name="f166" fmla="*/ f121 1 f50"/>
                <a:gd name="f167" fmla="*/ f122 1 f51"/>
                <a:gd name="f168" fmla="*/ f123 1 f50"/>
                <a:gd name="f169" fmla="*/ f124 1 f51"/>
                <a:gd name="f170" fmla="*/ f125 1 f50"/>
                <a:gd name="f171" fmla="*/ f126 1 f51"/>
                <a:gd name="f172" fmla="*/ f127 1 f50"/>
                <a:gd name="f173" fmla="*/ f128 1 f51"/>
                <a:gd name="f174" fmla="*/ f129 1 f50"/>
                <a:gd name="f175" fmla="*/ f130 1 f51"/>
                <a:gd name="f176" fmla="*/ f131 1 f50"/>
                <a:gd name="f177" fmla="*/ f132 1 f51"/>
                <a:gd name="f178" fmla="*/ f133 f45 1"/>
                <a:gd name="f179" fmla="*/ f134 f45 1"/>
                <a:gd name="f180" fmla="*/ f136 f46 1"/>
                <a:gd name="f181" fmla="*/ f135 f46 1"/>
                <a:gd name="f182" fmla="*/ f138 f45 1"/>
                <a:gd name="f183" fmla="*/ f139 f46 1"/>
                <a:gd name="f184" fmla="*/ f140 f45 1"/>
                <a:gd name="f185" fmla="*/ f141 f46 1"/>
                <a:gd name="f186" fmla="*/ f142 f45 1"/>
                <a:gd name="f187" fmla="*/ f143 f46 1"/>
                <a:gd name="f188" fmla="*/ f144 f45 1"/>
                <a:gd name="f189" fmla="*/ f145 f46 1"/>
                <a:gd name="f190" fmla="*/ f146 f45 1"/>
                <a:gd name="f191" fmla="*/ f147 f46 1"/>
                <a:gd name="f192" fmla="*/ f148 f45 1"/>
                <a:gd name="f193" fmla="*/ f149 f46 1"/>
                <a:gd name="f194" fmla="*/ f150 f45 1"/>
                <a:gd name="f195" fmla="*/ f151 f46 1"/>
                <a:gd name="f196" fmla="*/ f152 f45 1"/>
                <a:gd name="f197" fmla="*/ f153 f46 1"/>
                <a:gd name="f198" fmla="*/ f154 f45 1"/>
                <a:gd name="f199" fmla="*/ f155 f46 1"/>
                <a:gd name="f200" fmla="*/ f156 f45 1"/>
                <a:gd name="f201" fmla="*/ f157 f46 1"/>
                <a:gd name="f202" fmla="*/ f158 f45 1"/>
                <a:gd name="f203" fmla="*/ f159 f46 1"/>
                <a:gd name="f204" fmla="*/ f160 f45 1"/>
                <a:gd name="f205" fmla="*/ f161 f46 1"/>
                <a:gd name="f206" fmla="*/ f162 f45 1"/>
                <a:gd name="f207" fmla="*/ f163 f46 1"/>
                <a:gd name="f208" fmla="*/ f164 f45 1"/>
                <a:gd name="f209" fmla="*/ f165 f46 1"/>
                <a:gd name="f210" fmla="*/ f166 f45 1"/>
                <a:gd name="f211" fmla="*/ f167 f46 1"/>
                <a:gd name="f212" fmla="*/ f168 f45 1"/>
                <a:gd name="f213" fmla="*/ f169 f46 1"/>
                <a:gd name="f214" fmla="*/ f170 f45 1"/>
                <a:gd name="f215" fmla="*/ f171 f46 1"/>
                <a:gd name="f216" fmla="*/ f172 f45 1"/>
                <a:gd name="f217" fmla="*/ f173 f46 1"/>
                <a:gd name="f218" fmla="*/ f174 f45 1"/>
                <a:gd name="f219" fmla="*/ f175 f46 1"/>
                <a:gd name="f220" fmla="*/ f176 f45 1"/>
                <a:gd name="f221" fmla="*/ f177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37">
                  <a:pos x="f182" y="f183"/>
                </a:cxn>
                <a:cxn ang="f137">
                  <a:pos x="f184" y="f185"/>
                </a:cxn>
                <a:cxn ang="f137">
                  <a:pos x="f186" y="f187"/>
                </a:cxn>
                <a:cxn ang="f137">
                  <a:pos x="f188" y="f189"/>
                </a:cxn>
                <a:cxn ang="f137">
                  <a:pos x="f190" y="f191"/>
                </a:cxn>
                <a:cxn ang="f137">
                  <a:pos x="f192" y="f193"/>
                </a:cxn>
                <a:cxn ang="f137">
                  <a:pos x="f194" y="f195"/>
                </a:cxn>
                <a:cxn ang="f137">
                  <a:pos x="f196" y="f197"/>
                </a:cxn>
                <a:cxn ang="f137">
                  <a:pos x="f198" y="f199"/>
                </a:cxn>
                <a:cxn ang="f137">
                  <a:pos x="f200" y="f201"/>
                </a:cxn>
                <a:cxn ang="f137">
                  <a:pos x="f202" y="f203"/>
                </a:cxn>
                <a:cxn ang="f137">
                  <a:pos x="f204" y="f205"/>
                </a:cxn>
                <a:cxn ang="f137">
                  <a:pos x="f206" y="f207"/>
                </a:cxn>
                <a:cxn ang="f137">
                  <a:pos x="f208" y="f209"/>
                </a:cxn>
                <a:cxn ang="f137">
                  <a:pos x="f210" y="f211"/>
                </a:cxn>
                <a:cxn ang="f137">
                  <a:pos x="f212" y="f213"/>
                </a:cxn>
                <a:cxn ang="f137">
                  <a:pos x="f214" y="f215"/>
                </a:cxn>
                <a:cxn ang="f137">
                  <a:pos x="f216" y="f217"/>
                </a:cxn>
                <a:cxn ang="f137">
                  <a:pos x="f218" y="f219"/>
                </a:cxn>
                <a:cxn ang="f137">
                  <a:pos x="f220" y="f221"/>
                </a:cxn>
                <a:cxn ang="f137">
                  <a:pos x="f182" y="f183"/>
                </a:cxn>
                <a:cxn ang="f137">
                  <a:pos x="f182" y="f183"/>
                </a:cxn>
                <a:cxn ang="f137">
                  <a:pos x="f182" y="f183"/>
                </a:cxn>
              </a:cxnLst>
              <a:rect l="f178" t="f181" r="f179" b="f180"/>
              <a:pathLst>
                <a:path w="295" h="287">
                  <a:moveTo>
                    <a:pt x="f5" y="f8"/>
                  </a:move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5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6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5" y="f8"/>
                  </a:lnTo>
                  <a:lnTo>
                    <a:pt x="f5" y="f8"/>
                  </a:lnTo>
                  <a:lnTo>
                    <a:pt x="f5" y="f8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5" name="Freeform 146">
              <a:extLst>
                <a:ext uri="{FF2B5EF4-FFF2-40B4-BE49-F238E27FC236}">
                  <a16:creationId xmlns:a16="http://schemas.microsoft.com/office/drawing/2014/main" id="{45F34541-3B2C-4625-6D62-0532911530B3}"/>
                </a:ext>
              </a:extLst>
            </p:cNvPr>
            <p:cNvSpPr/>
            <p:nvPr/>
          </p:nvSpPr>
          <p:spPr>
            <a:xfrm>
              <a:off x="8918865" y="4175763"/>
              <a:ext cx="114821" cy="188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"/>
                <a:gd name="f7" fmla="val 148"/>
                <a:gd name="f8" fmla="val 14"/>
                <a:gd name="f9" fmla="val 78"/>
                <a:gd name="f10" fmla="val 38"/>
                <a:gd name="f11" fmla="val 123"/>
                <a:gd name="f12" fmla="val 140"/>
                <a:gd name="f13" fmla="+- 0 0 -90"/>
                <a:gd name="f14" fmla="*/ f3 1 90"/>
                <a:gd name="f15" fmla="*/ f4 1 148"/>
                <a:gd name="f16" fmla="+- f7 0 f5"/>
                <a:gd name="f17" fmla="+- f6 0 f5"/>
                <a:gd name="f18" fmla="*/ f13 f0 1"/>
                <a:gd name="f19" fmla="*/ f17 1 90"/>
                <a:gd name="f20" fmla="*/ f16 1 148"/>
                <a:gd name="f21" fmla="*/ 90 f17 1"/>
                <a:gd name="f22" fmla="*/ 14 f16 1"/>
                <a:gd name="f23" fmla="*/ 78 f17 1"/>
                <a:gd name="f24" fmla="*/ 148 f16 1"/>
                <a:gd name="f25" fmla="*/ 38 f17 1"/>
                <a:gd name="f26" fmla="*/ 123 f16 1"/>
                <a:gd name="f27" fmla="*/ 0 f17 1"/>
                <a:gd name="f28" fmla="*/ 140 f16 1"/>
                <a:gd name="f29" fmla="*/ 14 f17 1"/>
                <a:gd name="f30" fmla="*/ 0 f16 1"/>
                <a:gd name="f31" fmla="*/ f18 1 f2"/>
                <a:gd name="f32" fmla="*/ f21 1 90"/>
                <a:gd name="f33" fmla="*/ f22 1 148"/>
                <a:gd name="f34" fmla="*/ f23 1 90"/>
                <a:gd name="f35" fmla="*/ f24 1 148"/>
                <a:gd name="f36" fmla="*/ f25 1 90"/>
                <a:gd name="f37" fmla="*/ f26 1 148"/>
                <a:gd name="f38" fmla="*/ f27 1 90"/>
                <a:gd name="f39" fmla="*/ f28 1 148"/>
                <a:gd name="f40" fmla="*/ f29 1 90"/>
                <a:gd name="f41" fmla="*/ f30 1 148"/>
                <a:gd name="f42" fmla="*/ 0 1 f19"/>
                <a:gd name="f43" fmla="*/ f6 1 f19"/>
                <a:gd name="f44" fmla="*/ 0 1 f20"/>
                <a:gd name="f45" fmla="*/ f7 1 f20"/>
                <a:gd name="f46" fmla="+- f31 0 f1"/>
                <a:gd name="f47" fmla="*/ f32 1 f19"/>
                <a:gd name="f48" fmla="*/ f33 1 f20"/>
                <a:gd name="f49" fmla="*/ f34 1 f19"/>
                <a:gd name="f50" fmla="*/ f35 1 f20"/>
                <a:gd name="f51" fmla="*/ f36 1 f19"/>
                <a:gd name="f52" fmla="*/ f37 1 f20"/>
                <a:gd name="f53" fmla="*/ f38 1 f19"/>
                <a:gd name="f54" fmla="*/ f39 1 f20"/>
                <a:gd name="f55" fmla="*/ f40 1 f19"/>
                <a:gd name="f56" fmla="*/ f41 1 f20"/>
                <a:gd name="f57" fmla="*/ f42 f14 1"/>
                <a:gd name="f58" fmla="*/ f43 f14 1"/>
                <a:gd name="f59" fmla="*/ f45 f15 1"/>
                <a:gd name="f60" fmla="*/ f44 f15 1"/>
                <a:gd name="f61" fmla="*/ f47 f14 1"/>
                <a:gd name="f62" fmla="*/ f48 f15 1"/>
                <a:gd name="f63" fmla="*/ f49 f14 1"/>
                <a:gd name="f64" fmla="*/ f50 f15 1"/>
                <a:gd name="f65" fmla="*/ f51 f14 1"/>
                <a:gd name="f66" fmla="*/ f52 f15 1"/>
                <a:gd name="f67" fmla="*/ f53 f14 1"/>
                <a:gd name="f68" fmla="*/ f54 f15 1"/>
                <a:gd name="f69" fmla="*/ f55 f14 1"/>
                <a:gd name="f70" fmla="*/ f5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61" y="f62"/>
                </a:cxn>
                <a:cxn ang="f46">
                  <a:pos x="f63" y="f64"/>
                </a:cxn>
                <a:cxn ang="f46">
                  <a:pos x="f65" y="f66"/>
                </a:cxn>
                <a:cxn ang="f46">
                  <a:pos x="f67" y="f68"/>
                </a:cxn>
                <a:cxn ang="f46">
                  <a:pos x="f69" y="f70"/>
                </a:cxn>
              </a:cxnLst>
              <a:rect l="f57" t="f60" r="f58" b="f59"/>
              <a:pathLst>
                <a:path w="90" h="148">
                  <a:moveTo>
                    <a:pt x="f6" y="f8"/>
                  </a:moveTo>
                  <a:lnTo>
                    <a:pt x="f9" y="f7"/>
                  </a:lnTo>
                  <a:lnTo>
                    <a:pt x="f10" y="f11"/>
                  </a:lnTo>
                  <a:lnTo>
                    <a:pt x="f5" y="f12"/>
                  </a:lnTo>
                  <a:lnTo>
                    <a:pt x="f8" y="f5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6" name="Freeform 147">
              <a:extLst>
                <a:ext uri="{FF2B5EF4-FFF2-40B4-BE49-F238E27FC236}">
                  <a16:creationId xmlns:a16="http://schemas.microsoft.com/office/drawing/2014/main" id="{457D7FCE-4EA5-AF6A-9C86-1128FFCDA790}"/>
                </a:ext>
              </a:extLst>
            </p:cNvPr>
            <p:cNvSpPr/>
            <p:nvPr/>
          </p:nvSpPr>
          <p:spPr>
            <a:xfrm>
              <a:off x="8732602" y="4105591"/>
              <a:ext cx="204121" cy="17350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0"/>
                <a:gd name="f7" fmla="val 136"/>
                <a:gd name="f8" fmla="val 103"/>
                <a:gd name="f9" fmla="val 73"/>
                <a:gd name="f10" fmla="val 38"/>
                <a:gd name="f11" fmla="val 93"/>
                <a:gd name="f12" fmla="val 44"/>
                <a:gd name="f13" fmla="val 55"/>
                <a:gd name="f14" fmla="+- 0 0 -90"/>
                <a:gd name="f15" fmla="*/ f3 1 160"/>
                <a:gd name="f16" fmla="*/ f4 1 136"/>
                <a:gd name="f17" fmla="+- f7 0 f5"/>
                <a:gd name="f18" fmla="+- f6 0 f5"/>
                <a:gd name="f19" fmla="*/ f14 f0 1"/>
                <a:gd name="f20" fmla="*/ f18 1 160"/>
                <a:gd name="f21" fmla="*/ f17 1 136"/>
                <a:gd name="f22" fmla="*/ 103 f18 1"/>
                <a:gd name="f23" fmla="*/ 0 f17 1"/>
                <a:gd name="f24" fmla="*/ 0 f18 1"/>
                <a:gd name="f25" fmla="*/ 73 f17 1"/>
                <a:gd name="f26" fmla="*/ 38 f18 1"/>
                <a:gd name="f27" fmla="*/ 93 f17 1"/>
                <a:gd name="f28" fmla="*/ 44 f18 1"/>
                <a:gd name="f29" fmla="*/ 136 f17 1"/>
                <a:gd name="f30" fmla="*/ 160 f18 1"/>
                <a:gd name="f31" fmla="*/ 55 f17 1"/>
                <a:gd name="f32" fmla="*/ f19 1 f2"/>
                <a:gd name="f33" fmla="*/ f22 1 160"/>
                <a:gd name="f34" fmla="*/ f23 1 136"/>
                <a:gd name="f35" fmla="*/ f24 1 160"/>
                <a:gd name="f36" fmla="*/ f25 1 136"/>
                <a:gd name="f37" fmla="*/ f26 1 160"/>
                <a:gd name="f38" fmla="*/ f27 1 136"/>
                <a:gd name="f39" fmla="*/ f28 1 160"/>
                <a:gd name="f40" fmla="*/ f29 1 136"/>
                <a:gd name="f41" fmla="*/ f30 1 160"/>
                <a:gd name="f42" fmla="*/ f31 1 136"/>
                <a:gd name="f43" fmla="*/ 0 1 f20"/>
                <a:gd name="f44" fmla="*/ f6 1 f20"/>
                <a:gd name="f45" fmla="*/ 0 1 f21"/>
                <a:gd name="f46" fmla="*/ f7 1 f21"/>
                <a:gd name="f47" fmla="+- f32 0 f1"/>
                <a:gd name="f48" fmla="*/ f33 1 f20"/>
                <a:gd name="f49" fmla="*/ f34 1 f21"/>
                <a:gd name="f50" fmla="*/ f35 1 f20"/>
                <a:gd name="f51" fmla="*/ f36 1 f21"/>
                <a:gd name="f52" fmla="*/ f37 1 f20"/>
                <a:gd name="f53" fmla="*/ f38 1 f21"/>
                <a:gd name="f54" fmla="*/ f39 1 f20"/>
                <a:gd name="f55" fmla="*/ f40 1 f21"/>
                <a:gd name="f56" fmla="*/ f41 1 f20"/>
                <a:gd name="f57" fmla="*/ f42 1 f21"/>
                <a:gd name="f58" fmla="*/ f43 f15 1"/>
                <a:gd name="f59" fmla="*/ f44 f15 1"/>
                <a:gd name="f60" fmla="*/ f46 f16 1"/>
                <a:gd name="f61" fmla="*/ f45 f16 1"/>
                <a:gd name="f62" fmla="*/ f48 f15 1"/>
                <a:gd name="f63" fmla="*/ f49 f16 1"/>
                <a:gd name="f64" fmla="*/ f50 f15 1"/>
                <a:gd name="f65" fmla="*/ f51 f16 1"/>
                <a:gd name="f66" fmla="*/ f52 f15 1"/>
                <a:gd name="f67" fmla="*/ f53 f16 1"/>
                <a:gd name="f68" fmla="*/ f54 f15 1"/>
                <a:gd name="f69" fmla="*/ f55 f16 1"/>
                <a:gd name="f70" fmla="*/ f56 f15 1"/>
                <a:gd name="f71" fmla="*/ f57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7">
                  <a:pos x="f62" y="f63"/>
                </a:cxn>
                <a:cxn ang="f47">
                  <a:pos x="f64" y="f65"/>
                </a:cxn>
                <a:cxn ang="f47">
                  <a:pos x="f66" y="f67"/>
                </a:cxn>
                <a:cxn ang="f47">
                  <a:pos x="f68" y="f69"/>
                </a:cxn>
                <a:cxn ang="f47">
                  <a:pos x="f70" y="f71"/>
                </a:cxn>
              </a:cxnLst>
              <a:rect l="f58" t="f61" r="f59" b="f60"/>
              <a:pathLst>
                <a:path w="160" h="136">
                  <a:moveTo>
                    <a:pt x="f8" y="f5"/>
                  </a:moveTo>
                  <a:lnTo>
                    <a:pt x="f5" y="f9"/>
                  </a:lnTo>
                  <a:lnTo>
                    <a:pt x="f10" y="f11"/>
                  </a:lnTo>
                  <a:lnTo>
                    <a:pt x="f12" y="f7"/>
                  </a:lnTo>
                  <a:lnTo>
                    <a:pt x="f6" y="f13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7" name="Line 148">
              <a:extLst>
                <a:ext uri="{FF2B5EF4-FFF2-40B4-BE49-F238E27FC236}">
                  <a16:creationId xmlns:a16="http://schemas.microsoft.com/office/drawing/2014/main" id="{A226F1B2-2CC0-BBEA-C0FB-5FA8C396BB88}"/>
                </a:ext>
              </a:extLst>
            </p:cNvPr>
            <p:cNvSpPr/>
            <p:nvPr/>
          </p:nvSpPr>
          <p:spPr>
            <a:xfrm flipH="1">
              <a:off x="8712192" y="3800676"/>
              <a:ext cx="153097" cy="26791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8" name="Line 149">
              <a:extLst>
                <a:ext uri="{FF2B5EF4-FFF2-40B4-BE49-F238E27FC236}">
                  <a16:creationId xmlns:a16="http://schemas.microsoft.com/office/drawing/2014/main" id="{62577DAD-221B-AE0B-390C-91D5CEEE45BE}"/>
                </a:ext>
              </a:extLst>
            </p:cNvPr>
            <p:cNvSpPr/>
            <p:nvPr/>
          </p:nvSpPr>
          <p:spPr>
            <a:xfrm flipH="1">
              <a:off x="9080897" y="4233169"/>
              <a:ext cx="79095" cy="1390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9" name="Line 150">
              <a:extLst>
                <a:ext uri="{FF2B5EF4-FFF2-40B4-BE49-F238E27FC236}">
                  <a16:creationId xmlns:a16="http://schemas.microsoft.com/office/drawing/2014/main" id="{D9109326-BFD2-BDA2-D0C8-B299A9D7C577}"/>
                </a:ext>
              </a:extLst>
            </p:cNvPr>
            <p:cNvSpPr/>
            <p:nvPr/>
          </p:nvSpPr>
          <p:spPr>
            <a:xfrm flipH="1">
              <a:off x="9188055" y="3883603"/>
              <a:ext cx="42098" cy="7399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  <p:grpSp>
        <p:nvGrpSpPr>
          <p:cNvPr id="20" name="Group 143">
            <a:extLst>
              <a:ext uri="{FF2B5EF4-FFF2-40B4-BE49-F238E27FC236}">
                <a16:creationId xmlns:a16="http://schemas.microsoft.com/office/drawing/2014/main" id="{D9CB80B9-7789-C18C-B209-21F9B6E8CAF5}"/>
              </a:ext>
            </a:extLst>
          </p:cNvPr>
          <p:cNvGrpSpPr/>
          <p:nvPr/>
        </p:nvGrpSpPr>
        <p:grpSpPr>
          <a:xfrm>
            <a:off x="11086256" y="2788062"/>
            <a:ext cx="517961" cy="571554"/>
            <a:chOff x="8712192" y="3800676"/>
            <a:chExt cx="517961" cy="571554"/>
          </a:xfrm>
        </p:grpSpPr>
        <p:sp>
          <p:nvSpPr>
            <p:cNvPr id="21" name="Freeform 144">
              <a:extLst>
                <a:ext uri="{FF2B5EF4-FFF2-40B4-BE49-F238E27FC236}">
                  <a16:creationId xmlns:a16="http://schemas.microsoft.com/office/drawing/2014/main" id="{91C8B819-1A64-73CF-EFD1-CCEEC9C56503}"/>
                </a:ext>
              </a:extLst>
            </p:cNvPr>
            <p:cNvSpPr/>
            <p:nvPr/>
          </p:nvSpPr>
          <p:spPr>
            <a:xfrm>
              <a:off x="8904838" y="3937186"/>
              <a:ext cx="207952" cy="20795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"/>
                <a:gd name="f7" fmla="val 12"/>
                <a:gd name="f8" fmla="val 31"/>
                <a:gd name="f9" fmla="val 24"/>
                <a:gd name="f10" fmla="val 9"/>
                <a:gd name="f11" fmla="val 51"/>
                <a:gd name="f12" fmla="val 73"/>
                <a:gd name="f13" fmla="val 95"/>
                <a:gd name="f14" fmla="val 91"/>
                <a:gd name="f15" fmla="val 79"/>
                <a:gd name="f16" fmla="val 52"/>
                <a:gd name="f17" fmla="val 30"/>
                <a:gd name="f18" fmla="val 92"/>
                <a:gd name="f19" fmla="val 8"/>
                <a:gd name="f20" fmla="val 80"/>
                <a:gd name="f21" fmla="val 53"/>
                <a:gd name="f22" fmla="+- 0 0 -90"/>
                <a:gd name="f23" fmla="*/ f3 1 103"/>
                <a:gd name="f24" fmla="*/ f4 1 103"/>
                <a:gd name="f25" fmla="+- f6 0 f5"/>
                <a:gd name="f26" fmla="*/ f22 f0 1"/>
                <a:gd name="f27" fmla="*/ f25 1 103"/>
                <a:gd name="f28" fmla="*/ 12 f25 1"/>
                <a:gd name="f29" fmla="*/ 31 f25 1"/>
                <a:gd name="f30" fmla="*/ 73 f25 1"/>
                <a:gd name="f31" fmla="*/ 91 f25 1"/>
                <a:gd name="f32" fmla="*/ 30 f25 1"/>
                <a:gd name="f33" fmla="*/ 92 f25 1"/>
                <a:gd name="f34" fmla="*/ f26 1 f2"/>
                <a:gd name="f35" fmla="*/ f28 1 103"/>
                <a:gd name="f36" fmla="*/ f29 1 103"/>
                <a:gd name="f37" fmla="*/ f30 1 103"/>
                <a:gd name="f38" fmla="*/ f31 1 103"/>
                <a:gd name="f39" fmla="*/ f32 1 103"/>
                <a:gd name="f40" fmla="*/ f33 1 103"/>
                <a:gd name="f41" fmla="*/ 0 1 f27"/>
                <a:gd name="f42" fmla="*/ f6 1 f27"/>
                <a:gd name="f43" fmla="+- f34 0 f1"/>
                <a:gd name="f44" fmla="*/ f35 1 f27"/>
                <a:gd name="f45" fmla="*/ f36 1 f27"/>
                <a:gd name="f46" fmla="*/ f37 1 f27"/>
                <a:gd name="f47" fmla="*/ f38 1 f27"/>
                <a:gd name="f48" fmla="*/ f39 1 f27"/>
                <a:gd name="f49" fmla="*/ f40 1 f27"/>
                <a:gd name="f50" fmla="*/ f41 f23 1"/>
                <a:gd name="f51" fmla="*/ f42 f23 1"/>
                <a:gd name="f52" fmla="*/ f42 f24 1"/>
                <a:gd name="f53" fmla="*/ f41 f24 1"/>
                <a:gd name="f54" fmla="*/ f44 f23 1"/>
                <a:gd name="f55" fmla="*/ f45 f24 1"/>
                <a:gd name="f56" fmla="*/ f46 f23 1"/>
                <a:gd name="f57" fmla="*/ f44 f24 1"/>
                <a:gd name="f58" fmla="*/ f47 f23 1"/>
                <a:gd name="f59" fmla="*/ f46 f24 1"/>
                <a:gd name="f60" fmla="*/ f48 f23 1"/>
                <a:gd name="f61" fmla="*/ f49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4" y="f55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54" y="f55"/>
                </a:cxn>
              </a:cxnLst>
              <a:rect l="f50" t="f53" r="f51" b="f52"/>
              <a:pathLst>
                <a:path w="103" h="103">
                  <a:moveTo>
                    <a:pt x="f7" y="f8"/>
                  </a:moveTo>
                  <a:cubicBezTo>
                    <a:pt x="f9" y="f10"/>
                    <a:pt x="f11" y="f5"/>
                    <a:pt x="f12" y="f7"/>
                  </a:cubicBezTo>
                  <a:cubicBezTo>
                    <a:pt x="f13" y="f9"/>
                    <a:pt x="f6" y="f11"/>
                    <a:pt x="f14" y="f12"/>
                  </a:cubicBezTo>
                  <a:cubicBezTo>
                    <a:pt x="f15" y="f13"/>
                    <a:pt x="f16" y="f6"/>
                    <a:pt x="f17" y="f18"/>
                  </a:cubicBezTo>
                  <a:cubicBezTo>
                    <a:pt x="f19" y="f20"/>
                    <a:pt x="f5" y="f21"/>
                    <a:pt x="f7" y="f8"/>
                  </a:cubicBezTo>
                  <a:close/>
                </a:path>
              </a:pathLst>
            </a:custGeom>
            <a:solidFill>
              <a:srgbClr val="71EAE1"/>
            </a:solidFill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2" name="Freeform 145">
              <a:extLst>
                <a:ext uri="{FF2B5EF4-FFF2-40B4-BE49-F238E27FC236}">
                  <a16:creationId xmlns:a16="http://schemas.microsoft.com/office/drawing/2014/main" id="{B3ECBA4A-F202-3708-4EC2-A4D963F86EEA}"/>
                </a:ext>
              </a:extLst>
            </p:cNvPr>
            <p:cNvSpPr/>
            <p:nvPr/>
          </p:nvSpPr>
          <p:spPr>
            <a:xfrm>
              <a:off x="8819360" y="3858091"/>
              <a:ext cx="376357" cy="3661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5"/>
                <a:gd name="f7" fmla="val 287"/>
                <a:gd name="f8" fmla="val 160"/>
                <a:gd name="f9" fmla="val 25"/>
                <a:gd name="f10" fmla="val 117"/>
                <a:gd name="f11" fmla="val 14"/>
                <a:gd name="f12" fmla="val 71"/>
                <a:gd name="f13" fmla="val 59"/>
                <a:gd name="f14" fmla="val 55"/>
                <a:gd name="f15" fmla="val 79"/>
                <a:gd name="f16" fmla="val 11"/>
                <a:gd name="f17" fmla="val 129"/>
                <a:gd name="f18" fmla="val 22"/>
                <a:gd name="f19" fmla="val 173"/>
                <a:gd name="f20" fmla="val 205"/>
                <a:gd name="f21" fmla="val 38"/>
                <a:gd name="f22" fmla="val 254"/>
                <a:gd name="f23" fmla="val 43"/>
                <a:gd name="f24" fmla="val 259"/>
                <a:gd name="f25" fmla="val 92"/>
                <a:gd name="f26" fmla="val 127"/>
                <a:gd name="f27" fmla="val 270"/>
                <a:gd name="f28" fmla="val 168"/>
                <a:gd name="f29" fmla="val 278"/>
                <a:gd name="f30" fmla="val 213"/>
                <a:gd name="f31" fmla="val 235"/>
                <a:gd name="f32" fmla="val 230"/>
                <a:gd name="f33" fmla="val 214"/>
                <a:gd name="f34" fmla="val 275"/>
                <a:gd name="f35" fmla="val 167"/>
                <a:gd name="f36" fmla="val 263"/>
                <a:gd name="f37" fmla="val 122"/>
                <a:gd name="f38" fmla="val 90"/>
                <a:gd name="f39" fmla="val 249"/>
                <a:gd name="f40" fmla="val 41"/>
                <a:gd name="f41" fmla="val 243"/>
                <a:gd name="f42" fmla="val 36"/>
                <a:gd name="f43" fmla="val 194"/>
                <a:gd name="f44" fmla="+- 0 0 -90"/>
                <a:gd name="f45" fmla="*/ f3 1 295"/>
                <a:gd name="f46" fmla="*/ f4 1 287"/>
                <a:gd name="f47" fmla="+- f7 0 f5"/>
                <a:gd name="f48" fmla="+- f6 0 f5"/>
                <a:gd name="f49" fmla="*/ f44 f0 1"/>
                <a:gd name="f50" fmla="*/ f48 1 295"/>
                <a:gd name="f51" fmla="*/ f47 1 287"/>
                <a:gd name="f52" fmla="*/ 0 f48 1"/>
                <a:gd name="f53" fmla="*/ 160 f47 1"/>
                <a:gd name="f54" fmla="*/ 25 f48 1"/>
                <a:gd name="f55" fmla="*/ 117 f47 1"/>
                <a:gd name="f56" fmla="*/ 14 f48 1"/>
                <a:gd name="f57" fmla="*/ 71 f47 1"/>
                <a:gd name="f58" fmla="*/ 59 f48 1"/>
                <a:gd name="f59" fmla="*/ 55 f47 1"/>
                <a:gd name="f60" fmla="*/ 79 f48 1"/>
                <a:gd name="f61" fmla="*/ 11 f47 1"/>
                <a:gd name="f62" fmla="*/ 129 f48 1"/>
                <a:gd name="f63" fmla="*/ 22 f47 1"/>
                <a:gd name="f64" fmla="*/ 173 f48 1"/>
                <a:gd name="f65" fmla="*/ 0 f47 1"/>
                <a:gd name="f66" fmla="*/ 205 f48 1"/>
                <a:gd name="f67" fmla="*/ 38 f47 1"/>
                <a:gd name="f68" fmla="*/ 254 f48 1"/>
                <a:gd name="f69" fmla="*/ 43 f47 1"/>
                <a:gd name="f70" fmla="*/ 259 f48 1"/>
                <a:gd name="f71" fmla="*/ 92 f47 1"/>
                <a:gd name="f72" fmla="*/ 295 f48 1"/>
                <a:gd name="f73" fmla="*/ 127 f47 1"/>
                <a:gd name="f74" fmla="*/ 270 f48 1"/>
                <a:gd name="f75" fmla="*/ 168 f47 1"/>
                <a:gd name="f76" fmla="*/ 278 f48 1"/>
                <a:gd name="f77" fmla="*/ 213 f47 1"/>
                <a:gd name="f78" fmla="*/ 235 f48 1"/>
                <a:gd name="f79" fmla="*/ 230 f47 1"/>
                <a:gd name="f80" fmla="*/ 214 f48 1"/>
                <a:gd name="f81" fmla="*/ 275 f47 1"/>
                <a:gd name="f82" fmla="*/ 167 f48 1"/>
                <a:gd name="f83" fmla="*/ 263 f47 1"/>
                <a:gd name="f84" fmla="*/ 122 f48 1"/>
                <a:gd name="f85" fmla="*/ 287 f47 1"/>
                <a:gd name="f86" fmla="*/ 90 f48 1"/>
                <a:gd name="f87" fmla="*/ 249 f47 1"/>
                <a:gd name="f88" fmla="*/ 41 f48 1"/>
                <a:gd name="f89" fmla="*/ 243 f47 1"/>
                <a:gd name="f90" fmla="*/ 36 f48 1"/>
                <a:gd name="f91" fmla="*/ 194 f47 1"/>
                <a:gd name="f92" fmla="*/ f49 1 f2"/>
                <a:gd name="f93" fmla="*/ f52 1 295"/>
                <a:gd name="f94" fmla="*/ f53 1 287"/>
                <a:gd name="f95" fmla="*/ f54 1 295"/>
                <a:gd name="f96" fmla="*/ f55 1 287"/>
                <a:gd name="f97" fmla="*/ f56 1 295"/>
                <a:gd name="f98" fmla="*/ f57 1 287"/>
                <a:gd name="f99" fmla="*/ f58 1 295"/>
                <a:gd name="f100" fmla="*/ f59 1 287"/>
                <a:gd name="f101" fmla="*/ f60 1 295"/>
                <a:gd name="f102" fmla="*/ f61 1 287"/>
                <a:gd name="f103" fmla="*/ f62 1 295"/>
                <a:gd name="f104" fmla="*/ f63 1 287"/>
                <a:gd name="f105" fmla="*/ f64 1 295"/>
                <a:gd name="f106" fmla="*/ f65 1 287"/>
                <a:gd name="f107" fmla="*/ f66 1 295"/>
                <a:gd name="f108" fmla="*/ f67 1 287"/>
                <a:gd name="f109" fmla="*/ f68 1 295"/>
                <a:gd name="f110" fmla="*/ f69 1 287"/>
                <a:gd name="f111" fmla="*/ f70 1 295"/>
                <a:gd name="f112" fmla="*/ f71 1 287"/>
                <a:gd name="f113" fmla="*/ f72 1 295"/>
                <a:gd name="f114" fmla="*/ f73 1 287"/>
                <a:gd name="f115" fmla="*/ f74 1 295"/>
                <a:gd name="f116" fmla="*/ f75 1 287"/>
                <a:gd name="f117" fmla="*/ f76 1 295"/>
                <a:gd name="f118" fmla="*/ f77 1 287"/>
                <a:gd name="f119" fmla="*/ f78 1 295"/>
                <a:gd name="f120" fmla="*/ f79 1 287"/>
                <a:gd name="f121" fmla="*/ f80 1 295"/>
                <a:gd name="f122" fmla="*/ f81 1 287"/>
                <a:gd name="f123" fmla="*/ f82 1 295"/>
                <a:gd name="f124" fmla="*/ f83 1 287"/>
                <a:gd name="f125" fmla="*/ f84 1 295"/>
                <a:gd name="f126" fmla="*/ f85 1 287"/>
                <a:gd name="f127" fmla="*/ f86 1 295"/>
                <a:gd name="f128" fmla="*/ f87 1 287"/>
                <a:gd name="f129" fmla="*/ f88 1 295"/>
                <a:gd name="f130" fmla="*/ f89 1 287"/>
                <a:gd name="f131" fmla="*/ f90 1 295"/>
                <a:gd name="f132" fmla="*/ f91 1 287"/>
                <a:gd name="f133" fmla="*/ 0 1 f50"/>
                <a:gd name="f134" fmla="*/ f6 1 f50"/>
                <a:gd name="f135" fmla="*/ 0 1 f51"/>
                <a:gd name="f136" fmla="*/ f7 1 f51"/>
                <a:gd name="f137" fmla="+- f92 0 f1"/>
                <a:gd name="f138" fmla="*/ f93 1 f50"/>
                <a:gd name="f139" fmla="*/ f94 1 f51"/>
                <a:gd name="f140" fmla="*/ f95 1 f50"/>
                <a:gd name="f141" fmla="*/ f96 1 f51"/>
                <a:gd name="f142" fmla="*/ f97 1 f50"/>
                <a:gd name="f143" fmla="*/ f98 1 f51"/>
                <a:gd name="f144" fmla="*/ f99 1 f50"/>
                <a:gd name="f145" fmla="*/ f100 1 f51"/>
                <a:gd name="f146" fmla="*/ f101 1 f50"/>
                <a:gd name="f147" fmla="*/ f102 1 f51"/>
                <a:gd name="f148" fmla="*/ f103 1 f50"/>
                <a:gd name="f149" fmla="*/ f104 1 f51"/>
                <a:gd name="f150" fmla="*/ f105 1 f50"/>
                <a:gd name="f151" fmla="*/ f106 1 f51"/>
                <a:gd name="f152" fmla="*/ f107 1 f50"/>
                <a:gd name="f153" fmla="*/ f108 1 f51"/>
                <a:gd name="f154" fmla="*/ f109 1 f50"/>
                <a:gd name="f155" fmla="*/ f110 1 f51"/>
                <a:gd name="f156" fmla="*/ f111 1 f50"/>
                <a:gd name="f157" fmla="*/ f112 1 f51"/>
                <a:gd name="f158" fmla="*/ f113 1 f50"/>
                <a:gd name="f159" fmla="*/ f114 1 f51"/>
                <a:gd name="f160" fmla="*/ f115 1 f50"/>
                <a:gd name="f161" fmla="*/ f116 1 f51"/>
                <a:gd name="f162" fmla="*/ f117 1 f50"/>
                <a:gd name="f163" fmla="*/ f118 1 f51"/>
                <a:gd name="f164" fmla="*/ f119 1 f50"/>
                <a:gd name="f165" fmla="*/ f120 1 f51"/>
                <a:gd name="f166" fmla="*/ f121 1 f50"/>
                <a:gd name="f167" fmla="*/ f122 1 f51"/>
                <a:gd name="f168" fmla="*/ f123 1 f50"/>
                <a:gd name="f169" fmla="*/ f124 1 f51"/>
                <a:gd name="f170" fmla="*/ f125 1 f50"/>
                <a:gd name="f171" fmla="*/ f126 1 f51"/>
                <a:gd name="f172" fmla="*/ f127 1 f50"/>
                <a:gd name="f173" fmla="*/ f128 1 f51"/>
                <a:gd name="f174" fmla="*/ f129 1 f50"/>
                <a:gd name="f175" fmla="*/ f130 1 f51"/>
                <a:gd name="f176" fmla="*/ f131 1 f50"/>
                <a:gd name="f177" fmla="*/ f132 1 f51"/>
                <a:gd name="f178" fmla="*/ f133 f45 1"/>
                <a:gd name="f179" fmla="*/ f134 f45 1"/>
                <a:gd name="f180" fmla="*/ f136 f46 1"/>
                <a:gd name="f181" fmla="*/ f135 f46 1"/>
                <a:gd name="f182" fmla="*/ f138 f45 1"/>
                <a:gd name="f183" fmla="*/ f139 f46 1"/>
                <a:gd name="f184" fmla="*/ f140 f45 1"/>
                <a:gd name="f185" fmla="*/ f141 f46 1"/>
                <a:gd name="f186" fmla="*/ f142 f45 1"/>
                <a:gd name="f187" fmla="*/ f143 f46 1"/>
                <a:gd name="f188" fmla="*/ f144 f45 1"/>
                <a:gd name="f189" fmla="*/ f145 f46 1"/>
                <a:gd name="f190" fmla="*/ f146 f45 1"/>
                <a:gd name="f191" fmla="*/ f147 f46 1"/>
                <a:gd name="f192" fmla="*/ f148 f45 1"/>
                <a:gd name="f193" fmla="*/ f149 f46 1"/>
                <a:gd name="f194" fmla="*/ f150 f45 1"/>
                <a:gd name="f195" fmla="*/ f151 f46 1"/>
                <a:gd name="f196" fmla="*/ f152 f45 1"/>
                <a:gd name="f197" fmla="*/ f153 f46 1"/>
                <a:gd name="f198" fmla="*/ f154 f45 1"/>
                <a:gd name="f199" fmla="*/ f155 f46 1"/>
                <a:gd name="f200" fmla="*/ f156 f45 1"/>
                <a:gd name="f201" fmla="*/ f157 f46 1"/>
                <a:gd name="f202" fmla="*/ f158 f45 1"/>
                <a:gd name="f203" fmla="*/ f159 f46 1"/>
                <a:gd name="f204" fmla="*/ f160 f45 1"/>
                <a:gd name="f205" fmla="*/ f161 f46 1"/>
                <a:gd name="f206" fmla="*/ f162 f45 1"/>
                <a:gd name="f207" fmla="*/ f163 f46 1"/>
                <a:gd name="f208" fmla="*/ f164 f45 1"/>
                <a:gd name="f209" fmla="*/ f165 f46 1"/>
                <a:gd name="f210" fmla="*/ f166 f45 1"/>
                <a:gd name="f211" fmla="*/ f167 f46 1"/>
                <a:gd name="f212" fmla="*/ f168 f45 1"/>
                <a:gd name="f213" fmla="*/ f169 f46 1"/>
                <a:gd name="f214" fmla="*/ f170 f45 1"/>
                <a:gd name="f215" fmla="*/ f171 f46 1"/>
                <a:gd name="f216" fmla="*/ f172 f45 1"/>
                <a:gd name="f217" fmla="*/ f173 f46 1"/>
                <a:gd name="f218" fmla="*/ f174 f45 1"/>
                <a:gd name="f219" fmla="*/ f175 f46 1"/>
                <a:gd name="f220" fmla="*/ f176 f45 1"/>
                <a:gd name="f221" fmla="*/ f177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37">
                  <a:pos x="f182" y="f183"/>
                </a:cxn>
                <a:cxn ang="f137">
                  <a:pos x="f184" y="f185"/>
                </a:cxn>
                <a:cxn ang="f137">
                  <a:pos x="f186" y="f187"/>
                </a:cxn>
                <a:cxn ang="f137">
                  <a:pos x="f188" y="f189"/>
                </a:cxn>
                <a:cxn ang="f137">
                  <a:pos x="f190" y="f191"/>
                </a:cxn>
                <a:cxn ang="f137">
                  <a:pos x="f192" y="f193"/>
                </a:cxn>
                <a:cxn ang="f137">
                  <a:pos x="f194" y="f195"/>
                </a:cxn>
                <a:cxn ang="f137">
                  <a:pos x="f196" y="f197"/>
                </a:cxn>
                <a:cxn ang="f137">
                  <a:pos x="f198" y="f199"/>
                </a:cxn>
                <a:cxn ang="f137">
                  <a:pos x="f200" y="f201"/>
                </a:cxn>
                <a:cxn ang="f137">
                  <a:pos x="f202" y="f203"/>
                </a:cxn>
                <a:cxn ang="f137">
                  <a:pos x="f204" y="f205"/>
                </a:cxn>
                <a:cxn ang="f137">
                  <a:pos x="f206" y="f207"/>
                </a:cxn>
                <a:cxn ang="f137">
                  <a:pos x="f208" y="f209"/>
                </a:cxn>
                <a:cxn ang="f137">
                  <a:pos x="f210" y="f211"/>
                </a:cxn>
                <a:cxn ang="f137">
                  <a:pos x="f212" y="f213"/>
                </a:cxn>
                <a:cxn ang="f137">
                  <a:pos x="f214" y="f215"/>
                </a:cxn>
                <a:cxn ang="f137">
                  <a:pos x="f216" y="f217"/>
                </a:cxn>
                <a:cxn ang="f137">
                  <a:pos x="f218" y="f219"/>
                </a:cxn>
                <a:cxn ang="f137">
                  <a:pos x="f220" y="f221"/>
                </a:cxn>
                <a:cxn ang="f137">
                  <a:pos x="f182" y="f183"/>
                </a:cxn>
                <a:cxn ang="f137">
                  <a:pos x="f182" y="f183"/>
                </a:cxn>
                <a:cxn ang="f137">
                  <a:pos x="f182" y="f183"/>
                </a:cxn>
              </a:cxnLst>
              <a:rect l="f178" t="f181" r="f179" b="f180"/>
              <a:pathLst>
                <a:path w="295" h="287">
                  <a:moveTo>
                    <a:pt x="f5" y="f8"/>
                  </a:moveTo>
                  <a:lnTo>
                    <a:pt x="f9" y="f10"/>
                  </a:lnTo>
                  <a:lnTo>
                    <a:pt x="f11" y="f12"/>
                  </a:lnTo>
                  <a:lnTo>
                    <a:pt x="f13" y="f14"/>
                  </a:lnTo>
                  <a:lnTo>
                    <a:pt x="f15" y="f16"/>
                  </a:lnTo>
                  <a:lnTo>
                    <a:pt x="f17" y="f18"/>
                  </a:lnTo>
                  <a:lnTo>
                    <a:pt x="f19" y="f5"/>
                  </a:lnTo>
                  <a:lnTo>
                    <a:pt x="f20" y="f21"/>
                  </a:lnTo>
                  <a:lnTo>
                    <a:pt x="f22" y="f23"/>
                  </a:lnTo>
                  <a:lnTo>
                    <a:pt x="f24" y="f25"/>
                  </a:lnTo>
                  <a:lnTo>
                    <a:pt x="f6" y="f26"/>
                  </a:lnTo>
                  <a:lnTo>
                    <a:pt x="f27" y="f28"/>
                  </a:lnTo>
                  <a:lnTo>
                    <a:pt x="f29" y="f30"/>
                  </a:lnTo>
                  <a:lnTo>
                    <a:pt x="f31" y="f32"/>
                  </a:lnTo>
                  <a:lnTo>
                    <a:pt x="f33" y="f34"/>
                  </a:lnTo>
                  <a:lnTo>
                    <a:pt x="f35" y="f36"/>
                  </a:lnTo>
                  <a:lnTo>
                    <a:pt x="f37" y="f7"/>
                  </a:lnTo>
                  <a:lnTo>
                    <a:pt x="f38" y="f39"/>
                  </a:lnTo>
                  <a:lnTo>
                    <a:pt x="f40" y="f41"/>
                  </a:lnTo>
                  <a:lnTo>
                    <a:pt x="f42" y="f43"/>
                  </a:lnTo>
                  <a:lnTo>
                    <a:pt x="f5" y="f8"/>
                  </a:lnTo>
                  <a:lnTo>
                    <a:pt x="f5" y="f8"/>
                  </a:lnTo>
                  <a:lnTo>
                    <a:pt x="f5" y="f8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3" name="Freeform 146">
              <a:extLst>
                <a:ext uri="{FF2B5EF4-FFF2-40B4-BE49-F238E27FC236}">
                  <a16:creationId xmlns:a16="http://schemas.microsoft.com/office/drawing/2014/main" id="{7DDA2088-D754-5C6D-F5AF-F3059FF050F1}"/>
                </a:ext>
              </a:extLst>
            </p:cNvPr>
            <p:cNvSpPr/>
            <p:nvPr/>
          </p:nvSpPr>
          <p:spPr>
            <a:xfrm>
              <a:off x="8918865" y="4175763"/>
              <a:ext cx="114821" cy="1888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"/>
                <a:gd name="f7" fmla="val 148"/>
                <a:gd name="f8" fmla="val 14"/>
                <a:gd name="f9" fmla="val 78"/>
                <a:gd name="f10" fmla="val 38"/>
                <a:gd name="f11" fmla="val 123"/>
                <a:gd name="f12" fmla="val 140"/>
                <a:gd name="f13" fmla="+- 0 0 -90"/>
                <a:gd name="f14" fmla="*/ f3 1 90"/>
                <a:gd name="f15" fmla="*/ f4 1 148"/>
                <a:gd name="f16" fmla="+- f7 0 f5"/>
                <a:gd name="f17" fmla="+- f6 0 f5"/>
                <a:gd name="f18" fmla="*/ f13 f0 1"/>
                <a:gd name="f19" fmla="*/ f17 1 90"/>
                <a:gd name="f20" fmla="*/ f16 1 148"/>
                <a:gd name="f21" fmla="*/ 90 f17 1"/>
                <a:gd name="f22" fmla="*/ 14 f16 1"/>
                <a:gd name="f23" fmla="*/ 78 f17 1"/>
                <a:gd name="f24" fmla="*/ 148 f16 1"/>
                <a:gd name="f25" fmla="*/ 38 f17 1"/>
                <a:gd name="f26" fmla="*/ 123 f16 1"/>
                <a:gd name="f27" fmla="*/ 0 f17 1"/>
                <a:gd name="f28" fmla="*/ 140 f16 1"/>
                <a:gd name="f29" fmla="*/ 14 f17 1"/>
                <a:gd name="f30" fmla="*/ 0 f16 1"/>
                <a:gd name="f31" fmla="*/ f18 1 f2"/>
                <a:gd name="f32" fmla="*/ f21 1 90"/>
                <a:gd name="f33" fmla="*/ f22 1 148"/>
                <a:gd name="f34" fmla="*/ f23 1 90"/>
                <a:gd name="f35" fmla="*/ f24 1 148"/>
                <a:gd name="f36" fmla="*/ f25 1 90"/>
                <a:gd name="f37" fmla="*/ f26 1 148"/>
                <a:gd name="f38" fmla="*/ f27 1 90"/>
                <a:gd name="f39" fmla="*/ f28 1 148"/>
                <a:gd name="f40" fmla="*/ f29 1 90"/>
                <a:gd name="f41" fmla="*/ f30 1 148"/>
                <a:gd name="f42" fmla="*/ 0 1 f19"/>
                <a:gd name="f43" fmla="*/ f6 1 f19"/>
                <a:gd name="f44" fmla="*/ 0 1 f20"/>
                <a:gd name="f45" fmla="*/ f7 1 f20"/>
                <a:gd name="f46" fmla="+- f31 0 f1"/>
                <a:gd name="f47" fmla="*/ f32 1 f19"/>
                <a:gd name="f48" fmla="*/ f33 1 f20"/>
                <a:gd name="f49" fmla="*/ f34 1 f19"/>
                <a:gd name="f50" fmla="*/ f35 1 f20"/>
                <a:gd name="f51" fmla="*/ f36 1 f19"/>
                <a:gd name="f52" fmla="*/ f37 1 f20"/>
                <a:gd name="f53" fmla="*/ f38 1 f19"/>
                <a:gd name="f54" fmla="*/ f39 1 f20"/>
                <a:gd name="f55" fmla="*/ f40 1 f19"/>
                <a:gd name="f56" fmla="*/ f41 1 f20"/>
                <a:gd name="f57" fmla="*/ f42 f14 1"/>
                <a:gd name="f58" fmla="*/ f43 f14 1"/>
                <a:gd name="f59" fmla="*/ f45 f15 1"/>
                <a:gd name="f60" fmla="*/ f44 f15 1"/>
                <a:gd name="f61" fmla="*/ f47 f14 1"/>
                <a:gd name="f62" fmla="*/ f48 f15 1"/>
                <a:gd name="f63" fmla="*/ f49 f14 1"/>
                <a:gd name="f64" fmla="*/ f50 f15 1"/>
                <a:gd name="f65" fmla="*/ f51 f14 1"/>
                <a:gd name="f66" fmla="*/ f52 f15 1"/>
                <a:gd name="f67" fmla="*/ f53 f14 1"/>
                <a:gd name="f68" fmla="*/ f54 f15 1"/>
                <a:gd name="f69" fmla="*/ f55 f14 1"/>
                <a:gd name="f70" fmla="*/ f5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61" y="f62"/>
                </a:cxn>
                <a:cxn ang="f46">
                  <a:pos x="f63" y="f64"/>
                </a:cxn>
                <a:cxn ang="f46">
                  <a:pos x="f65" y="f66"/>
                </a:cxn>
                <a:cxn ang="f46">
                  <a:pos x="f67" y="f68"/>
                </a:cxn>
                <a:cxn ang="f46">
                  <a:pos x="f69" y="f70"/>
                </a:cxn>
              </a:cxnLst>
              <a:rect l="f57" t="f60" r="f58" b="f59"/>
              <a:pathLst>
                <a:path w="90" h="148">
                  <a:moveTo>
                    <a:pt x="f6" y="f8"/>
                  </a:moveTo>
                  <a:lnTo>
                    <a:pt x="f9" y="f7"/>
                  </a:lnTo>
                  <a:lnTo>
                    <a:pt x="f10" y="f11"/>
                  </a:lnTo>
                  <a:lnTo>
                    <a:pt x="f5" y="f12"/>
                  </a:lnTo>
                  <a:lnTo>
                    <a:pt x="f8" y="f5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4" name="Freeform 147">
              <a:extLst>
                <a:ext uri="{FF2B5EF4-FFF2-40B4-BE49-F238E27FC236}">
                  <a16:creationId xmlns:a16="http://schemas.microsoft.com/office/drawing/2014/main" id="{DE71F454-7C3D-38AF-8DC8-5824DADAB627}"/>
                </a:ext>
              </a:extLst>
            </p:cNvPr>
            <p:cNvSpPr/>
            <p:nvPr/>
          </p:nvSpPr>
          <p:spPr>
            <a:xfrm>
              <a:off x="8732602" y="4105591"/>
              <a:ext cx="204121" cy="17350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0"/>
                <a:gd name="f7" fmla="val 136"/>
                <a:gd name="f8" fmla="val 103"/>
                <a:gd name="f9" fmla="val 73"/>
                <a:gd name="f10" fmla="val 38"/>
                <a:gd name="f11" fmla="val 93"/>
                <a:gd name="f12" fmla="val 44"/>
                <a:gd name="f13" fmla="val 55"/>
                <a:gd name="f14" fmla="+- 0 0 -90"/>
                <a:gd name="f15" fmla="*/ f3 1 160"/>
                <a:gd name="f16" fmla="*/ f4 1 136"/>
                <a:gd name="f17" fmla="+- f7 0 f5"/>
                <a:gd name="f18" fmla="+- f6 0 f5"/>
                <a:gd name="f19" fmla="*/ f14 f0 1"/>
                <a:gd name="f20" fmla="*/ f18 1 160"/>
                <a:gd name="f21" fmla="*/ f17 1 136"/>
                <a:gd name="f22" fmla="*/ 103 f18 1"/>
                <a:gd name="f23" fmla="*/ 0 f17 1"/>
                <a:gd name="f24" fmla="*/ 0 f18 1"/>
                <a:gd name="f25" fmla="*/ 73 f17 1"/>
                <a:gd name="f26" fmla="*/ 38 f18 1"/>
                <a:gd name="f27" fmla="*/ 93 f17 1"/>
                <a:gd name="f28" fmla="*/ 44 f18 1"/>
                <a:gd name="f29" fmla="*/ 136 f17 1"/>
                <a:gd name="f30" fmla="*/ 160 f18 1"/>
                <a:gd name="f31" fmla="*/ 55 f17 1"/>
                <a:gd name="f32" fmla="*/ f19 1 f2"/>
                <a:gd name="f33" fmla="*/ f22 1 160"/>
                <a:gd name="f34" fmla="*/ f23 1 136"/>
                <a:gd name="f35" fmla="*/ f24 1 160"/>
                <a:gd name="f36" fmla="*/ f25 1 136"/>
                <a:gd name="f37" fmla="*/ f26 1 160"/>
                <a:gd name="f38" fmla="*/ f27 1 136"/>
                <a:gd name="f39" fmla="*/ f28 1 160"/>
                <a:gd name="f40" fmla="*/ f29 1 136"/>
                <a:gd name="f41" fmla="*/ f30 1 160"/>
                <a:gd name="f42" fmla="*/ f31 1 136"/>
                <a:gd name="f43" fmla="*/ 0 1 f20"/>
                <a:gd name="f44" fmla="*/ f6 1 f20"/>
                <a:gd name="f45" fmla="*/ 0 1 f21"/>
                <a:gd name="f46" fmla="*/ f7 1 f21"/>
                <a:gd name="f47" fmla="+- f32 0 f1"/>
                <a:gd name="f48" fmla="*/ f33 1 f20"/>
                <a:gd name="f49" fmla="*/ f34 1 f21"/>
                <a:gd name="f50" fmla="*/ f35 1 f20"/>
                <a:gd name="f51" fmla="*/ f36 1 f21"/>
                <a:gd name="f52" fmla="*/ f37 1 f20"/>
                <a:gd name="f53" fmla="*/ f38 1 f21"/>
                <a:gd name="f54" fmla="*/ f39 1 f20"/>
                <a:gd name="f55" fmla="*/ f40 1 f21"/>
                <a:gd name="f56" fmla="*/ f41 1 f20"/>
                <a:gd name="f57" fmla="*/ f42 1 f21"/>
                <a:gd name="f58" fmla="*/ f43 f15 1"/>
                <a:gd name="f59" fmla="*/ f44 f15 1"/>
                <a:gd name="f60" fmla="*/ f46 f16 1"/>
                <a:gd name="f61" fmla="*/ f45 f16 1"/>
                <a:gd name="f62" fmla="*/ f48 f15 1"/>
                <a:gd name="f63" fmla="*/ f49 f16 1"/>
                <a:gd name="f64" fmla="*/ f50 f15 1"/>
                <a:gd name="f65" fmla="*/ f51 f16 1"/>
                <a:gd name="f66" fmla="*/ f52 f15 1"/>
                <a:gd name="f67" fmla="*/ f53 f16 1"/>
                <a:gd name="f68" fmla="*/ f54 f15 1"/>
                <a:gd name="f69" fmla="*/ f55 f16 1"/>
                <a:gd name="f70" fmla="*/ f56 f15 1"/>
                <a:gd name="f71" fmla="*/ f57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7">
                  <a:pos x="f62" y="f63"/>
                </a:cxn>
                <a:cxn ang="f47">
                  <a:pos x="f64" y="f65"/>
                </a:cxn>
                <a:cxn ang="f47">
                  <a:pos x="f66" y="f67"/>
                </a:cxn>
                <a:cxn ang="f47">
                  <a:pos x="f68" y="f69"/>
                </a:cxn>
                <a:cxn ang="f47">
                  <a:pos x="f70" y="f71"/>
                </a:cxn>
              </a:cxnLst>
              <a:rect l="f58" t="f61" r="f59" b="f60"/>
              <a:pathLst>
                <a:path w="160" h="136">
                  <a:moveTo>
                    <a:pt x="f8" y="f5"/>
                  </a:moveTo>
                  <a:lnTo>
                    <a:pt x="f5" y="f9"/>
                  </a:lnTo>
                  <a:lnTo>
                    <a:pt x="f10" y="f11"/>
                  </a:lnTo>
                  <a:lnTo>
                    <a:pt x="f12" y="f7"/>
                  </a:lnTo>
                  <a:lnTo>
                    <a:pt x="f6" y="f13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5" name="Line 148">
              <a:extLst>
                <a:ext uri="{FF2B5EF4-FFF2-40B4-BE49-F238E27FC236}">
                  <a16:creationId xmlns:a16="http://schemas.microsoft.com/office/drawing/2014/main" id="{E2B1D8AF-D927-98B7-B861-66ECB09BB55E}"/>
                </a:ext>
              </a:extLst>
            </p:cNvPr>
            <p:cNvSpPr/>
            <p:nvPr/>
          </p:nvSpPr>
          <p:spPr>
            <a:xfrm flipH="1">
              <a:off x="8712192" y="3800676"/>
              <a:ext cx="153097" cy="26791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6" name="Line 149">
              <a:extLst>
                <a:ext uri="{FF2B5EF4-FFF2-40B4-BE49-F238E27FC236}">
                  <a16:creationId xmlns:a16="http://schemas.microsoft.com/office/drawing/2014/main" id="{5D37D690-D648-F966-EF7F-9CF0E1E47D0E}"/>
                </a:ext>
              </a:extLst>
            </p:cNvPr>
            <p:cNvSpPr/>
            <p:nvPr/>
          </p:nvSpPr>
          <p:spPr>
            <a:xfrm flipH="1">
              <a:off x="9080897" y="4233169"/>
              <a:ext cx="79095" cy="13906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7" name="Line 150">
              <a:extLst>
                <a:ext uri="{FF2B5EF4-FFF2-40B4-BE49-F238E27FC236}">
                  <a16:creationId xmlns:a16="http://schemas.microsoft.com/office/drawing/2014/main" id="{578C819B-A0B6-EA22-936E-63C1C5DBC796}"/>
                </a:ext>
              </a:extLst>
            </p:cNvPr>
            <p:cNvSpPr/>
            <p:nvPr/>
          </p:nvSpPr>
          <p:spPr>
            <a:xfrm flipH="1">
              <a:off x="9188055" y="3883603"/>
              <a:ext cx="42098" cy="7399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97529" y="2625535"/>
            <a:ext cx="7239000" cy="1325562"/>
          </a:xfrm>
        </p:spPr>
        <p:txBody>
          <a:bodyPr/>
          <a:lstStyle/>
          <a:p>
            <a:r>
              <a:rPr sz="2200" b="1">
                <a:solidFill>
                  <a:srgbClr val="1A2747"/>
                </a:solidFill>
              </a:rPr>
              <a:t>How has The Private Clinic's average rating trended over time?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292608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Average Rating of The Private Clinic · 2014–2019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7772400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261872"/>
            <a:ext cx="3657600" cy="32918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307592"/>
            <a:ext cx="10999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A2747"/>
                </a:solidFill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42929"/>
            <a:ext cx="347472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Ratings dipped in 2015 (4.53) before recovering strongly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Consistent improvement from 2015 to 2019, reaching 4.78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Overall all-time average stands at 4.72 — well above industry benchmarks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2019 marks the highest rated year across the full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How has The Private Clinic's average rating trended over time?</a:t>
            </a:r>
          </a:p>
        </p:txBody>
      </p:sp>
      <p:grpSp>
        <p:nvGrpSpPr>
          <p:cNvPr id="9" name="Group 231">
            <a:extLst>
              <a:ext uri="{FF2B5EF4-FFF2-40B4-BE49-F238E27FC236}">
                <a16:creationId xmlns:a16="http://schemas.microsoft.com/office/drawing/2014/main" id="{3261EA8B-9BE3-2BFC-4618-A6B2B550B7A5}"/>
              </a:ext>
            </a:extLst>
          </p:cNvPr>
          <p:cNvGrpSpPr/>
          <p:nvPr/>
        </p:nvGrpSpPr>
        <p:grpSpPr>
          <a:xfrm>
            <a:off x="11175798" y="3836047"/>
            <a:ext cx="504748" cy="571545"/>
            <a:chOff x="10622603" y="2542781"/>
            <a:chExt cx="504748" cy="571545"/>
          </a:xfrm>
        </p:grpSpPr>
        <p:sp>
          <p:nvSpPr>
            <p:cNvPr id="10" name="Freeform 232">
              <a:extLst>
                <a:ext uri="{FF2B5EF4-FFF2-40B4-BE49-F238E27FC236}">
                  <a16:creationId xmlns:a16="http://schemas.microsoft.com/office/drawing/2014/main" id="{AA045378-EF29-FC5F-55C0-3DD36D8BCBF2}"/>
                </a:ext>
              </a:extLst>
            </p:cNvPr>
            <p:cNvSpPr/>
            <p:nvPr/>
          </p:nvSpPr>
          <p:spPr>
            <a:xfrm>
              <a:off x="10837861" y="2613291"/>
              <a:ext cx="183090" cy="1830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2"/>
                <a:gd name="f7" fmla="val 131"/>
                <a:gd name="f8" fmla="val 249"/>
                <a:gd name="f9" fmla="val 145"/>
                <a:gd name="f10" fmla="val 246"/>
                <a:gd name="f11" fmla="val 159"/>
                <a:gd name="f12" fmla="val 243"/>
                <a:gd name="f13" fmla="val 173"/>
                <a:gd name="f14" fmla="val 236"/>
                <a:gd name="f15" fmla="val 172"/>
                <a:gd name="f16" fmla="val 230"/>
                <a:gd name="f17" fmla="val 170"/>
                <a:gd name="f18" fmla="val 223"/>
                <a:gd name="f19" fmla="val 169"/>
                <a:gd name="f20" fmla="val 216"/>
                <a:gd name="f21" fmla="val 168"/>
                <a:gd name="f22" fmla="val 212"/>
                <a:gd name="f23" fmla="val 209"/>
                <a:gd name="f24" fmla="val 174"/>
                <a:gd name="f25" fmla="val 206"/>
                <a:gd name="f26" fmla="val 179"/>
                <a:gd name="f27" fmla="val 207"/>
                <a:gd name="f28" fmla="val 183"/>
                <a:gd name="f29" fmla="val 189"/>
                <a:gd name="f30" fmla="val 194"/>
                <a:gd name="f31" fmla="val 220"/>
                <a:gd name="f32" fmla="val 198"/>
                <a:gd name="f33" fmla="val 225"/>
                <a:gd name="f34" fmla="val 204"/>
                <a:gd name="f35" fmla="val 215"/>
                <a:gd name="f36" fmla="val 214"/>
                <a:gd name="f37" fmla="val 193"/>
                <a:gd name="f38" fmla="val 233"/>
                <a:gd name="f39" fmla="val 188"/>
                <a:gd name="f40" fmla="val 227"/>
                <a:gd name="f41" fmla="val 184"/>
                <a:gd name="f42" fmla="val 222"/>
                <a:gd name="f43" fmla="val 217"/>
                <a:gd name="f44" fmla="val 175"/>
                <a:gd name="f45" fmla="val 213"/>
                <a:gd name="f46" fmla="val 171"/>
                <a:gd name="f47" fmla="val 211"/>
                <a:gd name="f48" fmla="val 165"/>
                <a:gd name="f49" fmla="val 160"/>
                <a:gd name="f50" fmla="val 158"/>
                <a:gd name="f51" fmla="val 219"/>
                <a:gd name="f52" fmla="val 240"/>
                <a:gd name="f53" fmla="val 161"/>
                <a:gd name="f54" fmla="val 247"/>
                <a:gd name="f55" fmla="val 147"/>
                <a:gd name="f56" fmla="val 133"/>
                <a:gd name="f57" fmla="val 250"/>
                <a:gd name="f58" fmla="val 118"/>
                <a:gd name="f59" fmla="val 117"/>
                <a:gd name="f60" fmla="val 116"/>
                <a:gd name="f61" fmla="val 239"/>
                <a:gd name="f62" fmla="val 234"/>
                <a:gd name="f63" fmla="val 115"/>
                <a:gd name="f64" fmla="val 112"/>
                <a:gd name="f65" fmla="val 221"/>
                <a:gd name="f66" fmla="val 106"/>
                <a:gd name="f67" fmla="val 101"/>
                <a:gd name="f68" fmla="val 218"/>
                <a:gd name="f69" fmla="val 97"/>
                <a:gd name="f70" fmla="val 94"/>
                <a:gd name="f71" fmla="val 91"/>
                <a:gd name="f72" fmla="val 231"/>
                <a:gd name="f73" fmla="val 87"/>
                <a:gd name="f74" fmla="val 237"/>
                <a:gd name="f75" fmla="val 84"/>
                <a:gd name="f76" fmla="val 244"/>
                <a:gd name="f77" fmla="val 70"/>
                <a:gd name="f78" fmla="val 238"/>
                <a:gd name="f79" fmla="val 59"/>
                <a:gd name="f80" fmla="val 46"/>
                <a:gd name="f81" fmla="val 48"/>
                <a:gd name="f82" fmla="val 50"/>
                <a:gd name="f83" fmla="val 51"/>
                <a:gd name="f84" fmla="val 53"/>
                <a:gd name="f85" fmla="val 55"/>
                <a:gd name="f86" fmla="val 57"/>
                <a:gd name="f87" fmla="val 203"/>
                <a:gd name="f88" fmla="val 190"/>
                <a:gd name="f89" fmla="val 52"/>
                <a:gd name="f90" fmla="val 186"/>
                <a:gd name="f91" fmla="val 185"/>
                <a:gd name="f92" fmla="val 43"/>
                <a:gd name="f93" fmla="val 187"/>
                <a:gd name="f94" fmla="val 39"/>
                <a:gd name="f95" fmla="val 36"/>
                <a:gd name="f96" fmla="val 32"/>
                <a:gd name="f97" fmla="val 192"/>
                <a:gd name="f98" fmla="val 29"/>
                <a:gd name="f99" fmla="val 26"/>
                <a:gd name="f100" fmla="val 21"/>
                <a:gd name="f101" fmla="val 196"/>
                <a:gd name="f102" fmla="val 16"/>
                <a:gd name="f103" fmla="val 10"/>
                <a:gd name="f104" fmla="val 4"/>
                <a:gd name="f105" fmla="val 157"/>
                <a:gd name="f106" fmla="val 154"/>
                <a:gd name="f107" fmla="val 151"/>
                <a:gd name="f108" fmla="val 22"/>
                <a:gd name="f109" fmla="val 149"/>
                <a:gd name="f110" fmla="val 30"/>
                <a:gd name="f111" fmla="val 142"/>
                <a:gd name="f112" fmla="val 31"/>
                <a:gd name="f113" fmla="val 136"/>
                <a:gd name="f114" fmla="val 129"/>
                <a:gd name="f115" fmla="val 127"/>
                <a:gd name="f116" fmla="val 20"/>
                <a:gd name="f117" fmla="val 126"/>
                <a:gd name="f118" fmla="val 14"/>
                <a:gd name="f119" fmla="val 125"/>
                <a:gd name="f120" fmla="val 8"/>
                <a:gd name="f121" fmla="val 123"/>
                <a:gd name="f122" fmla="val 121"/>
                <a:gd name="f123" fmla="val 3"/>
                <a:gd name="f124" fmla="val 107"/>
                <a:gd name="f125" fmla="val 6"/>
                <a:gd name="f126" fmla="val 9"/>
                <a:gd name="f127" fmla="val 79"/>
                <a:gd name="f128" fmla="val 81"/>
                <a:gd name="f129" fmla="val 82"/>
                <a:gd name="f130" fmla="val 83"/>
                <a:gd name="f131" fmla="val 85"/>
                <a:gd name="f132" fmla="val 41"/>
                <a:gd name="f133" fmla="val 44"/>
                <a:gd name="f134" fmla="val 78"/>
                <a:gd name="f135" fmla="val 47"/>
                <a:gd name="f136" fmla="val 71"/>
                <a:gd name="f137" fmla="val 66"/>
                <a:gd name="f138" fmla="val 62"/>
                <a:gd name="f139" fmla="val 35"/>
                <a:gd name="f140" fmla="val 58"/>
                <a:gd name="f141" fmla="val 27"/>
                <a:gd name="f142" fmla="val 37"/>
                <a:gd name="f143" fmla="val 38"/>
                <a:gd name="f144" fmla="val 63"/>
                <a:gd name="f145" fmla="val 24"/>
                <a:gd name="f146" fmla="val 67"/>
                <a:gd name="f147" fmla="val 28"/>
                <a:gd name="f148" fmla="val 72"/>
                <a:gd name="f149" fmla="val 34"/>
                <a:gd name="f150" fmla="val 74"/>
                <a:gd name="f151" fmla="val 77"/>
                <a:gd name="f152" fmla="val 80"/>
                <a:gd name="f153" fmla="val 40"/>
                <a:gd name="f154" fmla="val 88"/>
                <a:gd name="f155" fmla="val 92"/>
                <a:gd name="f156" fmla="val 33"/>
                <a:gd name="f157" fmla="val 93"/>
                <a:gd name="f158" fmla="val 13"/>
                <a:gd name="f159" fmla="val 5"/>
                <a:gd name="f160" fmla="val 120"/>
                <a:gd name="f161" fmla="val 2"/>
                <a:gd name="f162" fmla="val 135"/>
                <a:gd name="f163" fmla="val 15"/>
                <a:gd name="f164" fmla="val 137"/>
                <a:gd name="f165" fmla="val 138"/>
                <a:gd name="f166" fmla="val 140"/>
                <a:gd name="f167" fmla="val 150"/>
                <a:gd name="f168" fmla="val 155"/>
                <a:gd name="f169" fmla="val 162"/>
                <a:gd name="f170" fmla="val 176"/>
                <a:gd name="f171" fmla="val 11"/>
                <a:gd name="f172" fmla="val 205"/>
                <a:gd name="f173" fmla="val 201"/>
                <a:gd name="f174" fmla="val 199"/>
                <a:gd name="f175" fmla="val 49"/>
                <a:gd name="f176" fmla="val 54"/>
                <a:gd name="f177" fmla="val 197"/>
                <a:gd name="f178" fmla="val 200"/>
                <a:gd name="f179" fmla="val 65"/>
                <a:gd name="f180" fmla="val 64"/>
                <a:gd name="f181" fmla="val 60"/>
                <a:gd name="f182" fmla="val 56"/>
                <a:gd name="f183" fmla="val 69"/>
                <a:gd name="f184" fmla="val 76"/>
                <a:gd name="f185" fmla="val 245"/>
                <a:gd name="f186" fmla="val 95"/>
                <a:gd name="f187" fmla="val 98"/>
                <a:gd name="f188" fmla="val 100"/>
                <a:gd name="f189" fmla="val 232"/>
                <a:gd name="f190" fmla="val 103"/>
                <a:gd name="f191" fmla="val 104"/>
                <a:gd name="f192" fmla="val 228"/>
                <a:gd name="f193" fmla="val 105"/>
                <a:gd name="f194" fmla="val 226"/>
                <a:gd name="f195" fmla="val 109"/>
                <a:gd name="f196" fmla="+- 0 0 -90"/>
                <a:gd name="f197" fmla="*/ f3 1 252"/>
                <a:gd name="f198" fmla="*/ f4 1 252"/>
                <a:gd name="f199" fmla="+- f6 0 f5"/>
                <a:gd name="f200" fmla="*/ f196 f0 1"/>
                <a:gd name="f201" fmla="*/ f199 1 252"/>
                <a:gd name="f202" fmla="*/ 252 f199 1"/>
                <a:gd name="f203" fmla="*/ 131 f199 1"/>
                <a:gd name="f204" fmla="*/ 243 f199 1"/>
                <a:gd name="f205" fmla="*/ 173 f199 1"/>
                <a:gd name="f206" fmla="*/ 223 f199 1"/>
                <a:gd name="f207" fmla="*/ 169 f199 1"/>
                <a:gd name="f208" fmla="*/ 209 f199 1"/>
                <a:gd name="f209" fmla="*/ 174 f199 1"/>
                <a:gd name="f210" fmla="*/ 212 f199 1"/>
                <a:gd name="f211" fmla="*/ 189 f199 1"/>
                <a:gd name="f212" fmla="*/ 225 f199 1"/>
                <a:gd name="f213" fmla="*/ 204 f199 1"/>
                <a:gd name="f214" fmla="*/ 193 f199 1"/>
                <a:gd name="f215" fmla="*/ 233 f199 1"/>
                <a:gd name="f216" fmla="*/ 179 f199 1"/>
                <a:gd name="f217" fmla="*/ 217 f199 1"/>
                <a:gd name="f218" fmla="*/ 165 f199 1"/>
                <a:gd name="f219" fmla="*/ 213 f199 1"/>
                <a:gd name="f220" fmla="*/ 159 f199 1"/>
                <a:gd name="f221" fmla="*/ 227 f199 1"/>
                <a:gd name="f222" fmla="*/ 161 f199 1"/>
                <a:gd name="f223" fmla="*/ 247 f199 1"/>
                <a:gd name="f224" fmla="*/ 118 f199 1"/>
                <a:gd name="f225" fmla="*/ 117 f199 1"/>
                <a:gd name="f226" fmla="*/ 115 f199 1"/>
                <a:gd name="f227" fmla="*/ 230 f199 1"/>
                <a:gd name="f228" fmla="*/ 106 f199 1"/>
                <a:gd name="f229" fmla="*/ 220 f199 1"/>
                <a:gd name="f230" fmla="*/ 94 f199 1"/>
                <a:gd name="f231" fmla="*/ 84 f199 1"/>
                <a:gd name="f232" fmla="*/ 244 f199 1"/>
                <a:gd name="f233" fmla="*/ 46 f199 1"/>
                <a:gd name="f234" fmla="*/ 51 f199 1"/>
                <a:gd name="f235" fmla="*/ 57 f199 1"/>
                <a:gd name="f236" fmla="*/ 203 f199 1"/>
                <a:gd name="f237" fmla="*/ 55 f199 1"/>
                <a:gd name="f238" fmla="*/ 190 f199 1"/>
                <a:gd name="f239" fmla="*/ 43 f199 1"/>
                <a:gd name="f240" fmla="*/ 187 f199 1"/>
                <a:gd name="f241" fmla="*/ 32 f199 1"/>
                <a:gd name="f242" fmla="*/ 192 f199 1"/>
                <a:gd name="f243" fmla="*/ 21 f199 1"/>
                <a:gd name="f244" fmla="*/ 196 f199 1"/>
                <a:gd name="f245" fmla="*/ 4 f199 1"/>
                <a:gd name="f246" fmla="*/ 157 f199 1"/>
                <a:gd name="f247" fmla="*/ 22 f199 1"/>
                <a:gd name="f248" fmla="*/ 149 f199 1"/>
                <a:gd name="f249" fmla="*/ 31 f199 1"/>
                <a:gd name="f250" fmla="*/ 136 f199 1"/>
                <a:gd name="f251" fmla="*/ 20 f199 1"/>
                <a:gd name="f252" fmla="*/ 126 f199 1"/>
                <a:gd name="f253" fmla="*/ 0 f199 1"/>
                <a:gd name="f254" fmla="*/ 121 f199 1"/>
                <a:gd name="f255" fmla="*/ 9 f199 1"/>
                <a:gd name="f256" fmla="*/ 79 f199 1"/>
                <a:gd name="f257" fmla="*/ 26 f199 1"/>
                <a:gd name="f258" fmla="*/ 83 f199 1"/>
                <a:gd name="f259" fmla="*/ 44 f199 1"/>
                <a:gd name="f260" fmla="*/ 78 f199 1"/>
                <a:gd name="f261" fmla="*/ 39 f199 1"/>
                <a:gd name="f262" fmla="*/ 62 f199 1"/>
                <a:gd name="f263" fmla="*/ 27 f199 1"/>
                <a:gd name="f264" fmla="*/ 48 f199 1"/>
                <a:gd name="f265" fmla="*/ 59 f199 1"/>
                <a:gd name="f266" fmla="*/ 70 f199 1"/>
                <a:gd name="f267" fmla="*/ 77 f199 1"/>
                <a:gd name="f268" fmla="*/ 38 f199 1"/>
                <a:gd name="f269" fmla="*/ 88 f199 1"/>
                <a:gd name="f270" fmla="*/ 29 f199 1"/>
                <a:gd name="f271" fmla="*/ 92 f199 1"/>
                <a:gd name="f272" fmla="*/ 5 f199 1"/>
                <a:gd name="f273" fmla="*/ 135 f199 1"/>
                <a:gd name="f274" fmla="*/ 137 f199 1"/>
                <a:gd name="f275" fmla="*/ 145 f199 1"/>
                <a:gd name="f276" fmla="*/ 158 f199 1"/>
                <a:gd name="f277" fmla="*/ 168 f199 1"/>
                <a:gd name="f278" fmla="*/ 10 f199 1"/>
                <a:gd name="f279" fmla="*/ 206 f199 1"/>
                <a:gd name="f280" fmla="*/ 30 f199 1"/>
                <a:gd name="f281" fmla="*/ 201 f199 1"/>
                <a:gd name="f282" fmla="*/ 40 f199 1"/>
                <a:gd name="f283" fmla="*/ 49 f199 1"/>
                <a:gd name="f284" fmla="*/ 197 f199 1"/>
                <a:gd name="f285" fmla="*/ 65 f199 1"/>
                <a:gd name="f286" fmla="*/ 60 f199 1"/>
                <a:gd name="f287" fmla="*/ 231 f199 1"/>
                <a:gd name="f288" fmla="*/ 56 f199 1"/>
                <a:gd name="f289" fmla="*/ 240 f199 1"/>
                <a:gd name="f290" fmla="*/ 76 f199 1"/>
                <a:gd name="f291" fmla="*/ 249 f199 1"/>
                <a:gd name="f292" fmla="*/ 95 f199 1"/>
                <a:gd name="f293" fmla="*/ 232 f199 1"/>
                <a:gd name="f294" fmla="*/ 103 f199 1"/>
                <a:gd name="f295" fmla="*/ 226 f199 1"/>
                <a:gd name="f296" fmla="*/ 221 f199 1"/>
                <a:gd name="f297" fmla="*/ 116 f199 1"/>
                <a:gd name="f298" fmla="*/ f200 1 f2"/>
                <a:gd name="f299" fmla="*/ f202 1 252"/>
                <a:gd name="f300" fmla="*/ f203 1 252"/>
                <a:gd name="f301" fmla="*/ f204 1 252"/>
                <a:gd name="f302" fmla="*/ f205 1 252"/>
                <a:gd name="f303" fmla="*/ f206 1 252"/>
                <a:gd name="f304" fmla="*/ f207 1 252"/>
                <a:gd name="f305" fmla="*/ f208 1 252"/>
                <a:gd name="f306" fmla="*/ f209 1 252"/>
                <a:gd name="f307" fmla="*/ f210 1 252"/>
                <a:gd name="f308" fmla="*/ f211 1 252"/>
                <a:gd name="f309" fmla="*/ f212 1 252"/>
                <a:gd name="f310" fmla="*/ f213 1 252"/>
                <a:gd name="f311" fmla="*/ f214 1 252"/>
                <a:gd name="f312" fmla="*/ f215 1 252"/>
                <a:gd name="f313" fmla="*/ f216 1 252"/>
                <a:gd name="f314" fmla="*/ f217 1 252"/>
                <a:gd name="f315" fmla="*/ f218 1 252"/>
                <a:gd name="f316" fmla="*/ f219 1 252"/>
                <a:gd name="f317" fmla="*/ f220 1 252"/>
                <a:gd name="f318" fmla="*/ f221 1 252"/>
                <a:gd name="f319" fmla="*/ f222 1 252"/>
                <a:gd name="f320" fmla="*/ f223 1 252"/>
                <a:gd name="f321" fmla="*/ f224 1 252"/>
                <a:gd name="f322" fmla="*/ f225 1 252"/>
                <a:gd name="f323" fmla="*/ f226 1 252"/>
                <a:gd name="f324" fmla="*/ f227 1 252"/>
                <a:gd name="f325" fmla="*/ f228 1 252"/>
                <a:gd name="f326" fmla="*/ f229 1 252"/>
                <a:gd name="f327" fmla="*/ f230 1 252"/>
                <a:gd name="f328" fmla="*/ f231 1 252"/>
                <a:gd name="f329" fmla="*/ f232 1 252"/>
                <a:gd name="f330" fmla="*/ f233 1 252"/>
                <a:gd name="f331" fmla="*/ f234 1 252"/>
                <a:gd name="f332" fmla="*/ f235 1 252"/>
                <a:gd name="f333" fmla="*/ f236 1 252"/>
                <a:gd name="f334" fmla="*/ f237 1 252"/>
                <a:gd name="f335" fmla="*/ f238 1 252"/>
                <a:gd name="f336" fmla="*/ f239 1 252"/>
                <a:gd name="f337" fmla="*/ f240 1 252"/>
                <a:gd name="f338" fmla="*/ f241 1 252"/>
                <a:gd name="f339" fmla="*/ f242 1 252"/>
                <a:gd name="f340" fmla="*/ f243 1 252"/>
                <a:gd name="f341" fmla="*/ f244 1 252"/>
                <a:gd name="f342" fmla="*/ f245 1 252"/>
                <a:gd name="f343" fmla="*/ f246 1 252"/>
                <a:gd name="f344" fmla="*/ f247 1 252"/>
                <a:gd name="f345" fmla="*/ f248 1 252"/>
                <a:gd name="f346" fmla="*/ f249 1 252"/>
                <a:gd name="f347" fmla="*/ f250 1 252"/>
                <a:gd name="f348" fmla="*/ f251 1 252"/>
                <a:gd name="f349" fmla="*/ f252 1 252"/>
                <a:gd name="f350" fmla="*/ f253 1 252"/>
                <a:gd name="f351" fmla="*/ f254 1 252"/>
                <a:gd name="f352" fmla="*/ f255 1 252"/>
                <a:gd name="f353" fmla="*/ f256 1 252"/>
                <a:gd name="f354" fmla="*/ f257 1 252"/>
                <a:gd name="f355" fmla="*/ f258 1 252"/>
                <a:gd name="f356" fmla="*/ f259 1 252"/>
                <a:gd name="f357" fmla="*/ f260 1 252"/>
                <a:gd name="f358" fmla="*/ f261 1 252"/>
                <a:gd name="f359" fmla="*/ f262 1 252"/>
                <a:gd name="f360" fmla="*/ f263 1 252"/>
                <a:gd name="f361" fmla="*/ f264 1 252"/>
                <a:gd name="f362" fmla="*/ f265 1 252"/>
                <a:gd name="f363" fmla="*/ f266 1 252"/>
                <a:gd name="f364" fmla="*/ f267 1 252"/>
                <a:gd name="f365" fmla="*/ f268 1 252"/>
                <a:gd name="f366" fmla="*/ f269 1 252"/>
                <a:gd name="f367" fmla="*/ f270 1 252"/>
                <a:gd name="f368" fmla="*/ f271 1 252"/>
                <a:gd name="f369" fmla="*/ f272 1 252"/>
                <a:gd name="f370" fmla="*/ f273 1 252"/>
                <a:gd name="f371" fmla="*/ f274 1 252"/>
                <a:gd name="f372" fmla="*/ f275 1 252"/>
                <a:gd name="f373" fmla="*/ f276 1 252"/>
                <a:gd name="f374" fmla="*/ f277 1 252"/>
                <a:gd name="f375" fmla="*/ f278 1 252"/>
                <a:gd name="f376" fmla="*/ f279 1 252"/>
                <a:gd name="f377" fmla="*/ f280 1 252"/>
                <a:gd name="f378" fmla="*/ f281 1 252"/>
                <a:gd name="f379" fmla="*/ f282 1 252"/>
                <a:gd name="f380" fmla="*/ f283 1 252"/>
                <a:gd name="f381" fmla="*/ f284 1 252"/>
                <a:gd name="f382" fmla="*/ f285 1 252"/>
                <a:gd name="f383" fmla="*/ f286 1 252"/>
                <a:gd name="f384" fmla="*/ f287 1 252"/>
                <a:gd name="f385" fmla="*/ f288 1 252"/>
                <a:gd name="f386" fmla="*/ f289 1 252"/>
                <a:gd name="f387" fmla="*/ f290 1 252"/>
                <a:gd name="f388" fmla="*/ f291 1 252"/>
                <a:gd name="f389" fmla="*/ f292 1 252"/>
                <a:gd name="f390" fmla="*/ f293 1 252"/>
                <a:gd name="f391" fmla="*/ f294 1 252"/>
                <a:gd name="f392" fmla="*/ f295 1 252"/>
                <a:gd name="f393" fmla="*/ f296 1 252"/>
                <a:gd name="f394" fmla="*/ f297 1 252"/>
                <a:gd name="f395" fmla="*/ 0 1 f201"/>
                <a:gd name="f396" fmla="*/ f6 1 f201"/>
                <a:gd name="f397" fmla="+- f298 0 f1"/>
                <a:gd name="f398" fmla="*/ f299 1 f201"/>
                <a:gd name="f399" fmla="*/ f300 1 f201"/>
                <a:gd name="f400" fmla="*/ f301 1 f201"/>
                <a:gd name="f401" fmla="*/ f302 1 f201"/>
                <a:gd name="f402" fmla="*/ f303 1 f201"/>
                <a:gd name="f403" fmla="*/ f304 1 f201"/>
                <a:gd name="f404" fmla="*/ f305 1 f201"/>
                <a:gd name="f405" fmla="*/ f306 1 f201"/>
                <a:gd name="f406" fmla="*/ f307 1 f201"/>
                <a:gd name="f407" fmla="*/ f308 1 f201"/>
                <a:gd name="f408" fmla="*/ f309 1 f201"/>
                <a:gd name="f409" fmla="*/ f310 1 f201"/>
                <a:gd name="f410" fmla="*/ f311 1 f201"/>
                <a:gd name="f411" fmla="*/ f312 1 f201"/>
                <a:gd name="f412" fmla="*/ f313 1 f201"/>
                <a:gd name="f413" fmla="*/ f314 1 f201"/>
                <a:gd name="f414" fmla="*/ f315 1 f201"/>
                <a:gd name="f415" fmla="*/ f316 1 f201"/>
                <a:gd name="f416" fmla="*/ f317 1 f201"/>
                <a:gd name="f417" fmla="*/ f318 1 f201"/>
                <a:gd name="f418" fmla="*/ f319 1 f201"/>
                <a:gd name="f419" fmla="*/ f320 1 f201"/>
                <a:gd name="f420" fmla="*/ f321 1 f201"/>
                <a:gd name="f421" fmla="*/ f322 1 f201"/>
                <a:gd name="f422" fmla="*/ f323 1 f201"/>
                <a:gd name="f423" fmla="*/ f324 1 f201"/>
                <a:gd name="f424" fmla="*/ f325 1 f201"/>
                <a:gd name="f425" fmla="*/ f326 1 f201"/>
                <a:gd name="f426" fmla="*/ f327 1 f201"/>
                <a:gd name="f427" fmla="*/ f328 1 f201"/>
                <a:gd name="f428" fmla="*/ f329 1 f201"/>
                <a:gd name="f429" fmla="*/ f330 1 f201"/>
                <a:gd name="f430" fmla="*/ f331 1 f201"/>
                <a:gd name="f431" fmla="*/ f332 1 f201"/>
                <a:gd name="f432" fmla="*/ f333 1 f201"/>
                <a:gd name="f433" fmla="*/ f334 1 f201"/>
                <a:gd name="f434" fmla="*/ f335 1 f201"/>
                <a:gd name="f435" fmla="*/ f336 1 f201"/>
                <a:gd name="f436" fmla="*/ f337 1 f201"/>
                <a:gd name="f437" fmla="*/ f338 1 f201"/>
                <a:gd name="f438" fmla="*/ f339 1 f201"/>
                <a:gd name="f439" fmla="*/ f340 1 f201"/>
                <a:gd name="f440" fmla="*/ f341 1 f201"/>
                <a:gd name="f441" fmla="*/ f342 1 f201"/>
                <a:gd name="f442" fmla="*/ f343 1 f201"/>
                <a:gd name="f443" fmla="*/ f344 1 f201"/>
                <a:gd name="f444" fmla="*/ f345 1 f201"/>
                <a:gd name="f445" fmla="*/ f346 1 f201"/>
                <a:gd name="f446" fmla="*/ f347 1 f201"/>
                <a:gd name="f447" fmla="*/ f348 1 f201"/>
                <a:gd name="f448" fmla="*/ f349 1 f201"/>
                <a:gd name="f449" fmla="*/ f350 1 f201"/>
                <a:gd name="f450" fmla="*/ f351 1 f201"/>
                <a:gd name="f451" fmla="*/ f352 1 f201"/>
                <a:gd name="f452" fmla="*/ f353 1 f201"/>
                <a:gd name="f453" fmla="*/ f354 1 f201"/>
                <a:gd name="f454" fmla="*/ f355 1 f201"/>
                <a:gd name="f455" fmla="*/ f356 1 f201"/>
                <a:gd name="f456" fmla="*/ f357 1 f201"/>
                <a:gd name="f457" fmla="*/ f358 1 f201"/>
                <a:gd name="f458" fmla="*/ f359 1 f201"/>
                <a:gd name="f459" fmla="*/ f360 1 f201"/>
                <a:gd name="f460" fmla="*/ f361 1 f201"/>
                <a:gd name="f461" fmla="*/ f362 1 f201"/>
                <a:gd name="f462" fmla="*/ f363 1 f201"/>
                <a:gd name="f463" fmla="*/ f364 1 f201"/>
                <a:gd name="f464" fmla="*/ f365 1 f201"/>
                <a:gd name="f465" fmla="*/ f366 1 f201"/>
                <a:gd name="f466" fmla="*/ f367 1 f201"/>
                <a:gd name="f467" fmla="*/ f368 1 f201"/>
                <a:gd name="f468" fmla="*/ f369 1 f201"/>
                <a:gd name="f469" fmla="*/ f370 1 f201"/>
                <a:gd name="f470" fmla="*/ f371 1 f201"/>
                <a:gd name="f471" fmla="*/ f372 1 f201"/>
                <a:gd name="f472" fmla="*/ f373 1 f201"/>
                <a:gd name="f473" fmla="*/ f374 1 f201"/>
                <a:gd name="f474" fmla="*/ f375 1 f201"/>
                <a:gd name="f475" fmla="*/ f376 1 f201"/>
                <a:gd name="f476" fmla="*/ f377 1 f201"/>
                <a:gd name="f477" fmla="*/ f378 1 f201"/>
                <a:gd name="f478" fmla="*/ f379 1 f201"/>
                <a:gd name="f479" fmla="*/ f380 1 f201"/>
                <a:gd name="f480" fmla="*/ f381 1 f201"/>
                <a:gd name="f481" fmla="*/ f382 1 f201"/>
                <a:gd name="f482" fmla="*/ f383 1 f201"/>
                <a:gd name="f483" fmla="*/ f384 1 f201"/>
                <a:gd name="f484" fmla="*/ f385 1 f201"/>
                <a:gd name="f485" fmla="*/ f386 1 f201"/>
                <a:gd name="f486" fmla="*/ f387 1 f201"/>
                <a:gd name="f487" fmla="*/ f388 1 f201"/>
                <a:gd name="f488" fmla="*/ f389 1 f201"/>
                <a:gd name="f489" fmla="*/ f390 1 f201"/>
                <a:gd name="f490" fmla="*/ f391 1 f201"/>
                <a:gd name="f491" fmla="*/ f392 1 f201"/>
                <a:gd name="f492" fmla="*/ f393 1 f201"/>
                <a:gd name="f493" fmla="*/ f394 1 f201"/>
                <a:gd name="f494" fmla="*/ f395 f197 1"/>
                <a:gd name="f495" fmla="*/ f396 f197 1"/>
                <a:gd name="f496" fmla="*/ f396 f198 1"/>
                <a:gd name="f497" fmla="*/ f395 f198 1"/>
                <a:gd name="f498" fmla="*/ f398 f197 1"/>
                <a:gd name="f499" fmla="*/ f399 f198 1"/>
                <a:gd name="f500" fmla="*/ f400 f197 1"/>
                <a:gd name="f501" fmla="*/ f401 f198 1"/>
                <a:gd name="f502" fmla="*/ f402 f197 1"/>
                <a:gd name="f503" fmla="*/ f403 f198 1"/>
                <a:gd name="f504" fmla="*/ f404 f197 1"/>
                <a:gd name="f505" fmla="*/ f405 f198 1"/>
                <a:gd name="f506" fmla="*/ f406 f197 1"/>
                <a:gd name="f507" fmla="*/ f407 f198 1"/>
                <a:gd name="f508" fmla="*/ f408 f197 1"/>
                <a:gd name="f509" fmla="*/ f409 f198 1"/>
                <a:gd name="f510" fmla="*/ f410 f197 1"/>
                <a:gd name="f511" fmla="*/ f411 f198 1"/>
                <a:gd name="f512" fmla="*/ f412 f197 1"/>
                <a:gd name="f513" fmla="*/ f413 f198 1"/>
                <a:gd name="f514" fmla="*/ f414 f197 1"/>
                <a:gd name="f515" fmla="*/ f415 f198 1"/>
                <a:gd name="f516" fmla="*/ f416 f197 1"/>
                <a:gd name="f517" fmla="*/ f417 f198 1"/>
                <a:gd name="f518" fmla="*/ f418 f197 1"/>
                <a:gd name="f519" fmla="*/ f419 f198 1"/>
                <a:gd name="f520" fmla="*/ f420 f197 1"/>
                <a:gd name="f521" fmla="*/ f398 f198 1"/>
                <a:gd name="f522" fmla="*/ f421 f197 1"/>
                <a:gd name="f523" fmla="*/ f400 f198 1"/>
                <a:gd name="f524" fmla="*/ f422 f197 1"/>
                <a:gd name="f525" fmla="*/ f423 f198 1"/>
                <a:gd name="f526" fmla="*/ f424 f197 1"/>
                <a:gd name="f527" fmla="*/ f425 f198 1"/>
                <a:gd name="f528" fmla="*/ f426 f197 1"/>
                <a:gd name="f529" fmla="*/ f408 f198 1"/>
                <a:gd name="f530" fmla="*/ f427 f197 1"/>
                <a:gd name="f531" fmla="*/ f428 f198 1"/>
                <a:gd name="f532" fmla="*/ f429 f197 1"/>
                <a:gd name="f533" fmla="*/ f402 f198 1"/>
                <a:gd name="f534" fmla="*/ f430 f197 1"/>
                <a:gd name="f535" fmla="*/ f406 f198 1"/>
                <a:gd name="f536" fmla="*/ f431 f197 1"/>
                <a:gd name="f537" fmla="*/ f432 f198 1"/>
                <a:gd name="f538" fmla="*/ f433 f197 1"/>
                <a:gd name="f539" fmla="*/ f434 f198 1"/>
                <a:gd name="f540" fmla="*/ f435 f197 1"/>
                <a:gd name="f541" fmla="*/ f436 f198 1"/>
                <a:gd name="f542" fmla="*/ f437 f197 1"/>
                <a:gd name="f543" fmla="*/ f438 f198 1"/>
                <a:gd name="f544" fmla="*/ f439 f197 1"/>
                <a:gd name="f545" fmla="*/ f440 f198 1"/>
                <a:gd name="f546" fmla="*/ f441 f197 1"/>
                <a:gd name="f547" fmla="*/ f442 f198 1"/>
                <a:gd name="f548" fmla="*/ f443 f197 1"/>
                <a:gd name="f549" fmla="*/ f444 f198 1"/>
                <a:gd name="f550" fmla="*/ f445 f197 1"/>
                <a:gd name="f551" fmla="*/ f446 f198 1"/>
                <a:gd name="f552" fmla="*/ f447 f197 1"/>
                <a:gd name="f553" fmla="*/ f448 f198 1"/>
                <a:gd name="f554" fmla="*/ f449 f197 1"/>
                <a:gd name="f555" fmla="*/ f450 f198 1"/>
                <a:gd name="f556" fmla="*/ f451 f197 1"/>
                <a:gd name="f557" fmla="*/ f452 f198 1"/>
                <a:gd name="f558" fmla="*/ f453 f197 1"/>
                <a:gd name="f559" fmla="*/ f454 f198 1"/>
                <a:gd name="f560" fmla="*/ f455 f197 1"/>
                <a:gd name="f561" fmla="*/ f456 f198 1"/>
                <a:gd name="f562" fmla="*/ f457 f197 1"/>
                <a:gd name="f563" fmla="*/ f458 f198 1"/>
                <a:gd name="f564" fmla="*/ f459 f197 1"/>
                <a:gd name="f565" fmla="*/ f460 f198 1"/>
                <a:gd name="f566" fmla="*/ f461 f197 1"/>
                <a:gd name="f567" fmla="*/ f447 f198 1"/>
                <a:gd name="f568" fmla="*/ f462 f197 1"/>
                <a:gd name="f569" fmla="*/ f437 f198 1"/>
                <a:gd name="f570" fmla="*/ f463 f197 1"/>
                <a:gd name="f571" fmla="*/ f464 f198 1"/>
                <a:gd name="f572" fmla="*/ f465 f197 1"/>
                <a:gd name="f573" fmla="*/ f457 f198 1"/>
                <a:gd name="f574" fmla="*/ f466 f198 1"/>
                <a:gd name="f575" fmla="*/ f467 f197 1"/>
                <a:gd name="f576" fmla="*/ f468 f198 1"/>
                <a:gd name="f577" fmla="*/ f469 f197 1"/>
                <a:gd name="f578" fmla="*/ f449 f198 1"/>
                <a:gd name="f579" fmla="*/ f470 f197 1"/>
                <a:gd name="f580" fmla="*/ f443 f198 1"/>
                <a:gd name="f581" fmla="*/ f471 f197 1"/>
                <a:gd name="f582" fmla="*/ f472 f197 1"/>
                <a:gd name="f583" fmla="*/ f459 f198 1"/>
                <a:gd name="f584" fmla="*/ f473 f197 1"/>
                <a:gd name="f585" fmla="*/ f474 f198 1"/>
                <a:gd name="f586" fmla="*/ f475 f197 1"/>
                <a:gd name="f587" fmla="*/ f476 f198 1"/>
                <a:gd name="f588" fmla="*/ f477 f197 1"/>
                <a:gd name="f589" fmla="*/ f478 f198 1"/>
                <a:gd name="f590" fmla="*/ f440 f197 1"/>
                <a:gd name="f591" fmla="*/ f479 f198 1"/>
                <a:gd name="f592" fmla="*/ f480 f197 1"/>
                <a:gd name="f593" fmla="*/ f481 f198 1"/>
                <a:gd name="f594" fmla="*/ f425 f197 1"/>
                <a:gd name="f595" fmla="*/ f482 f198 1"/>
                <a:gd name="f596" fmla="*/ f483 f197 1"/>
                <a:gd name="f597" fmla="*/ f484 f198 1"/>
                <a:gd name="f598" fmla="*/ f485 f197 1"/>
                <a:gd name="f599" fmla="*/ f486 f198 1"/>
                <a:gd name="f600" fmla="*/ f487 f197 1"/>
                <a:gd name="f601" fmla="*/ f488 f198 1"/>
                <a:gd name="f602" fmla="*/ f489 f197 1"/>
                <a:gd name="f603" fmla="*/ f490 f198 1"/>
                <a:gd name="f604" fmla="*/ f491 f197 1"/>
                <a:gd name="f605" fmla="*/ f424 f198 1"/>
                <a:gd name="f606" fmla="*/ f492 f197 1"/>
                <a:gd name="f607" fmla="*/ f493 f198 1"/>
                <a:gd name="f608" fmla="*/ f423 f19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7">
                  <a:pos x="f498" y="f499"/>
                </a:cxn>
                <a:cxn ang="f397">
                  <a:pos x="f500" y="f501"/>
                </a:cxn>
                <a:cxn ang="f397">
                  <a:pos x="f502" y="f503"/>
                </a:cxn>
                <a:cxn ang="f397">
                  <a:pos x="f504" y="f505"/>
                </a:cxn>
                <a:cxn ang="f397">
                  <a:pos x="f506" y="f507"/>
                </a:cxn>
                <a:cxn ang="f397">
                  <a:pos x="f508" y="f509"/>
                </a:cxn>
                <a:cxn ang="f397">
                  <a:pos x="f510" y="f511"/>
                </a:cxn>
                <a:cxn ang="f397">
                  <a:pos x="f512" y="f513"/>
                </a:cxn>
                <a:cxn ang="f397">
                  <a:pos x="f514" y="f515"/>
                </a:cxn>
                <a:cxn ang="f397">
                  <a:pos x="f516" y="f517"/>
                </a:cxn>
                <a:cxn ang="f397">
                  <a:pos x="f518" y="f519"/>
                </a:cxn>
                <a:cxn ang="f397">
                  <a:pos x="f520" y="f521"/>
                </a:cxn>
                <a:cxn ang="f397">
                  <a:pos x="f522" y="f523"/>
                </a:cxn>
                <a:cxn ang="f397">
                  <a:pos x="f524" y="f525"/>
                </a:cxn>
                <a:cxn ang="f397">
                  <a:pos x="f526" y="f527"/>
                </a:cxn>
                <a:cxn ang="f397">
                  <a:pos x="f528" y="f529"/>
                </a:cxn>
                <a:cxn ang="f397">
                  <a:pos x="f530" y="f531"/>
                </a:cxn>
                <a:cxn ang="f397">
                  <a:pos x="f532" y="f533"/>
                </a:cxn>
                <a:cxn ang="f397">
                  <a:pos x="f534" y="f535"/>
                </a:cxn>
                <a:cxn ang="f397">
                  <a:pos x="f536" y="f537"/>
                </a:cxn>
                <a:cxn ang="f397">
                  <a:pos x="f538" y="f539"/>
                </a:cxn>
                <a:cxn ang="f397">
                  <a:pos x="f540" y="f541"/>
                </a:cxn>
                <a:cxn ang="f397">
                  <a:pos x="f542" y="f543"/>
                </a:cxn>
                <a:cxn ang="f397">
                  <a:pos x="f544" y="f545"/>
                </a:cxn>
                <a:cxn ang="f397">
                  <a:pos x="f546" y="f547"/>
                </a:cxn>
                <a:cxn ang="f397">
                  <a:pos x="f548" y="f549"/>
                </a:cxn>
                <a:cxn ang="f397">
                  <a:pos x="f550" y="f551"/>
                </a:cxn>
                <a:cxn ang="f397">
                  <a:pos x="f552" y="f553"/>
                </a:cxn>
                <a:cxn ang="f397">
                  <a:pos x="f554" y="f555"/>
                </a:cxn>
                <a:cxn ang="f397">
                  <a:pos x="f556" y="f557"/>
                </a:cxn>
                <a:cxn ang="f397">
                  <a:pos x="f558" y="f559"/>
                </a:cxn>
                <a:cxn ang="f397">
                  <a:pos x="f560" y="f561"/>
                </a:cxn>
                <a:cxn ang="f397">
                  <a:pos x="f562" y="f563"/>
                </a:cxn>
                <a:cxn ang="f397">
                  <a:pos x="f564" y="f565"/>
                </a:cxn>
                <a:cxn ang="f397">
                  <a:pos x="f566" y="f567"/>
                </a:cxn>
                <a:cxn ang="f397">
                  <a:pos x="f568" y="f569"/>
                </a:cxn>
                <a:cxn ang="f397">
                  <a:pos x="f570" y="f571"/>
                </a:cxn>
                <a:cxn ang="f397">
                  <a:pos x="f572" y="f573"/>
                </a:cxn>
                <a:cxn ang="f397">
                  <a:pos x="f528" y="f574"/>
                </a:cxn>
                <a:cxn ang="f397">
                  <a:pos x="f575" y="f576"/>
                </a:cxn>
                <a:cxn ang="f397">
                  <a:pos x="f577" y="f578"/>
                </a:cxn>
                <a:cxn ang="f397">
                  <a:pos x="f579" y="f580"/>
                </a:cxn>
                <a:cxn ang="f397">
                  <a:pos x="f581" y="f569"/>
                </a:cxn>
                <a:cxn ang="f397">
                  <a:pos x="f582" y="f583"/>
                </a:cxn>
                <a:cxn ang="f397">
                  <a:pos x="f584" y="f585"/>
                </a:cxn>
                <a:cxn ang="f397">
                  <a:pos x="f586" y="f587"/>
                </a:cxn>
                <a:cxn ang="f397">
                  <a:pos x="f588" y="f589"/>
                </a:cxn>
                <a:cxn ang="f397">
                  <a:pos x="f590" y="f591"/>
                </a:cxn>
                <a:cxn ang="f397">
                  <a:pos x="f592" y="f563"/>
                </a:cxn>
                <a:cxn ang="f397">
                  <a:pos x="f504" y="f593"/>
                </a:cxn>
                <a:cxn ang="f397">
                  <a:pos x="f594" y="f595"/>
                </a:cxn>
                <a:cxn ang="f397">
                  <a:pos x="f596" y="f597"/>
                </a:cxn>
                <a:cxn ang="f397">
                  <a:pos x="f598" y="f599"/>
                </a:cxn>
                <a:cxn ang="f397">
                  <a:pos x="f600" y="f601"/>
                </a:cxn>
                <a:cxn ang="f397">
                  <a:pos x="f602" y="f603"/>
                </a:cxn>
                <a:cxn ang="f397">
                  <a:pos x="f604" y="f605"/>
                </a:cxn>
                <a:cxn ang="f397">
                  <a:pos x="f606" y="f607"/>
                </a:cxn>
                <a:cxn ang="f397">
                  <a:pos x="f608" y="f553"/>
                </a:cxn>
                <a:cxn ang="f397">
                  <a:pos x="f498" y="f499"/>
                </a:cxn>
              </a:cxnLst>
              <a:rect l="f494" t="f497" r="f495" b="f496"/>
              <a:pathLst>
                <a:path w="252" h="252">
                  <a:moveTo>
                    <a:pt x="f6" y="f7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19"/>
                    <a:pt x="f23" y="f24"/>
                  </a:cubicBezTo>
                  <a:cubicBezTo>
                    <a:pt x="f25" y="f26"/>
                    <a:pt x="f27" y="f28"/>
                    <a:pt x="f22" y="f29"/>
                  </a:cubicBezTo>
                  <a:cubicBezTo>
                    <a:pt x="f20" y="f30"/>
                    <a:pt x="f31" y="f32"/>
                    <a:pt x="f33" y="f34"/>
                  </a:cubicBezTo>
                  <a:cubicBezTo>
                    <a:pt x="f35" y="f36"/>
                    <a:pt x="f34" y="f18"/>
                    <a:pt x="f37" y="f38"/>
                  </a:cubicBezTo>
                  <a:cubicBezTo>
                    <a:pt x="f39" y="f40"/>
                    <a:pt x="f41" y="f42"/>
                    <a:pt x="f26" y="f43"/>
                  </a:cubicBezTo>
                  <a:cubicBezTo>
                    <a:pt x="f44" y="f45"/>
                    <a:pt x="f46" y="f47"/>
                    <a:pt x="f48" y="f45"/>
                  </a:cubicBezTo>
                  <a:cubicBezTo>
                    <a:pt x="f49" y="f35"/>
                    <a:pt x="f50" y="f51"/>
                    <a:pt x="f11" y="f40"/>
                  </a:cubicBezTo>
                  <a:cubicBezTo>
                    <a:pt x="f11" y="f38"/>
                    <a:pt x="f49" y="f52"/>
                    <a:pt x="f53" y="f54"/>
                  </a:cubicBezTo>
                  <a:cubicBezTo>
                    <a:pt x="f55" y="f8"/>
                    <a:pt x="f56" y="f57"/>
                    <a:pt x="f58" y="f6"/>
                  </a:cubicBezTo>
                  <a:cubicBezTo>
                    <a:pt x="f58" y="f8"/>
                    <a:pt x="f59" y="f10"/>
                    <a:pt x="f59" y="f12"/>
                  </a:cubicBezTo>
                  <a:cubicBezTo>
                    <a:pt x="f60" y="f61"/>
                    <a:pt x="f60" y="f62"/>
                    <a:pt x="f63" y="f16"/>
                  </a:cubicBezTo>
                  <a:cubicBezTo>
                    <a:pt x="f63" y="f33"/>
                    <a:pt x="f64" y="f65"/>
                    <a:pt x="f66" y="f31"/>
                  </a:cubicBezTo>
                  <a:cubicBezTo>
                    <a:pt x="f67" y="f68"/>
                    <a:pt x="f69" y="f65"/>
                    <a:pt x="f70" y="f33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16"/>
                    <a:pt x="f80" y="f18"/>
                  </a:cubicBezTo>
                  <a:cubicBezTo>
                    <a:pt x="f81" y="f51"/>
                    <a:pt x="f82" y="f35"/>
                    <a:pt x="f83" y="f22"/>
                  </a:cubicBezTo>
                  <a:cubicBezTo>
                    <a:pt x="f84" y="f23"/>
                    <a:pt x="f85" y="f25"/>
                    <a:pt x="f86" y="f87"/>
                  </a:cubicBezTo>
                  <a:cubicBezTo>
                    <a:pt x="f79" y="f32"/>
                    <a:pt x="f79" y="f30"/>
                    <a:pt x="f85" y="f88"/>
                  </a:cubicBezTo>
                  <a:cubicBezTo>
                    <a:pt x="f89" y="f90"/>
                    <a:pt x="f81" y="f91"/>
                    <a:pt x="f92" y="f93"/>
                  </a:cubicBezTo>
                  <a:cubicBezTo>
                    <a:pt x="f94" y="f39"/>
                    <a:pt x="f95" y="f88"/>
                    <a:pt x="f96" y="f97"/>
                  </a:cubicBezTo>
                  <a:cubicBezTo>
                    <a:pt x="f98" y="f37"/>
                    <a:pt x="f99" y="f30"/>
                    <a:pt x="f100" y="f101"/>
                  </a:cubicBezTo>
                  <a:cubicBezTo>
                    <a:pt x="f102" y="f28"/>
                    <a:pt x="f103" y="f17"/>
                    <a:pt x="f104" y="f105"/>
                  </a:cubicBezTo>
                  <a:cubicBezTo>
                    <a:pt x="f103" y="f106"/>
                    <a:pt x="f102" y="f107"/>
                    <a:pt x="f108" y="f109"/>
                  </a:cubicBezTo>
                  <a:cubicBezTo>
                    <a:pt x="f110" y="f9"/>
                    <a:pt x="f96" y="f111"/>
                    <a:pt x="f112" y="f113"/>
                  </a:cubicBezTo>
                  <a:cubicBezTo>
                    <a:pt x="f110" y="f114"/>
                    <a:pt x="f99" y="f115"/>
                    <a:pt x="f116" y="f117"/>
                  </a:cubicBezTo>
                  <a:cubicBezTo>
                    <a:pt x="f118" y="f119"/>
                    <a:pt x="f120" y="f121"/>
                    <a:pt x="f5" y="f122"/>
                  </a:cubicBezTo>
                  <a:cubicBezTo>
                    <a:pt x="f123" y="f124"/>
                    <a:pt x="f125" y="f70"/>
                    <a:pt x="f126" y="f127"/>
                  </a:cubicBezTo>
                  <a:cubicBezTo>
                    <a:pt x="f102" y="f128"/>
                    <a:pt x="f100" y="f129"/>
                    <a:pt x="f99" y="f130"/>
                  </a:cubicBezTo>
                  <a:cubicBezTo>
                    <a:pt x="f95" y="f131"/>
                    <a:pt x="f132" y="f75"/>
                    <a:pt x="f133" y="f134"/>
                  </a:cubicBezTo>
                  <a:cubicBezTo>
                    <a:pt x="f135" y="f136"/>
                    <a:pt x="f92" y="f137"/>
                    <a:pt x="f94" y="f138"/>
                  </a:cubicBezTo>
                  <a:cubicBezTo>
                    <a:pt x="f139" y="f140"/>
                    <a:pt x="f96" y="f84"/>
                    <a:pt x="f141" y="f81"/>
                  </a:cubicBezTo>
                  <a:cubicBezTo>
                    <a:pt x="f142" y="f143"/>
                    <a:pt x="f81" y="f98"/>
                    <a:pt x="f79" y="f116"/>
                  </a:cubicBezTo>
                  <a:cubicBezTo>
                    <a:pt x="f144" y="f145"/>
                    <a:pt x="f146" y="f147"/>
                    <a:pt x="f77" y="f96"/>
                  </a:cubicBezTo>
                  <a:cubicBezTo>
                    <a:pt x="f148" y="f149"/>
                    <a:pt x="f150" y="f95"/>
                    <a:pt x="f151" y="f143"/>
                  </a:cubicBezTo>
                  <a:cubicBezTo>
                    <a:pt x="f152" y="f153"/>
                    <a:pt x="f75" y="f153"/>
                    <a:pt x="f154" y="f94"/>
                  </a:cubicBezTo>
                  <a:cubicBezTo>
                    <a:pt x="f155" y="f142"/>
                    <a:pt x="f70" y="f156"/>
                    <a:pt x="f70" y="f98"/>
                  </a:cubicBezTo>
                  <a:cubicBezTo>
                    <a:pt x="f157" y="f100"/>
                    <a:pt x="f157" y="f158"/>
                    <a:pt x="f155" y="f159"/>
                  </a:cubicBezTo>
                  <a:cubicBezTo>
                    <a:pt x="f66" y="f123"/>
                    <a:pt x="f160" y="f161"/>
                    <a:pt x="f162" y="f5"/>
                  </a:cubicBezTo>
                  <a:cubicBezTo>
                    <a:pt x="f113" y="f120"/>
                    <a:pt x="f113" y="f163"/>
                    <a:pt x="f164" y="f108"/>
                  </a:cubicBezTo>
                  <a:cubicBezTo>
                    <a:pt x="f165" y="f141"/>
                    <a:pt x="f166" y="f112"/>
                    <a:pt x="f9" y="f96"/>
                  </a:cubicBezTo>
                  <a:cubicBezTo>
                    <a:pt x="f167" y="f149"/>
                    <a:pt x="f168" y="f96"/>
                    <a:pt x="f50" y="f141"/>
                  </a:cubicBezTo>
                  <a:cubicBezTo>
                    <a:pt x="f169" y="f100"/>
                    <a:pt x="f48" y="f163"/>
                    <a:pt x="f21" y="f103"/>
                  </a:cubicBezTo>
                  <a:cubicBezTo>
                    <a:pt x="f170" y="f171"/>
                    <a:pt x="f101" y="f108"/>
                    <a:pt x="f25" y="f110"/>
                  </a:cubicBezTo>
                  <a:cubicBezTo>
                    <a:pt x="f172" y="f156"/>
                    <a:pt x="f87" y="f142"/>
                    <a:pt x="f173" y="f153"/>
                  </a:cubicBezTo>
                  <a:cubicBezTo>
                    <a:pt x="f174" y="f92"/>
                    <a:pt x="f32" y="f80"/>
                    <a:pt x="f101" y="f175"/>
                  </a:cubicBezTo>
                  <a:cubicBezTo>
                    <a:pt x="f37" y="f176"/>
                    <a:pt x="f30" y="f140"/>
                    <a:pt x="f177" y="f138"/>
                  </a:cubicBezTo>
                  <a:cubicBezTo>
                    <a:pt x="f178" y="f137"/>
                    <a:pt x="f172" y="f146"/>
                    <a:pt x="f23" y="f179"/>
                  </a:cubicBezTo>
                  <a:cubicBezTo>
                    <a:pt x="f45" y="f180"/>
                    <a:pt x="f43" y="f138"/>
                    <a:pt x="f31" y="f181"/>
                  </a:cubicBezTo>
                  <a:cubicBezTo>
                    <a:pt x="f18" y="f79"/>
                    <a:pt x="f40" y="f140"/>
                    <a:pt x="f72" y="f182"/>
                  </a:cubicBezTo>
                  <a:cubicBezTo>
                    <a:pt x="f62" y="f144"/>
                    <a:pt x="f74" y="f183"/>
                    <a:pt x="f52" y="f184"/>
                  </a:cubicBezTo>
                  <a:cubicBezTo>
                    <a:pt x="f12" y="f129"/>
                    <a:pt x="f185" y="f154"/>
                    <a:pt x="f8" y="f186"/>
                  </a:cubicBezTo>
                  <a:cubicBezTo>
                    <a:pt x="f12" y="f187"/>
                    <a:pt x="f78" y="f188"/>
                    <a:pt x="f189" y="f190"/>
                  </a:cubicBezTo>
                  <a:cubicBezTo>
                    <a:pt x="f16" y="f191"/>
                    <a:pt x="f192" y="f193"/>
                    <a:pt x="f194" y="f66"/>
                  </a:cubicBezTo>
                  <a:cubicBezTo>
                    <a:pt x="f42" y="f195"/>
                    <a:pt x="f65" y="f64"/>
                    <a:pt x="f65" y="f60"/>
                  </a:cubicBezTo>
                  <a:cubicBezTo>
                    <a:pt x="f42" y="f122"/>
                    <a:pt x="f33" y="f119"/>
                    <a:pt x="f16" y="f117"/>
                  </a:cubicBezTo>
                  <a:cubicBezTo>
                    <a:pt x="f74" y="f115"/>
                    <a:pt x="f76" y="f114"/>
                    <a:pt x="f6" y="f7"/>
                  </a:cubicBezTo>
                  <a:close/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1" name="Freeform 233">
              <a:extLst>
                <a:ext uri="{FF2B5EF4-FFF2-40B4-BE49-F238E27FC236}">
                  <a16:creationId xmlns:a16="http://schemas.microsoft.com/office/drawing/2014/main" id="{D29B6860-D63F-8B65-76DE-E0E3D8D779F3}"/>
                </a:ext>
              </a:extLst>
            </p:cNvPr>
            <p:cNvSpPr/>
            <p:nvPr/>
          </p:nvSpPr>
          <p:spPr>
            <a:xfrm>
              <a:off x="10881158" y="2657831"/>
              <a:ext cx="96496" cy="96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95"/>
                <a:gd name="f8" fmla="val 16"/>
                <a:gd name="f9" fmla="val 123"/>
                <a:gd name="f10" fmla="val 32"/>
                <a:gd name="f11" fmla="val 68"/>
                <a:gd name="f12" fmla="val 117"/>
                <a:gd name="f13" fmla="val 101"/>
                <a:gd name="f14" fmla="val 64"/>
                <a:gd name="f15" fmla="val 37"/>
                <a:gd name="f16" fmla="val 9"/>
                <a:gd name="f17" fmla="val 100"/>
                <a:gd name="f18" fmla="val 65"/>
                <a:gd name="f19" fmla="val 67"/>
                <a:gd name="f20" fmla="+- 0 0 -90"/>
                <a:gd name="f21" fmla="*/ f3 1 133"/>
                <a:gd name="f22" fmla="*/ f4 1 133"/>
                <a:gd name="f23" fmla="+- f6 0 f5"/>
                <a:gd name="f24" fmla="*/ f20 f0 1"/>
                <a:gd name="f25" fmla="*/ f23 1 133"/>
                <a:gd name="f26" fmla="*/ 95 f23 1"/>
                <a:gd name="f27" fmla="*/ 16 f23 1"/>
                <a:gd name="f28" fmla="*/ 117 f23 1"/>
                <a:gd name="f29" fmla="*/ 37 f23 1"/>
                <a:gd name="f30" fmla="*/ f24 1 f2"/>
                <a:gd name="f31" fmla="*/ f26 1 133"/>
                <a:gd name="f32" fmla="*/ f27 1 133"/>
                <a:gd name="f33" fmla="*/ f28 1 133"/>
                <a:gd name="f34" fmla="*/ f29 1 133"/>
                <a:gd name="f35" fmla="*/ 0 1 f25"/>
                <a:gd name="f36" fmla="*/ f6 1 f25"/>
                <a:gd name="f37" fmla="+- f30 0 f1"/>
                <a:gd name="f38" fmla="*/ f31 1 f25"/>
                <a:gd name="f39" fmla="*/ f32 1 f25"/>
                <a:gd name="f40" fmla="*/ f33 1 f25"/>
                <a:gd name="f41" fmla="*/ f34 1 f25"/>
                <a:gd name="f42" fmla="*/ f35 f21 1"/>
                <a:gd name="f43" fmla="*/ f36 f21 1"/>
                <a:gd name="f44" fmla="*/ f36 f22 1"/>
                <a:gd name="f45" fmla="*/ f35 f22 1"/>
                <a:gd name="f46" fmla="*/ f38 f21 1"/>
                <a:gd name="f47" fmla="*/ f39 f22 1"/>
                <a:gd name="f48" fmla="*/ f40 f21 1"/>
                <a:gd name="f49" fmla="*/ f38 f22 1"/>
                <a:gd name="f50" fmla="*/ f41 f21 1"/>
                <a:gd name="f51" fmla="*/ f40 f22 1"/>
                <a:gd name="f52" fmla="*/ f39 f21 1"/>
                <a:gd name="f53" fmla="*/ f41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6" y="f47"/>
                </a:cxn>
                <a:cxn ang="f37">
                  <a:pos x="f48" y="f49"/>
                </a:cxn>
                <a:cxn ang="f37">
                  <a:pos x="f50" y="f51"/>
                </a:cxn>
                <a:cxn ang="f37">
                  <a:pos x="f52" y="f53"/>
                </a:cxn>
                <a:cxn ang="f37">
                  <a:pos x="f46" y="f47"/>
                </a:cxn>
              </a:cxnLst>
              <a:rect l="f42" t="f45" r="f43" b="f44"/>
              <a:pathLst>
                <a:path w="133" h="133">
                  <a:moveTo>
                    <a:pt x="f7" y="f8"/>
                  </a:moveTo>
                  <a:cubicBezTo>
                    <a:pt x="f9" y="f10"/>
                    <a:pt x="f6" y="f11"/>
                    <a:pt x="f12" y="f7"/>
                  </a:cubicBezTo>
                  <a:cubicBezTo>
                    <a:pt x="f13" y="f9"/>
                    <a:pt x="f14" y="f6"/>
                    <a:pt x="f15" y="f12"/>
                  </a:cubicBezTo>
                  <a:cubicBezTo>
                    <a:pt x="f16" y="f17"/>
                    <a:pt x="f5" y="f18"/>
                    <a:pt x="f8" y="f15"/>
                  </a:cubicBezTo>
                  <a:cubicBezTo>
                    <a:pt x="f10" y="f16"/>
                    <a:pt x="f19" y="f5"/>
                    <a:pt x="f7" y="f8"/>
                  </a:cubicBezTo>
                  <a:close/>
                </a:path>
              </a:pathLst>
            </a:custGeom>
            <a:noFill/>
            <a:ln w="12701" cap="flat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2" name="Freeform 234">
              <a:extLst>
                <a:ext uri="{FF2B5EF4-FFF2-40B4-BE49-F238E27FC236}">
                  <a16:creationId xmlns:a16="http://schemas.microsoft.com/office/drawing/2014/main" id="{D4E091B9-0838-093F-A92A-F926C70AFDF6}"/>
                </a:ext>
              </a:extLst>
            </p:cNvPr>
            <p:cNvSpPr/>
            <p:nvPr/>
          </p:nvSpPr>
          <p:spPr>
            <a:xfrm>
              <a:off x="10766109" y="2542781"/>
              <a:ext cx="324127" cy="3191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6"/>
                <a:gd name="f7" fmla="val 439"/>
                <a:gd name="f8" fmla="val 299"/>
                <a:gd name="f9" fmla="val 412"/>
                <a:gd name="f10" fmla="val 393"/>
                <a:gd name="f11" fmla="val 375"/>
                <a:gd name="f12" fmla="val 272"/>
                <a:gd name="f13" fmla="val 420"/>
                <a:gd name="f14" fmla="val 172"/>
                <a:gd name="f15" fmla="val 391"/>
                <a:gd name="f16" fmla="val 64"/>
                <a:gd name="f17" fmla="val 280"/>
                <a:gd name="f18" fmla="val 29"/>
                <a:gd name="f19" fmla="val 58"/>
                <a:gd name="f20" fmla="val 169"/>
                <a:gd name="f21" fmla="val 277"/>
                <a:gd name="f22" fmla="val 56"/>
                <a:gd name="f23" fmla="val 377"/>
                <a:gd name="f24" fmla="val 153"/>
                <a:gd name="f25" fmla="val 253"/>
                <a:gd name="f26" fmla="val 424"/>
                <a:gd name="f27" fmla="+- 0 0 -90"/>
                <a:gd name="f28" fmla="*/ f3 1 446"/>
                <a:gd name="f29" fmla="*/ f4 1 439"/>
                <a:gd name="f30" fmla="+- f7 0 f5"/>
                <a:gd name="f31" fmla="+- f6 0 f5"/>
                <a:gd name="f32" fmla="*/ f27 f0 1"/>
                <a:gd name="f33" fmla="*/ f31 1 446"/>
                <a:gd name="f34" fmla="*/ f30 1 439"/>
                <a:gd name="f35" fmla="*/ 299 f31 1"/>
                <a:gd name="f36" fmla="*/ 412 f30 1"/>
                <a:gd name="f37" fmla="*/ 420 f31 1"/>
                <a:gd name="f38" fmla="*/ 172 f30 1"/>
                <a:gd name="f39" fmla="*/ 172 f31 1"/>
                <a:gd name="f40" fmla="*/ 29 f30 1"/>
                <a:gd name="f41" fmla="*/ 29 f31 1"/>
                <a:gd name="f42" fmla="*/ 277 f30 1"/>
                <a:gd name="f43" fmla="*/ 253 f31 1"/>
                <a:gd name="f44" fmla="*/ 424 f30 1"/>
                <a:gd name="f45" fmla="*/ f32 1 f2"/>
                <a:gd name="f46" fmla="*/ f35 1 446"/>
                <a:gd name="f47" fmla="*/ f36 1 439"/>
                <a:gd name="f48" fmla="*/ f37 1 446"/>
                <a:gd name="f49" fmla="*/ f38 1 439"/>
                <a:gd name="f50" fmla="*/ f39 1 446"/>
                <a:gd name="f51" fmla="*/ f40 1 439"/>
                <a:gd name="f52" fmla="*/ f41 1 446"/>
                <a:gd name="f53" fmla="*/ f42 1 439"/>
                <a:gd name="f54" fmla="*/ f43 1 446"/>
                <a:gd name="f55" fmla="*/ f44 1 439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446" h="439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3" name="Line 235">
              <a:extLst>
                <a:ext uri="{FF2B5EF4-FFF2-40B4-BE49-F238E27FC236}">
                  <a16:creationId xmlns:a16="http://schemas.microsoft.com/office/drawing/2014/main" id="{062E28FE-8683-8642-FD66-10EA60F970F0}"/>
                </a:ext>
              </a:extLst>
            </p:cNvPr>
            <p:cNvSpPr/>
            <p:nvPr/>
          </p:nvSpPr>
          <p:spPr>
            <a:xfrm>
              <a:off x="10972708" y="2845877"/>
              <a:ext cx="13606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4" name="Freeform 236">
              <a:extLst>
                <a:ext uri="{FF2B5EF4-FFF2-40B4-BE49-F238E27FC236}">
                  <a16:creationId xmlns:a16="http://schemas.microsoft.com/office/drawing/2014/main" id="{9192D820-D53A-96A3-18EA-CD684E437ECA}"/>
                </a:ext>
              </a:extLst>
            </p:cNvPr>
            <p:cNvSpPr/>
            <p:nvPr/>
          </p:nvSpPr>
          <p:spPr>
            <a:xfrm>
              <a:off x="10784671" y="2561334"/>
              <a:ext cx="288246" cy="2832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7"/>
                <a:gd name="f7" fmla="val 390"/>
                <a:gd name="f8" fmla="val 266"/>
                <a:gd name="f9" fmla="val 366"/>
                <a:gd name="f10" fmla="val 349"/>
                <a:gd name="f11" fmla="val 333"/>
                <a:gd name="f12" fmla="val 242"/>
                <a:gd name="f13" fmla="val 373"/>
                <a:gd name="f14" fmla="val 153"/>
                <a:gd name="f15" fmla="val 347"/>
                <a:gd name="f16" fmla="val 57"/>
                <a:gd name="f17" fmla="val 249"/>
                <a:gd name="f18" fmla="val 26"/>
                <a:gd name="f19" fmla="val 51"/>
                <a:gd name="f20" fmla="val 150"/>
                <a:gd name="f21" fmla="val 246"/>
                <a:gd name="f22" fmla="val 50"/>
                <a:gd name="f23" fmla="val 335"/>
                <a:gd name="f24" fmla="val 136"/>
                <a:gd name="f25" fmla="val 225"/>
                <a:gd name="f26" fmla="val 377"/>
                <a:gd name="f27" fmla="+- 0 0 -90"/>
                <a:gd name="f28" fmla="*/ f3 1 397"/>
                <a:gd name="f29" fmla="*/ f4 1 390"/>
                <a:gd name="f30" fmla="+- f7 0 f5"/>
                <a:gd name="f31" fmla="+- f6 0 f5"/>
                <a:gd name="f32" fmla="*/ f27 f0 1"/>
                <a:gd name="f33" fmla="*/ f31 1 397"/>
                <a:gd name="f34" fmla="*/ f30 1 390"/>
                <a:gd name="f35" fmla="*/ 266 f31 1"/>
                <a:gd name="f36" fmla="*/ 366 f30 1"/>
                <a:gd name="f37" fmla="*/ 373 f31 1"/>
                <a:gd name="f38" fmla="*/ 153 f30 1"/>
                <a:gd name="f39" fmla="*/ 153 f31 1"/>
                <a:gd name="f40" fmla="*/ 26 f30 1"/>
                <a:gd name="f41" fmla="*/ 26 f31 1"/>
                <a:gd name="f42" fmla="*/ 246 f30 1"/>
                <a:gd name="f43" fmla="*/ 225 f31 1"/>
                <a:gd name="f44" fmla="*/ 377 f30 1"/>
                <a:gd name="f45" fmla="*/ f32 1 f2"/>
                <a:gd name="f46" fmla="*/ f35 1 397"/>
                <a:gd name="f47" fmla="*/ f36 1 390"/>
                <a:gd name="f48" fmla="*/ f37 1 397"/>
                <a:gd name="f49" fmla="*/ f38 1 390"/>
                <a:gd name="f50" fmla="*/ f39 1 397"/>
                <a:gd name="f51" fmla="*/ f40 1 390"/>
                <a:gd name="f52" fmla="*/ f41 1 397"/>
                <a:gd name="f53" fmla="*/ f42 1 390"/>
                <a:gd name="f54" fmla="*/ f43 1 397"/>
                <a:gd name="f55" fmla="*/ f44 1 390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397" h="390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5" name="Line 237">
              <a:extLst>
                <a:ext uri="{FF2B5EF4-FFF2-40B4-BE49-F238E27FC236}">
                  <a16:creationId xmlns:a16="http://schemas.microsoft.com/office/drawing/2014/main" id="{9A47B3B0-55E6-F254-241A-3D0EF521BA81}"/>
                </a:ext>
              </a:extLst>
            </p:cNvPr>
            <p:cNvSpPr/>
            <p:nvPr/>
          </p:nvSpPr>
          <p:spPr>
            <a:xfrm>
              <a:off x="10961571" y="2849581"/>
              <a:ext cx="12371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6" name="Freeform 238">
              <a:extLst>
                <a:ext uri="{FF2B5EF4-FFF2-40B4-BE49-F238E27FC236}">
                  <a16:creationId xmlns:a16="http://schemas.microsoft.com/office/drawing/2014/main" id="{550391C4-C71F-14AC-84CD-370CF285F60B}"/>
                </a:ext>
              </a:extLst>
            </p:cNvPr>
            <p:cNvSpPr/>
            <p:nvPr/>
          </p:nvSpPr>
          <p:spPr>
            <a:xfrm>
              <a:off x="10946730" y="2887940"/>
              <a:ext cx="106390" cy="1756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7"/>
                <a:gd name="f7" fmla="val 241"/>
                <a:gd name="f8" fmla="val 43"/>
                <a:gd name="f9" fmla="val 188"/>
                <a:gd name="f10" fmla="val 52"/>
                <a:gd name="f11" fmla="val 220"/>
                <a:gd name="f12" fmla="val 80"/>
                <a:gd name="f13" fmla="val 107"/>
                <a:gd name="f14" fmla="val 234"/>
                <a:gd name="f15" fmla="val 133"/>
                <a:gd name="f16" fmla="val 227"/>
                <a:gd name="f17" fmla="val 195"/>
                <a:gd name="f18" fmla="val 138"/>
                <a:gd name="f19" fmla="val 162"/>
                <a:gd name="f20" fmla="val 95"/>
                <a:gd name="f21" fmla="val 25"/>
                <a:gd name="f22" fmla="+- 0 0 -90"/>
                <a:gd name="f23" fmla="*/ f3 1 147"/>
                <a:gd name="f24" fmla="*/ f4 1 241"/>
                <a:gd name="f25" fmla="+- f7 0 f5"/>
                <a:gd name="f26" fmla="+- f6 0 f5"/>
                <a:gd name="f27" fmla="*/ f22 f0 1"/>
                <a:gd name="f28" fmla="*/ f26 1 147"/>
                <a:gd name="f29" fmla="*/ f25 1 241"/>
                <a:gd name="f30" fmla="*/ 43 f26 1"/>
                <a:gd name="f31" fmla="*/ 188 f25 1"/>
                <a:gd name="f32" fmla="*/ 107 f26 1"/>
                <a:gd name="f33" fmla="*/ 234 f25 1"/>
                <a:gd name="f34" fmla="*/ 138 f26 1"/>
                <a:gd name="f35" fmla="*/ 162 f25 1"/>
                <a:gd name="f36" fmla="*/ 95 f26 1"/>
                <a:gd name="f37" fmla="*/ 0 f25 1"/>
                <a:gd name="f38" fmla="*/ 0 f26 1"/>
                <a:gd name="f39" fmla="*/ 25 f25 1"/>
                <a:gd name="f40" fmla="*/ f27 1 f2"/>
                <a:gd name="f41" fmla="*/ f30 1 147"/>
                <a:gd name="f42" fmla="*/ f31 1 241"/>
                <a:gd name="f43" fmla="*/ f32 1 147"/>
                <a:gd name="f44" fmla="*/ f33 1 241"/>
                <a:gd name="f45" fmla="*/ f34 1 147"/>
                <a:gd name="f46" fmla="*/ f35 1 241"/>
                <a:gd name="f47" fmla="*/ f36 1 147"/>
                <a:gd name="f48" fmla="*/ f37 1 241"/>
                <a:gd name="f49" fmla="*/ f38 1 147"/>
                <a:gd name="f50" fmla="*/ f39 1 241"/>
                <a:gd name="f51" fmla="*/ 0 1 f28"/>
                <a:gd name="f52" fmla="*/ f6 1 f28"/>
                <a:gd name="f53" fmla="*/ 0 1 f29"/>
                <a:gd name="f54" fmla="*/ f7 1 f29"/>
                <a:gd name="f55" fmla="+- f40 0 f1"/>
                <a:gd name="f56" fmla="*/ f41 1 f28"/>
                <a:gd name="f57" fmla="*/ f42 1 f29"/>
                <a:gd name="f58" fmla="*/ f43 1 f28"/>
                <a:gd name="f59" fmla="*/ f44 1 f29"/>
                <a:gd name="f60" fmla="*/ f45 1 f28"/>
                <a:gd name="f61" fmla="*/ f46 1 f29"/>
                <a:gd name="f62" fmla="*/ f47 1 f28"/>
                <a:gd name="f63" fmla="*/ f48 1 f29"/>
                <a:gd name="f64" fmla="*/ f49 1 f28"/>
                <a:gd name="f65" fmla="*/ f50 1 f29"/>
                <a:gd name="f66" fmla="*/ f51 f23 1"/>
                <a:gd name="f67" fmla="*/ f52 f23 1"/>
                <a:gd name="f68" fmla="*/ f54 f24 1"/>
                <a:gd name="f69" fmla="*/ f53 f24 1"/>
                <a:gd name="f70" fmla="*/ f56 f23 1"/>
                <a:gd name="f71" fmla="*/ f57 f24 1"/>
                <a:gd name="f72" fmla="*/ f58 f23 1"/>
                <a:gd name="f73" fmla="*/ f59 f24 1"/>
                <a:gd name="f74" fmla="*/ f60 f23 1"/>
                <a:gd name="f75" fmla="*/ f61 f24 1"/>
                <a:gd name="f76" fmla="*/ f62 f23 1"/>
                <a:gd name="f77" fmla="*/ f63 f24 1"/>
                <a:gd name="f78" fmla="*/ f64 f23 1"/>
                <a:gd name="f79" fmla="*/ f65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0" y="f71"/>
                </a:cxn>
                <a:cxn ang="f55">
                  <a:pos x="f72" y="f73"/>
                </a:cxn>
                <a:cxn ang="f55">
                  <a:pos x="f74" y="f75"/>
                </a:cxn>
                <a:cxn ang="f55">
                  <a:pos x="f76" y="f77"/>
                </a:cxn>
                <a:cxn ang="f55">
                  <a:pos x="f78" y="f79"/>
                </a:cxn>
                <a:cxn ang="f55">
                  <a:pos x="f70" y="f71"/>
                </a:cxn>
              </a:cxnLst>
              <a:rect l="f66" t="f69" r="f67" b="f68"/>
              <a:pathLst>
                <a:path w="147" h="241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6"/>
                    <a:pt x="f6" y="f17"/>
                    <a:pt x="f18" y="f19"/>
                  </a:cubicBezTo>
                  <a:cubicBezTo>
                    <a:pt x="f20" y="f5"/>
                    <a:pt x="f20" y="f5"/>
                    <a:pt x="f20" y="f5"/>
                  </a:cubicBezTo>
                  <a:cubicBezTo>
                    <a:pt x="f5" y="f21"/>
                    <a:pt x="f5" y="f21"/>
                    <a:pt x="f5" y="f21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7" name="Line 239">
              <a:extLst>
                <a:ext uri="{FF2B5EF4-FFF2-40B4-BE49-F238E27FC236}">
                  <a16:creationId xmlns:a16="http://schemas.microsoft.com/office/drawing/2014/main" id="{A03F6CCE-929F-0438-6658-649C9643EE95}"/>
                </a:ext>
              </a:extLst>
            </p:cNvPr>
            <p:cNvSpPr/>
            <p:nvPr/>
          </p:nvSpPr>
          <p:spPr>
            <a:xfrm flipV="1">
              <a:off x="10955389" y="2911440"/>
              <a:ext cx="65562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8" name="Line 240">
              <a:extLst>
                <a:ext uri="{FF2B5EF4-FFF2-40B4-BE49-F238E27FC236}">
                  <a16:creationId xmlns:a16="http://schemas.microsoft.com/office/drawing/2014/main" id="{F4A467CC-9249-9FB1-37CB-EC145F18E417}"/>
                </a:ext>
              </a:extLst>
            </p:cNvPr>
            <p:cNvSpPr/>
            <p:nvPr/>
          </p:nvSpPr>
          <p:spPr>
            <a:xfrm flipV="1">
              <a:off x="10961571" y="2926290"/>
              <a:ext cx="63093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9" name="Line 241">
              <a:extLst>
                <a:ext uri="{FF2B5EF4-FFF2-40B4-BE49-F238E27FC236}">
                  <a16:creationId xmlns:a16="http://schemas.microsoft.com/office/drawing/2014/main" id="{B0406D47-82E1-00FB-8B07-9784B588148C}"/>
                </a:ext>
              </a:extLst>
            </p:cNvPr>
            <p:cNvSpPr/>
            <p:nvPr/>
          </p:nvSpPr>
          <p:spPr>
            <a:xfrm flipV="1">
              <a:off x="10981367" y="3002990"/>
              <a:ext cx="64328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0" name="Line 242">
              <a:extLst>
                <a:ext uri="{FF2B5EF4-FFF2-40B4-BE49-F238E27FC236}">
                  <a16:creationId xmlns:a16="http://schemas.microsoft.com/office/drawing/2014/main" id="{8D031A3A-42DD-2A39-B377-53D277533E40}"/>
                </a:ext>
              </a:extLst>
            </p:cNvPr>
            <p:cNvSpPr/>
            <p:nvPr/>
          </p:nvSpPr>
          <p:spPr>
            <a:xfrm flipH="1">
              <a:off x="10622603" y="2558866"/>
              <a:ext cx="158346" cy="274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1" name="Line 243">
              <a:extLst>
                <a:ext uri="{FF2B5EF4-FFF2-40B4-BE49-F238E27FC236}">
                  <a16:creationId xmlns:a16="http://schemas.microsoft.com/office/drawing/2014/main" id="{E711C6EF-C08C-201B-4794-77409BAED104}"/>
                </a:ext>
              </a:extLst>
            </p:cNvPr>
            <p:cNvSpPr/>
            <p:nvPr/>
          </p:nvSpPr>
          <p:spPr>
            <a:xfrm flipH="1">
              <a:off x="11044461" y="2970821"/>
              <a:ext cx="82890" cy="1435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2" name="Line 244">
              <a:extLst>
                <a:ext uri="{FF2B5EF4-FFF2-40B4-BE49-F238E27FC236}">
                  <a16:creationId xmlns:a16="http://schemas.microsoft.com/office/drawing/2014/main" id="{A9B56536-717A-3F71-1A0A-36562F80A52E}"/>
                </a:ext>
              </a:extLst>
            </p:cNvPr>
            <p:cNvSpPr/>
            <p:nvPr/>
          </p:nvSpPr>
          <p:spPr>
            <a:xfrm flipH="1">
              <a:off x="11064258" y="2764222"/>
              <a:ext cx="43296" cy="7546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21175" y="2653963"/>
            <a:ext cx="7239000" cy="1325562"/>
          </a:xfrm>
        </p:spPr>
        <p:txBody>
          <a:bodyPr/>
          <a:lstStyle/>
          <a:p>
            <a:r>
              <a:rPr sz="2200" b="1" dirty="0">
                <a:solidFill>
                  <a:srgbClr val="1A2747"/>
                </a:solidFill>
              </a:rPr>
              <a:t>The Private Clinic outperforms all direct competitors on star rating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292608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Average Star Rating · The Private Clinic vs Direct Competitors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7772400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261872"/>
            <a:ext cx="3657600" cy="32918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307592"/>
            <a:ext cx="10999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A2747"/>
                </a:solidFill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42929"/>
            <a:ext cx="347472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850" dirty="0">
                <a:solidFill>
                  <a:srgbClr val="333333"/>
                </a:solidFill>
              </a:rPr>
              <a:t>▸  </a:t>
            </a:r>
            <a:r>
              <a:rPr sz="1100" dirty="0">
                <a:solidFill>
                  <a:srgbClr val="333333"/>
                </a:solidFill>
              </a:rPr>
              <a:t>The Private Clinic leads direct competitors with a 4.72 average rating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MYA Cosmetic Surgery scores lowest among direct rivals at 4.17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The Harley Medical Group is the closest competitor at 4.40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A ~0.43 point gap separates The Private Clinic from the direct average (4.29)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The Private Clinic outperforms all direct competitors on star rating</a:t>
            </a:r>
          </a:p>
        </p:txBody>
      </p:sp>
      <p:grpSp>
        <p:nvGrpSpPr>
          <p:cNvPr id="9" name="Group 231">
            <a:extLst>
              <a:ext uri="{FF2B5EF4-FFF2-40B4-BE49-F238E27FC236}">
                <a16:creationId xmlns:a16="http://schemas.microsoft.com/office/drawing/2014/main" id="{1B2D77FE-9A05-BBAC-D36C-E86F21975150}"/>
              </a:ext>
            </a:extLst>
          </p:cNvPr>
          <p:cNvGrpSpPr/>
          <p:nvPr/>
        </p:nvGrpSpPr>
        <p:grpSpPr>
          <a:xfrm>
            <a:off x="11208716" y="3890727"/>
            <a:ext cx="504748" cy="571545"/>
            <a:chOff x="10622603" y="2542781"/>
            <a:chExt cx="504748" cy="571545"/>
          </a:xfrm>
        </p:grpSpPr>
        <p:sp>
          <p:nvSpPr>
            <p:cNvPr id="10" name="Freeform 232">
              <a:extLst>
                <a:ext uri="{FF2B5EF4-FFF2-40B4-BE49-F238E27FC236}">
                  <a16:creationId xmlns:a16="http://schemas.microsoft.com/office/drawing/2014/main" id="{D07C8056-F94B-69AF-1B43-E131DACA6F3D}"/>
                </a:ext>
              </a:extLst>
            </p:cNvPr>
            <p:cNvSpPr/>
            <p:nvPr/>
          </p:nvSpPr>
          <p:spPr>
            <a:xfrm>
              <a:off x="10837861" y="2613291"/>
              <a:ext cx="183090" cy="1830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2"/>
                <a:gd name="f7" fmla="val 131"/>
                <a:gd name="f8" fmla="val 249"/>
                <a:gd name="f9" fmla="val 145"/>
                <a:gd name="f10" fmla="val 246"/>
                <a:gd name="f11" fmla="val 159"/>
                <a:gd name="f12" fmla="val 243"/>
                <a:gd name="f13" fmla="val 173"/>
                <a:gd name="f14" fmla="val 236"/>
                <a:gd name="f15" fmla="val 172"/>
                <a:gd name="f16" fmla="val 230"/>
                <a:gd name="f17" fmla="val 170"/>
                <a:gd name="f18" fmla="val 223"/>
                <a:gd name="f19" fmla="val 169"/>
                <a:gd name="f20" fmla="val 216"/>
                <a:gd name="f21" fmla="val 168"/>
                <a:gd name="f22" fmla="val 212"/>
                <a:gd name="f23" fmla="val 209"/>
                <a:gd name="f24" fmla="val 174"/>
                <a:gd name="f25" fmla="val 206"/>
                <a:gd name="f26" fmla="val 179"/>
                <a:gd name="f27" fmla="val 207"/>
                <a:gd name="f28" fmla="val 183"/>
                <a:gd name="f29" fmla="val 189"/>
                <a:gd name="f30" fmla="val 194"/>
                <a:gd name="f31" fmla="val 220"/>
                <a:gd name="f32" fmla="val 198"/>
                <a:gd name="f33" fmla="val 225"/>
                <a:gd name="f34" fmla="val 204"/>
                <a:gd name="f35" fmla="val 215"/>
                <a:gd name="f36" fmla="val 214"/>
                <a:gd name="f37" fmla="val 193"/>
                <a:gd name="f38" fmla="val 233"/>
                <a:gd name="f39" fmla="val 188"/>
                <a:gd name="f40" fmla="val 227"/>
                <a:gd name="f41" fmla="val 184"/>
                <a:gd name="f42" fmla="val 222"/>
                <a:gd name="f43" fmla="val 217"/>
                <a:gd name="f44" fmla="val 175"/>
                <a:gd name="f45" fmla="val 213"/>
                <a:gd name="f46" fmla="val 171"/>
                <a:gd name="f47" fmla="val 211"/>
                <a:gd name="f48" fmla="val 165"/>
                <a:gd name="f49" fmla="val 160"/>
                <a:gd name="f50" fmla="val 158"/>
                <a:gd name="f51" fmla="val 219"/>
                <a:gd name="f52" fmla="val 240"/>
                <a:gd name="f53" fmla="val 161"/>
                <a:gd name="f54" fmla="val 247"/>
                <a:gd name="f55" fmla="val 147"/>
                <a:gd name="f56" fmla="val 133"/>
                <a:gd name="f57" fmla="val 250"/>
                <a:gd name="f58" fmla="val 118"/>
                <a:gd name="f59" fmla="val 117"/>
                <a:gd name="f60" fmla="val 116"/>
                <a:gd name="f61" fmla="val 239"/>
                <a:gd name="f62" fmla="val 234"/>
                <a:gd name="f63" fmla="val 115"/>
                <a:gd name="f64" fmla="val 112"/>
                <a:gd name="f65" fmla="val 221"/>
                <a:gd name="f66" fmla="val 106"/>
                <a:gd name="f67" fmla="val 101"/>
                <a:gd name="f68" fmla="val 218"/>
                <a:gd name="f69" fmla="val 97"/>
                <a:gd name="f70" fmla="val 94"/>
                <a:gd name="f71" fmla="val 91"/>
                <a:gd name="f72" fmla="val 231"/>
                <a:gd name="f73" fmla="val 87"/>
                <a:gd name="f74" fmla="val 237"/>
                <a:gd name="f75" fmla="val 84"/>
                <a:gd name="f76" fmla="val 244"/>
                <a:gd name="f77" fmla="val 70"/>
                <a:gd name="f78" fmla="val 238"/>
                <a:gd name="f79" fmla="val 59"/>
                <a:gd name="f80" fmla="val 46"/>
                <a:gd name="f81" fmla="val 48"/>
                <a:gd name="f82" fmla="val 50"/>
                <a:gd name="f83" fmla="val 51"/>
                <a:gd name="f84" fmla="val 53"/>
                <a:gd name="f85" fmla="val 55"/>
                <a:gd name="f86" fmla="val 57"/>
                <a:gd name="f87" fmla="val 203"/>
                <a:gd name="f88" fmla="val 190"/>
                <a:gd name="f89" fmla="val 52"/>
                <a:gd name="f90" fmla="val 186"/>
                <a:gd name="f91" fmla="val 185"/>
                <a:gd name="f92" fmla="val 43"/>
                <a:gd name="f93" fmla="val 187"/>
                <a:gd name="f94" fmla="val 39"/>
                <a:gd name="f95" fmla="val 36"/>
                <a:gd name="f96" fmla="val 32"/>
                <a:gd name="f97" fmla="val 192"/>
                <a:gd name="f98" fmla="val 29"/>
                <a:gd name="f99" fmla="val 26"/>
                <a:gd name="f100" fmla="val 21"/>
                <a:gd name="f101" fmla="val 196"/>
                <a:gd name="f102" fmla="val 16"/>
                <a:gd name="f103" fmla="val 10"/>
                <a:gd name="f104" fmla="val 4"/>
                <a:gd name="f105" fmla="val 157"/>
                <a:gd name="f106" fmla="val 154"/>
                <a:gd name="f107" fmla="val 151"/>
                <a:gd name="f108" fmla="val 22"/>
                <a:gd name="f109" fmla="val 149"/>
                <a:gd name="f110" fmla="val 30"/>
                <a:gd name="f111" fmla="val 142"/>
                <a:gd name="f112" fmla="val 31"/>
                <a:gd name="f113" fmla="val 136"/>
                <a:gd name="f114" fmla="val 129"/>
                <a:gd name="f115" fmla="val 127"/>
                <a:gd name="f116" fmla="val 20"/>
                <a:gd name="f117" fmla="val 126"/>
                <a:gd name="f118" fmla="val 14"/>
                <a:gd name="f119" fmla="val 125"/>
                <a:gd name="f120" fmla="val 8"/>
                <a:gd name="f121" fmla="val 123"/>
                <a:gd name="f122" fmla="val 121"/>
                <a:gd name="f123" fmla="val 3"/>
                <a:gd name="f124" fmla="val 107"/>
                <a:gd name="f125" fmla="val 6"/>
                <a:gd name="f126" fmla="val 9"/>
                <a:gd name="f127" fmla="val 79"/>
                <a:gd name="f128" fmla="val 81"/>
                <a:gd name="f129" fmla="val 82"/>
                <a:gd name="f130" fmla="val 83"/>
                <a:gd name="f131" fmla="val 85"/>
                <a:gd name="f132" fmla="val 41"/>
                <a:gd name="f133" fmla="val 44"/>
                <a:gd name="f134" fmla="val 78"/>
                <a:gd name="f135" fmla="val 47"/>
                <a:gd name="f136" fmla="val 71"/>
                <a:gd name="f137" fmla="val 66"/>
                <a:gd name="f138" fmla="val 62"/>
                <a:gd name="f139" fmla="val 35"/>
                <a:gd name="f140" fmla="val 58"/>
                <a:gd name="f141" fmla="val 27"/>
                <a:gd name="f142" fmla="val 37"/>
                <a:gd name="f143" fmla="val 38"/>
                <a:gd name="f144" fmla="val 63"/>
                <a:gd name="f145" fmla="val 24"/>
                <a:gd name="f146" fmla="val 67"/>
                <a:gd name="f147" fmla="val 28"/>
                <a:gd name="f148" fmla="val 72"/>
                <a:gd name="f149" fmla="val 34"/>
                <a:gd name="f150" fmla="val 74"/>
                <a:gd name="f151" fmla="val 77"/>
                <a:gd name="f152" fmla="val 80"/>
                <a:gd name="f153" fmla="val 40"/>
                <a:gd name="f154" fmla="val 88"/>
                <a:gd name="f155" fmla="val 92"/>
                <a:gd name="f156" fmla="val 33"/>
                <a:gd name="f157" fmla="val 93"/>
                <a:gd name="f158" fmla="val 13"/>
                <a:gd name="f159" fmla="val 5"/>
                <a:gd name="f160" fmla="val 120"/>
                <a:gd name="f161" fmla="val 2"/>
                <a:gd name="f162" fmla="val 135"/>
                <a:gd name="f163" fmla="val 15"/>
                <a:gd name="f164" fmla="val 137"/>
                <a:gd name="f165" fmla="val 138"/>
                <a:gd name="f166" fmla="val 140"/>
                <a:gd name="f167" fmla="val 150"/>
                <a:gd name="f168" fmla="val 155"/>
                <a:gd name="f169" fmla="val 162"/>
                <a:gd name="f170" fmla="val 176"/>
                <a:gd name="f171" fmla="val 11"/>
                <a:gd name="f172" fmla="val 205"/>
                <a:gd name="f173" fmla="val 201"/>
                <a:gd name="f174" fmla="val 199"/>
                <a:gd name="f175" fmla="val 49"/>
                <a:gd name="f176" fmla="val 54"/>
                <a:gd name="f177" fmla="val 197"/>
                <a:gd name="f178" fmla="val 200"/>
                <a:gd name="f179" fmla="val 65"/>
                <a:gd name="f180" fmla="val 64"/>
                <a:gd name="f181" fmla="val 60"/>
                <a:gd name="f182" fmla="val 56"/>
                <a:gd name="f183" fmla="val 69"/>
                <a:gd name="f184" fmla="val 76"/>
                <a:gd name="f185" fmla="val 245"/>
                <a:gd name="f186" fmla="val 95"/>
                <a:gd name="f187" fmla="val 98"/>
                <a:gd name="f188" fmla="val 100"/>
                <a:gd name="f189" fmla="val 232"/>
                <a:gd name="f190" fmla="val 103"/>
                <a:gd name="f191" fmla="val 104"/>
                <a:gd name="f192" fmla="val 228"/>
                <a:gd name="f193" fmla="val 105"/>
                <a:gd name="f194" fmla="val 226"/>
                <a:gd name="f195" fmla="val 109"/>
                <a:gd name="f196" fmla="+- 0 0 -90"/>
                <a:gd name="f197" fmla="*/ f3 1 252"/>
                <a:gd name="f198" fmla="*/ f4 1 252"/>
                <a:gd name="f199" fmla="+- f6 0 f5"/>
                <a:gd name="f200" fmla="*/ f196 f0 1"/>
                <a:gd name="f201" fmla="*/ f199 1 252"/>
                <a:gd name="f202" fmla="*/ 252 f199 1"/>
                <a:gd name="f203" fmla="*/ 131 f199 1"/>
                <a:gd name="f204" fmla="*/ 243 f199 1"/>
                <a:gd name="f205" fmla="*/ 173 f199 1"/>
                <a:gd name="f206" fmla="*/ 223 f199 1"/>
                <a:gd name="f207" fmla="*/ 169 f199 1"/>
                <a:gd name="f208" fmla="*/ 209 f199 1"/>
                <a:gd name="f209" fmla="*/ 174 f199 1"/>
                <a:gd name="f210" fmla="*/ 212 f199 1"/>
                <a:gd name="f211" fmla="*/ 189 f199 1"/>
                <a:gd name="f212" fmla="*/ 225 f199 1"/>
                <a:gd name="f213" fmla="*/ 204 f199 1"/>
                <a:gd name="f214" fmla="*/ 193 f199 1"/>
                <a:gd name="f215" fmla="*/ 233 f199 1"/>
                <a:gd name="f216" fmla="*/ 179 f199 1"/>
                <a:gd name="f217" fmla="*/ 217 f199 1"/>
                <a:gd name="f218" fmla="*/ 165 f199 1"/>
                <a:gd name="f219" fmla="*/ 213 f199 1"/>
                <a:gd name="f220" fmla="*/ 159 f199 1"/>
                <a:gd name="f221" fmla="*/ 227 f199 1"/>
                <a:gd name="f222" fmla="*/ 161 f199 1"/>
                <a:gd name="f223" fmla="*/ 247 f199 1"/>
                <a:gd name="f224" fmla="*/ 118 f199 1"/>
                <a:gd name="f225" fmla="*/ 117 f199 1"/>
                <a:gd name="f226" fmla="*/ 115 f199 1"/>
                <a:gd name="f227" fmla="*/ 230 f199 1"/>
                <a:gd name="f228" fmla="*/ 106 f199 1"/>
                <a:gd name="f229" fmla="*/ 220 f199 1"/>
                <a:gd name="f230" fmla="*/ 94 f199 1"/>
                <a:gd name="f231" fmla="*/ 84 f199 1"/>
                <a:gd name="f232" fmla="*/ 244 f199 1"/>
                <a:gd name="f233" fmla="*/ 46 f199 1"/>
                <a:gd name="f234" fmla="*/ 51 f199 1"/>
                <a:gd name="f235" fmla="*/ 57 f199 1"/>
                <a:gd name="f236" fmla="*/ 203 f199 1"/>
                <a:gd name="f237" fmla="*/ 55 f199 1"/>
                <a:gd name="f238" fmla="*/ 190 f199 1"/>
                <a:gd name="f239" fmla="*/ 43 f199 1"/>
                <a:gd name="f240" fmla="*/ 187 f199 1"/>
                <a:gd name="f241" fmla="*/ 32 f199 1"/>
                <a:gd name="f242" fmla="*/ 192 f199 1"/>
                <a:gd name="f243" fmla="*/ 21 f199 1"/>
                <a:gd name="f244" fmla="*/ 196 f199 1"/>
                <a:gd name="f245" fmla="*/ 4 f199 1"/>
                <a:gd name="f246" fmla="*/ 157 f199 1"/>
                <a:gd name="f247" fmla="*/ 22 f199 1"/>
                <a:gd name="f248" fmla="*/ 149 f199 1"/>
                <a:gd name="f249" fmla="*/ 31 f199 1"/>
                <a:gd name="f250" fmla="*/ 136 f199 1"/>
                <a:gd name="f251" fmla="*/ 20 f199 1"/>
                <a:gd name="f252" fmla="*/ 126 f199 1"/>
                <a:gd name="f253" fmla="*/ 0 f199 1"/>
                <a:gd name="f254" fmla="*/ 121 f199 1"/>
                <a:gd name="f255" fmla="*/ 9 f199 1"/>
                <a:gd name="f256" fmla="*/ 79 f199 1"/>
                <a:gd name="f257" fmla="*/ 26 f199 1"/>
                <a:gd name="f258" fmla="*/ 83 f199 1"/>
                <a:gd name="f259" fmla="*/ 44 f199 1"/>
                <a:gd name="f260" fmla="*/ 78 f199 1"/>
                <a:gd name="f261" fmla="*/ 39 f199 1"/>
                <a:gd name="f262" fmla="*/ 62 f199 1"/>
                <a:gd name="f263" fmla="*/ 27 f199 1"/>
                <a:gd name="f264" fmla="*/ 48 f199 1"/>
                <a:gd name="f265" fmla="*/ 59 f199 1"/>
                <a:gd name="f266" fmla="*/ 70 f199 1"/>
                <a:gd name="f267" fmla="*/ 77 f199 1"/>
                <a:gd name="f268" fmla="*/ 38 f199 1"/>
                <a:gd name="f269" fmla="*/ 88 f199 1"/>
                <a:gd name="f270" fmla="*/ 29 f199 1"/>
                <a:gd name="f271" fmla="*/ 92 f199 1"/>
                <a:gd name="f272" fmla="*/ 5 f199 1"/>
                <a:gd name="f273" fmla="*/ 135 f199 1"/>
                <a:gd name="f274" fmla="*/ 137 f199 1"/>
                <a:gd name="f275" fmla="*/ 145 f199 1"/>
                <a:gd name="f276" fmla="*/ 158 f199 1"/>
                <a:gd name="f277" fmla="*/ 168 f199 1"/>
                <a:gd name="f278" fmla="*/ 10 f199 1"/>
                <a:gd name="f279" fmla="*/ 206 f199 1"/>
                <a:gd name="f280" fmla="*/ 30 f199 1"/>
                <a:gd name="f281" fmla="*/ 201 f199 1"/>
                <a:gd name="f282" fmla="*/ 40 f199 1"/>
                <a:gd name="f283" fmla="*/ 49 f199 1"/>
                <a:gd name="f284" fmla="*/ 197 f199 1"/>
                <a:gd name="f285" fmla="*/ 65 f199 1"/>
                <a:gd name="f286" fmla="*/ 60 f199 1"/>
                <a:gd name="f287" fmla="*/ 231 f199 1"/>
                <a:gd name="f288" fmla="*/ 56 f199 1"/>
                <a:gd name="f289" fmla="*/ 240 f199 1"/>
                <a:gd name="f290" fmla="*/ 76 f199 1"/>
                <a:gd name="f291" fmla="*/ 249 f199 1"/>
                <a:gd name="f292" fmla="*/ 95 f199 1"/>
                <a:gd name="f293" fmla="*/ 232 f199 1"/>
                <a:gd name="f294" fmla="*/ 103 f199 1"/>
                <a:gd name="f295" fmla="*/ 226 f199 1"/>
                <a:gd name="f296" fmla="*/ 221 f199 1"/>
                <a:gd name="f297" fmla="*/ 116 f199 1"/>
                <a:gd name="f298" fmla="*/ f200 1 f2"/>
                <a:gd name="f299" fmla="*/ f202 1 252"/>
                <a:gd name="f300" fmla="*/ f203 1 252"/>
                <a:gd name="f301" fmla="*/ f204 1 252"/>
                <a:gd name="f302" fmla="*/ f205 1 252"/>
                <a:gd name="f303" fmla="*/ f206 1 252"/>
                <a:gd name="f304" fmla="*/ f207 1 252"/>
                <a:gd name="f305" fmla="*/ f208 1 252"/>
                <a:gd name="f306" fmla="*/ f209 1 252"/>
                <a:gd name="f307" fmla="*/ f210 1 252"/>
                <a:gd name="f308" fmla="*/ f211 1 252"/>
                <a:gd name="f309" fmla="*/ f212 1 252"/>
                <a:gd name="f310" fmla="*/ f213 1 252"/>
                <a:gd name="f311" fmla="*/ f214 1 252"/>
                <a:gd name="f312" fmla="*/ f215 1 252"/>
                <a:gd name="f313" fmla="*/ f216 1 252"/>
                <a:gd name="f314" fmla="*/ f217 1 252"/>
                <a:gd name="f315" fmla="*/ f218 1 252"/>
                <a:gd name="f316" fmla="*/ f219 1 252"/>
                <a:gd name="f317" fmla="*/ f220 1 252"/>
                <a:gd name="f318" fmla="*/ f221 1 252"/>
                <a:gd name="f319" fmla="*/ f222 1 252"/>
                <a:gd name="f320" fmla="*/ f223 1 252"/>
                <a:gd name="f321" fmla="*/ f224 1 252"/>
                <a:gd name="f322" fmla="*/ f225 1 252"/>
                <a:gd name="f323" fmla="*/ f226 1 252"/>
                <a:gd name="f324" fmla="*/ f227 1 252"/>
                <a:gd name="f325" fmla="*/ f228 1 252"/>
                <a:gd name="f326" fmla="*/ f229 1 252"/>
                <a:gd name="f327" fmla="*/ f230 1 252"/>
                <a:gd name="f328" fmla="*/ f231 1 252"/>
                <a:gd name="f329" fmla="*/ f232 1 252"/>
                <a:gd name="f330" fmla="*/ f233 1 252"/>
                <a:gd name="f331" fmla="*/ f234 1 252"/>
                <a:gd name="f332" fmla="*/ f235 1 252"/>
                <a:gd name="f333" fmla="*/ f236 1 252"/>
                <a:gd name="f334" fmla="*/ f237 1 252"/>
                <a:gd name="f335" fmla="*/ f238 1 252"/>
                <a:gd name="f336" fmla="*/ f239 1 252"/>
                <a:gd name="f337" fmla="*/ f240 1 252"/>
                <a:gd name="f338" fmla="*/ f241 1 252"/>
                <a:gd name="f339" fmla="*/ f242 1 252"/>
                <a:gd name="f340" fmla="*/ f243 1 252"/>
                <a:gd name="f341" fmla="*/ f244 1 252"/>
                <a:gd name="f342" fmla="*/ f245 1 252"/>
                <a:gd name="f343" fmla="*/ f246 1 252"/>
                <a:gd name="f344" fmla="*/ f247 1 252"/>
                <a:gd name="f345" fmla="*/ f248 1 252"/>
                <a:gd name="f346" fmla="*/ f249 1 252"/>
                <a:gd name="f347" fmla="*/ f250 1 252"/>
                <a:gd name="f348" fmla="*/ f251 1 252"/>
                <a:gd name="f349" fmla="*/ f252 1 252"/>
                <a:gd name="f350" fmla="*/ f253 1 252"/>
                <a:gd name="f351" fmla="*/ f254 1 252"/>
                <a:gd name="f352" fmla="*/ f255 1 252"/>
                <a:gd name="f353" fmla="*/ f256 1 252"/>
                <a:gd name="f354" fmla="*/ f257 1 252"/>
                <a:gd name="f355" fmla="*/ f258 1 252"/>
                <a:gd name="f356" fmla="*/ f259 1 252"/>
                <a:gd name="f357" fmla="*/ f260 1 252"/>
                <a:gd name="f358" fmla="*/ f261 1 252"/>
                <a:gd name="f359" fmla="*/ f262 1 252"/>
                <a:gd name="f360" fmla="*/ f263 1 252"/>
                <a:gd name="f361" fmla="*/ f264 1 252"/>
                <a:gd name="f362" fmla="*/ f265 1 252"/>
                <a:gd name="f363" fmla="*/ f266 1 252"/>
                <a:gd name="f364" fmla="*/ f267 1 252"/>
                <a:gd name="f365" fmla="*/ f268 1 252"/>
                <a:gd name="f366" fmla="*/ f269 1 252"/>
                <a:gd name="f367" fmla="*/ f270 1 252"/>
                <a:gd name="f368" fmla="*/ f271 1 252"/>
                <a:gd name="f369" fmla="*/ f272 1 252"/>
                <a:gd name="f370" fmla="*/ f273 1 252"/>
                <a:gd name="f371" fmla="*/ f274 1 252"/>
                <a:gd name="f372" fmla="*/ f275 1 252"/>
                <a:gd name="f373" fmla="*/ f276 1 252"/>
                <a:gd name="f374" fmla="*/ f277 1 252"/>
                <a:gd name="f375" fmla="*/ f278 1 252"/>
                <a:gd name="f376" fmla="*/ f279 1 252"/>
                <a:gd name="f377" fmla="*/ f280 1 252"/>
                <a:gd name="f378" fmla="*/ f281 1 252"/>
                <a:gd name="f379" fmla="*/ f282 1 252"/>
                <a:gd name="f380" fmla="*/ f283 1 252"/>
                <a:gd name="f381" fmla="*/ f284 1 252"/>
                <a:gd name="f382" fmla="*/ f285 1 252"/>
                <a:gd name="f383" fmla="*/ f286 1 252"/>
                <a:gd name="f384" fmla="*/ f287 1 252"/>
                <a:gd name="f385" fmla="*/ f288 1 252"/>
                <a:gd name="f386" fmla="*/ f289 1 252"/>
                <a:gd name="f387" fmla="*/ f290 1 252"/>
                <a:gd name="f388" fmla="*/ f291 1 252"/>
                <a:gd name="f389" fmla="*/ f292 1 252"/>
                <a:gd name="f390" fmla="*/ f293 1 252"/>
                <a:gd name="f391" fmla="*/ f294 1 252"/>
                <a:gd name="f392" fmla="*/ f295 1 252"/>
                <a:gd name="f393" fmla="*/ f296 1 252"/>
                <a:gd name="f394" fmla="*/ f297 1 252"/>
                <a:gd name="f395" fmla="*/ 0 1 f201"/>
                <a:gd name="f396" fmla="*/ f6 1 f201"/>
                <a:gd name="f397" fmla="+- f298 0 f1"/>
                <a:gd name="f398" fmla="*/ f299 1 f201"/>
                <a:gd name="f399" fmla="*/ f300 1 f201"/>
                <a:gd name="f400" fmla="*/ f301 1 f201"/>
                <a:gd name="f401" fmla="*/ f302 1 f201"/>
                <a:gd name="f402" fmla="*/ f303 1 f201"/>
                <a:gd name="f403" fmla="*/ f304 1 f201"/>
                <a:gd name="f404" fmla="*/ f305 1 f201"/>
                <a:gd name="f405" fmla="*/ f306 1 f201"/>
                <a:gd name="f406" fmla="*/ f307 1 f201"/>
                <a:gd name="f407" fmla="*/ f308 1 f201"/>
                <a:gd name="f408" fmla="*/ f309 1 f201"/>
                <a:gd name="f409" fmla="*/ f310 1 f201"/>
                <a:gd name="f410" fmla="*/ f311 1 f201"/>
                <a:gd name="f411" fmla="*/ f312 1 f201"/>
                <a:gd name="f412" fmla="*/ f313 1 f201"/>
                <a:gd name="f413" fmla="*/ f314 1 f201"/>
                <a:gd name="f414" fmla="*/ f315 1 f201"/>
                <a:gd name="f415" fmla="*/ f316 1 f201"/>
                <a:gd name="f416" fmla="*/ f317 1 f201"/>
                <a:gd name="f417" fmla="*/ f318 1 f201"/>
                <a:gd name="f418" fmla="*/ f319 1 f201"/>
                <a:gd name="f419" fmla="*/ f320 1 f201"/>
                <a:gd name="f420" fmla="*/ f321 1 f201"/>
                <a:gd name="f421" fmla="*/ f322 1 f201"/>
                <a:gd name="f422" fmla="*/ f323 1 f201"/>
                <a:gd name="f423" fmla="*/ f324 1 f201"/>
                <a:gd name="f424" fmla="*/ f325 1 f201"/>
                <a:gd name="f425" fmla="*/ f326 1 f201"/>
                <a:gd name="f426" fmla="*/ f327 1 f201"/>
                <a:gd name="f427" fmla="*/ f328 1 f201"/>
                <a:gd name="f428" fmla="*/ f329 1 f201"/>
                <a:gd name="f429" fmla="*/ f330 1 f201"/>
                <a:gd name="f430" fmla="*/ f331 1 f201"/>
                <a:gd name="f431" fmla="*/ f332 1 f201"/>
                <a:gd name="f432" fmla="*/ f333 1 f201"/>
                <a:gd name="f433" fmla="*/ f334 1 f201"/>
                <a:gd name="f434" fmla="*/ f335 1 f201"/>
                <a:gd name="f435" fmla="*/ f336 1 f201"/>
                <a:gd name="f436" fmla="*/ f337 1 f201"/>
                <a:gd name="f437" fmla="*/ f338 1 f201"/>
                <a:gd name="f438" fmla="*/ f339 1 f201"/>
                <a:gd name="f439" fmla="*/ f340 1 f201"/>
                <a:gd name="f440" fmla="*/ f341 1 f201"/>
                <a:gd name="f441" fmla="*/ f342 1 f201"/>
                <a:gd name="f442" fmla="*/ f343 1 f201"/>
                <a:gd name="f443" fmla="*/ f344 1 f201"/>
                <a:gd name="f444" fmla="*/ f345 1 f201"/>
                <a:gd name="f445" fmla="*/ f346 1 f201"/>
                <a:gd name="f446" fmla="*/ f347 1 f201"/>
                <a:gd name="f447" fmla="*/ f348 1 f201"/>
                <a:gd name="f448" fmla="*/ f349 1 f201"/>
                <a:gd name="f449" fmla="*/ f350 1 f201"/>
                <a:gd name="f450" fmla="*/ f351 1 f201"/>
                <a:gd name="f451" fmla="*/ f352 1 f201"/>
                <a:gd name="f452" fmla="*/ f353 1 f201"/>
                <a:gd name="f453" fmla="*/ f354 1 f201"/>
                <a:gd name="f454" fmla="*/ f355 1 f201"/>
                <a:gd name="f455" fmla="*/ f356 1 f201"/>
                <a:gd name="f456" fmla="*/ f357 1 f201"/>
                <a:gd name="f457" fmla="*/ f358 1 f201"/>
                <a:gd name="f458" fmla="*/ f359 1 f201"/>
                <a:gd name="f459" fmla="*/ f360 1 f201"/>
                <a:gd name="f460" fmla="*/ f361 1 f201"/>
                <a:gd name="f461" fmla="*/ f362 1 f201"/>
                <a:gd name="f462" fmla="*/ f363 1 f201"/>
                <a:gd name="f463" fmla="*/ f364 1 f201"/>
                <a:gd name="f464" fmla="*/ f365 1 f201"/>
                <a:gd name="f465" fmla="*/ f366 1 f201"/>
                <a:gd name="f466" fmla="*/ f367 1 f201"/>
                <a:gd name="f467" fmla="*/ f368 1 f201"/>
                <a:gd name="f468" fmla="*/ f369 1 f201"/>
                <a:gd name="f469" fmla="*/ f370 1 f201"/>
                <a:gd name="f470" fmla="*/ f371 1 f201"/>
                <a:gd name="f471" fmla="*/ f372 1 f201"/>
                <a:gd name="f472" fmla="*/ f373 1 f201"/>
                <a:gd name="f473" fmla="*/ f374 1 f201"/>
                <a:gd name="f474" fmla="*/ f375 1 f201"/>
                <a:gd name="f475" fmla="*/ f376 1 f201"/>
                <a:gd name="f476" fmla="*/ f377 1 f201"/>
                <a:gd name="f477" fmla="*/ f378 1 f201"/>
                <a:gd name="f478" fmla="*/ f379 1 f201"/>
                <a:gd name="f479" fmla="*/ f380 1 f201"/>
                <a:gd name="f480" fmla="*/ f381 1 f201"/>
                <a:gd name="f481" fmla="*/ f382 1 f201"/>
                <a:gd name="f482" fmla="*/ f383 1 f201"/>
                <a:gd name="f483" fmla="*/ f384 1 f201"/>
                <a:gd name="f484" fmla="*/ f385 1 f201"/>
                <a:gd name="f485" fmla="*/ f386 1 f201"/>
                <a:gd name="f486" fmla="*/ f387 1 f201"/>
                <a:gd name="f487" fmla="*/ f388 1 f201"/>
                <a:gd name="f488" fmla="*/ f389 1 f201"/>
                <a:gd name="f489" fmla="*/ f390 1 f201"/>
                <a:gd name="f490" fmla="*/ f391 1 f201"/>
                <a:gd name="f491" fmla="*/ f392 1 f201"/>
                <a:gd name="f492" fmla="*/ f393 1 f201"/>
                <a:gd name="f493" fmla="*/ f394 1 f201"/>
                <a:gd name="f494" fmla="*/ f395 f197 1"/>
                <a:gd name="f495" fmla="*/ f396 f197 1"/>
                <a:gd name="f496" fmla="*/ f396 f198 1"/>
                <a:gd name="f497" fmla="*/ f395 f198 1"/>
                <a:gd name="f498" fmla="*/ f398 f197 1"/>
                <a:gd name="f499" fmla="*/ f399 f198 1"/>
                <a:gd name="f500" fmla="*/ f400 f197 1"/>
                <a:gd name="f501" fmla="*/ f401 f198 1"/>
                <a:gd name="f502" fmla="*/ f402 f197 1"/>
                <a:gd name="f503" fmla="*/ f403 f198 1"/>
                <a:gd name="f504" fmla="*/ f404 f197 1"/>
                <a:gd name="f505" fmla="*/ f405 f198 1"/>
                <a:gd name="f506" fmla="*/ f406 f197 1"/>
                <a:gd name="f507" fmla="*/ f407 f198 1"/>
                <a:gd name="f508" fmla="*/ f408 f197 1"/>
                <a:gd name="f509" fmla="*/ f409 f198 1"/>
                <a:gd name="f510" fmla="*/ f410 f197 1"/>
                <a:gd name="f511" fmla="*/ f411 f198 1"/>
                <a:gd name="f512" fmla="*/ f412 f197 1"/>
                <a:gd name="f513" fmla="*/ f413 f198 1"/>
                <a:gd name="f514" fmla="*/ f414 f197 1"/>
                <a:gd name="f515" fmla="*/ f415 f198 1"/>
                <a:gd name="f516" fmla="*/ f416 f197 1"/>
                <a:gd name="f517" fmla="*/ f417 f198 1"/>
                <a:gd name="f518" fmla="*/ f418 f197 1"/>
                <a:gd name="f519" fmla="*/ f419 f198 1"/>
                <a:gd name="f520" fmla="*/ f420 f197 1"/>
                <a:gd name="f521" fmla="*/ f398 f198 1"/>
                <a:gd name="f522" fmla="*/ f421 f197 1"/>
                <a:gd name="f523" fmla="*/ f400 f198 1"/>
                <a:gd name="f524" fmla="*/ f422 f197 1"/>
                <a:gd name="f525" fmla="*/ f423 f198 1"/>
                <a:gd name="f526" fmla="*/ f424 f197 1"/>
                <a:gd name="f527" fmla="*/ f425 f198 1"/>
                <a:gd name="f528" fmla="*/ f426 f197 1"/>
                <a:gd name="f529" fmla="*/ f408 f198 1"/>
                <a:gd name="f530" fmla="*/ f427 f197 1"/>
                <a:gd name="f531" fmla="*/ f428 f198 1"/>
                <a:gd name="f532" fmla="*/ f429 f197 1"/>
                <a:gd name="f533" fmla="*/ f402 f198 1"/>
                <a:gd name="f534" fmla="*/ f430 f197 1"/>
                <a:gd name="f535" fmla="*/ f406 f198 1"/>
                <a:gd name="f536" fmla="*/ f431 f197 1"/>
                <a:gd name="f537" fmla="*/ f432 f198 1"/>
                <a:gd name="f538" fmla="*/ f433 f197 1"/>
                <a:gd name="f539" fmla="*/ f434 f198 1"/>
                <a:gd name="f540" fmla="*/ f435 f197 1"/>
                <a:gd name="f541" fmla="*/ f436 f198 1"/>
                <a:gd name="f542" fmla="*/ f437 f197 1"/>
                <a:gd name="f543" fmla="*/ f438 f198 1"/>
                <a:gd name="f544" fmla="*/ f439 f197 1"/>
                <a:gd name="f545" fmla="*/ f440 f198 1"/>
                <a:gd name="f546" fmla="*/ f441 f197 1"/>
                <a:gd name="f547" fmla="*/ f442 f198 1"/>
                <a:gd name="f548" fmla="*/ f443 f197 1"/>
                <a:gd name="f549" fmla="*/ f444 f198 1"/>
                <a:gd name="f550" fmla="*/ f445 f197 1"/>
                <a:gd name="f551" fmla="*/ f446 f198 1"/>
                <a:gd name="f552" fmla="*/ f447 f197 1"/>
                <a:gd name="f553" fmla="*/ f448 f198 1"/>
                <a:gd name="f554" fmla="*/ f449 f197 1"/>
                <a:gd name="f555" fmla="*/ f450 f198 1"/>
                <a:gd name="f556" fmla="*/ f451 f197 1"/>
                <a:gd name="f557" fmla="*/ f452 f198 1"/>
                <a:gd name="f558" fmla="*/ f453 f197 1"/>
                <a:gd name="f559" fmla="*/ f454 f198 1"/>
                <a:gd name="f560" fmla="*/ f455 f197 1"/>
                <a:gd name="f561" fmla="*/ f456 f198 1"/>
                <a:gd name="f562" fmla="*/ f457 f197 1"/>
                <a:gd name="f563" fmla="*/ f458 f198 1"/>
                <a:gd name="f564" fmla="*/ f459 f197 1"/>
                <a:gd name="f565" fmla="*/ f460 f198 1"/>
                <a:gd name="f566" fmla="*/ f461 f197 1"/>
                <a:gd name="f567" fmla="*/ f447 f198 1"/>
                <a:gd name="f568" fmla="*/ f462 f197 1"/>
                <a:gd name="f569" fmla="*/ f437 f198 1"/>
                <a:gd name="f570" fmla="*/ f463 f197 1"/>
                <a:gd name="f571" fmla="*/ f464 f198 1"/>
                <a:gd name="f572" fmla="*/ f465 f197 1"/>
                <a:gd name="f573" fmla="*/ f457 f198 1"/>
                <a:gd name="f574" fmla="*/ f466 f198 1"/>
                <a:gd name="f575" fmla="*/ f467 f197 1"/>
                <a:gd name="f576" fmla="*/ f468 f198 1"/>
                <a:gd name="f577" fmla="*/ f469 f197 1"/>
                <a:gd name="f578" fmla="*/ f449 f198 1"/>
                <a:gd name="f579" fmla="*/ f470 f197 1"/>
                <a:gd name="f580" fmla="*/ f443 f198 1"/>
                <a:gd name="f581" fmla="*/ f471 f197 1"/>
                <a:gd name="f582" fmla="*/ f472 f197 1"/>
                <a:gd name="f583" fmla="*/ f459 f198 1"/>
                <a:gd name="f584" fmla="*/ f473 f197 1"/>
                <a:gd name="f585" fmla="*/ f474 f198 1"/>
                <a:gd name="f586" fmla="*/ f475 f197 1"/>
                <a:gd name="f587" fmla="*/ f476 f198 1"/>
                <a:gd name="f588" fmla="*/ f477 f197 1"/>
                <a:gd name="f589" fmla="*/ f478 f198 1"/>
                <a:gd name="f590" fmla="*/ f440 f197 1"/>
                <a:gd name="f591" fmla="*/ f479 f198 1"/>
                <a:gd name="f592" fmla="*/ f480 f197 1"/>
                <a:gd name="f593" fmla="*/ f481 f198 1"/>
                <a:gd name="f594" fmla="*/ f425 f197 1"/>
                <a:gd name="f595" fmla="*/ f482 f198 1"/>
                <a:gd name="f596" fmla="*/ f483 f197 1"/>
                <a:gd name="f597" fmla="*/ f484 f198 1"/>
                <a:gd name="f598" fmla="*/ f485 f197 1"/>
                <a:gd name="f599" fmla="*/ f486 f198 1"/>
                <a:gd name="f600" fmla="*/ f487 f197 1"/>
                <a:gd name="f601" fmla="*/ f488 f198 1"/>
                <a:gd name="f602" fmla="*/ f489 f197 1"/>
                <a:gd name="f603" fmla="*/ f490 f198 1"/>
                <a:gd name="f604" fmla="*/ f491 f197 1"/>
                <a:gd name="f605" fmla="*/ f424 f198 1"/>
                <a:gd name="f606" fmla="*/ f492 f197 1"/>
                <a:gd name="f607" fmla="*/ f493 f198 1"/>
                <a:gd name="f608" fmla="*/ f423 f19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7">
                  <a:pos x="f498" y="f499"/>
                </a:cxn>
                <a:cxn ang="f397">
                  <a:pos x="f500" y="f501"/>
                </a:cxn>
                <a:cxn ang="f397">
                  <a:pos x="f502" y="f503"/>
                </a:cxn>
                <a:cxn ang="f397">
                  <a:pos x="f504" y="f505"/>
                </a:cxn>
                <a:cxn ang="f397">
                  <a:pos x="f506" y="f507"/>
                </a:cxn>
                <a:cxn ang="f397">
                  <a:pos x="f508" y="f509"/>
                </a:cxn>
                <a:cxn ang="f397">
                  <a:pos x="f510" y="f511"/>
                </a:cxn>
                <a:cxn ang="f397">
                  <a:pos x="f512" y="f513"/>
                </a:cxn>
                <a:cxn ang="f397">
                  <a:pos x="f514" y="f515"/>
                </a:cxn>
                <a:cxn ang="f397">
                  <a:pos x="f516" y="f517"/>
                </a:cxn>
                <a:cxn ang="f397">
                  <a:pos x="f518" y="f519"/>
                </a:cxn>
                <a:cxn ang="f397">
                  <a:pos x="f520" y="f521"/>
                </a:cxn>
                <a:cxn ang="f397">
                  <a:pos x="f522" y="f523"/>
                </a:cxn>
                <a:cxn ang="f397">
                  <a:pos x="f524" y="f525"/>
                </a:cxn>
                <a:cxn ang="f397">
                  <a:pos x="f526" y="f527"/>
                </a:cxn>
                <a:cxn ang="f397">
                  <a:pos x="f528" y="f529"/>
                </a:cxn>
                <a:cxn ang="f397">
                  <a:pos x="f530" y="f531"/>
                </a:cxn>
                <a:cxn ang="f397">
                  <a:pos x="f532" y="f533"/>
                </a:cxn>
                <a:cxn ang="f397">
                  <a:pos x="f534" y="f535"/>
                </a:cxn>
                <a:cxn ang="f397">
                  <a:pos x="f536" y="f537"/>
                </a:cxn>
                <a:cxn ang="f397">
                  <a:pos x="f538" y="f539"/>
                </a:cxn>
                <a:cxn ang="f397">
                  <a:pos x="f540" y="f541"/>
                </a:cxn>
                <a:cxn ang="f397">
                  <a:pos x="f542" y="f543"/>
                </a:cxn>
                <a:cxn ang="f397">
                  <a:pos x="f544" y="f545"/>
                </a:cxn>
                <a:cxn ang="f397">
                  <a:pos x="f546" y="f547"/>
                </a:cxn>
                <a:cxn ang="f397">
                  <a:pos x="f548" y="f549"/>
                </a:cxn>
                <a:cxn ang="f397">
                  <a:pos x="f550" y="f551"/>
                </a:cxn>
                <a:cxn ang="f397">
                  <a:pos x="f552" y="f553"/>
                </a:cxn>
                <a:cxn ang="f397">
                  <a:pos x="f554" y="f555"/>
                </a:cxn>
                <a:cxn ang="f397">
                  <a:pos x="f556" y="f557"/>
                </a:cxn>
                <a:cxn ang="f397">
                  <a:pos x="f558" y="f559"/>
                </a:cxn>
                <a:cxn ang="f397">
                  <a:pos x="f560" y="f561"/>
                </a:cxn>
                <a:cxn ang="f397">
                  <a:pos x="f562" y="f563"/>
                </a:cxn>
                <a:cxn ang="f397">
                  <a:pos x="f564" y="f565"/>
                </a:cxn>
                <a:cxn ang="f397">
                  <a:pos x="f566" y="f567"/>
                </a:cxn>
                <a:cxn ang="f397">
                  <a:pos x="f568" y="f569"/>
                </a:cxn>
                <a:cxn ang="f397">
                  <a:pos x="f570" y="f571"/>
                </a:cxn>
                <a:cxn ang="f397">
                  <a:pos x="f572" y="f573"/>
                </a:cxn>
                <a:cxn ang="f397">
                  <a:pos x="f528" y="f574"/>
                </a:cxn>
                <a:cxn ang="f397">
                  <a:pos x="f575" y="f576"/>
                </a:cxn>
                <a:cxn ang="f397">
                  <a:pos x="f577" y="f578"/>
                </a:cxn>
                <a:cxn ang="f397">
                  <a:pos x="f579" y="f580"/>
                </a:cxn>
                <a:cxn ang="f397">
                  <a:pos x="f581" y="f569"/>
                </a:cxn>
                <a:cxn ang="f397">
                  <a:pos x="f582" y="f583"/>
                </a:cxn>
                <a:cxn ang="f397">
                  <a:pos x="f584" y="f585"/>
                </a:cxn>
                <a:cxn ang="f397">
                  <a:pos x="f586" y="f587"/>
                </a:cxn>
                <a:cxn ang="f397">
                  <a:pos x="f588" y="f589"/>
                </a:cxn>
                <a:cxn ang="f397">
                  <a:pos x="f590" y="f591"/>
                </a:cxn>
                <a:cxn ang="f397">
                  <a:pos x="f592" y="f563"/>
                </a:cxn>
                <a:cxn ang="f397">
                  <a:pos x="f504" y="f593"/>
                </a:cxn>
                <a:cxn ang="f397">
                  <a:pos x="f594" y="f595"/>
                </a:cxn>
                <a:cxn ang="f397">
                  <a:pos x="f596" y="f597"/>
                </a:cxn>
                <a:cxn ang="f397">
                  <a:pos x="f598" y="f599"/>
                </a:cxn>
                <a:cxn ang="f397">
                  <a:pos x="f600" y="f601"/>
                </a:cxn>
                <a:cxn ang="f397">
                  <a:pos x="f602" y="f603"/>
                </a:cxn>
                <a:cxn ang="f397">
                  <a:pos x="f604" y="f605"/>
                </a:cxn>
                <a:cxn ang="f397">
                  <a:pos x="f606" y="f607"/>
                </a:cxn>
                <a:cxn ang="f397">
                  <a:pos x="f608" y="f553"/>
                </a:cxn>
                <a:cxn ang="f397">
                  <a:pos x="f498" y="f499"/>
                </a:cxn>
              </a:cxnLst>
              <a:rect l="f494" t="f497" r="f495" b="f496"/>
              <a:pathLst>
                <a:path w="252" h="252">
                  <a:moveTo>
                    <a:pt x="f6" y="f7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19"/>
                    <a:pt x="f23" y="f24"/>
                  </a:cubicBezTo>
                  <a:cubicBezTo>
                    <a:pt x="f25" y="f26"/>
                    <a:pt x="f27" y="f28"/>
                    <a:pt x="f22" y="f29"/>
                  </a:cubicBezTo>
                  <a:cubicBezTo>
                    <a:pt x="f20" y="f30"/>
                    <a:pt x="f31" y="f32"/>
                    <a:pt x="f33" y="f34"/>
                  </a:cubicBezTo>
                  <a:cubicBezTo>
                    <a:pt x="f35" y="f36"/>
                    <a:pt x="f34" y="f18"/>
                    <a:pt x="f37" y="f38"/>
                  </a:cubicBezTo>
                  <a:cubicBezTo>
                    <a:pt x="f39" y="f40"/>
                    <a:pt x="f41" y="f42"/>
                    <a:pt x="f26" y="f43"/>
                  </a:cubicBezTo>
                  <a:cubicBezTo>
                    <a:pt x="f44" y="f45"/>
                    <a:pt x="f46" y="f47"/>
                    <a:pt x="f48" y="f45"/>
                  </a:cubicBezTo>
                  <a:cubicBezTo>
                    <a:pt x="f49" y="f35"/>
                    <a:pt x="f50" y="f51"/>
                    <a:pt x="f11" y="f40"/>
                  </a:cubicBezTo>
                  <a:cubicBezTo>
                    <a:pt x="f11" y="f38"/>
                    <a:pt x="f49" y="f52"/>
                    <a:pt x="f53" y="f54"/>
                  </a:cubicBezTo>
                  <a:cubicBezTo>
                    <a:pt x="f55" y="f8"/>
                    <a:pt x="f56" y="f57"/>
                    <a:pt x="f58" y="f6"/>
                  </a:cubicBezTo>
                  <a:cubicBezTo>
                    <a:pt x="f58" y="f8"/>
                    <a:pt x="f59" y="f10"/>
                    <a:pt x="f59" y="f12"/>
                  </a:cubicBezTo>
                  <a:cubicBezTo>
                    <a:pt x="f60" y="f61"/>
                    <a:pt x="f60" y="f62"/>
                    <a:pt x="f63" y="f16"/>
                  </a:cubicBezTo>
                  <a:cubicBezTo>
                    <a:pt x="f63" y="f33"/>
                    <a:pt x="f64" y="f65"/>
                    <a:pt x="f66" y="f31"/>
                  </a:cubicBezTo>
                  <a:cubicBezTo>
                    <a:pt x="f67" y="f68"/>
                    <a:pt x="f69" y="f65"/>
                    <a:pt x="f70" y="f33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16"/>
                    <a:pt x="f80" y="f18"/>
                  </a:cubicBezTo>
                  <a:cubicBezTo>
                    <a:pt x="f81" y="f51"/>
                    <a:pt x="f82" y="f35"/>
                    <a:pt x="f83" y="f22"/>
                  </a:cubicBezTo>
                  <a:cubicBezTo>
                    <a:pt x="f84" y="f23"/>
                    <a:pt x="f85" y="f25"/>
                    <a:pt x="f86" y="f87"/>
                  </a:cubicBezTo>
                  <a:cubicBezTo>
                    <a:pt x="f79" y="f32"/>
                    <a:pt x="f79" y="f30"/>
                    <a:pt x="f85" y="f88"/>
                  </a:cubicBezTo>
                  <a:cubicBezTo>
                    <a:pt x="f89" y="f90"/>
                    <a:pt x="f81" y="f91"/>
                    <a:pt x="f92" y="f93"/>
                  </a:cubicBezTo>
                  <a:cubicBezTo>
                    <a:pt x="f94" y="f39"/>
                    <a:pt x="f95" y="f88"/>
                    <a:pt x="f96" y="f97"/>
                  </a:cubicBezTo>
                  <a:cubicBezTo>
                    <a:pt x="f98" y="f37"/>
                    <a:pt x="f99" y="f30"/>
                    <a:pt x="f100" y="f101"/>
                  </a:cubicBezTo>
                  <a:cubicBezTo>
                    <a:pt x="f102" y="f28"/>
                    <a:pt x="f103" y="f17"/>
                    <a:pt x="f104" y="f105"/>
                  </a:cubicBezTo>
                  <a:cubicBezTo>
                    <a:pt x="f103" y="f106"/>
                    <a:pt x="f102" y="f107"/>
                    <a:pt x="f108" y="f109"/>
                  </a:cubicBezTo>
                  <a:cubicBezTo>
                    <a:pt x="f110" y="f9"/>
                    <a:pt x="f96" y="f111"/>
                    <a:pt x="f112" y="f113"/>
                  </a:cubicBezTo>
                  <a:cubicBezTo>
                    <a:pt x="f110" y="f114"/>
                    <a:pt x="f99" y="f115"/>
                    <a:pt x="f116" y="f117"/>
                  </a:cubicBezTo>
                  <a:cubicBezTo>
                    <a:pt x="f118" y="f119"/>
                    <a:pt x="f120" y="f121"/>
                    <a:pt x="f5" y="f122"/>
                  </a:cubicBezTo>
                  <a:cubicBezTo>
                    <a:pt x="f123" y="f124"/>
                    <a:pt x="f125" y="f70"/>
                    <a:pt x="f126" y="f127"/>
                  </a:cubicBezTo>
                  <a:cubicBezTo>
                    <a:pt x="f102" y="f128"/>
                    <a:pt x="f100" y="f129"/>
                    <a:pt x="f99" y="f130"/>
                  </a:cubicBezTo>
                  <a:cubicBezTo>
                    <a:pt x="f95" y="f131"/>
                    <a:pt x="f132" y="f75"/>
                    <a:pt x="f133" y="f134"/>
                  </a:cubicBezTo>
                  <a:cubicBezTo>
                    <a:pt x="f135" y="f136"/>
                    <a:pt x="f92" y="f137"/>
                    <a:pt x="f94" y="f138"/>
                  </a:cubicBezTo>
                  <a:cubicBezTo>
                    <a:pt x="f139" y="f140"/>
                    <a:pt x="f96" y="f84"/>
                    <a:pt x="f141" y="f81"/>
                  </a:cubicBezTo>
                  <a:cubicBezTo>
                    <a:pt x="f142" y="f143"/>
                    <a:pt x="f81" y="f98"/>
                    <a:pt x="f79" y="f116"/>
                  </a:cubicBezTo>
                  <a:cubicBezTo>
                    <a:pt x="f144" y="f145"/>
                    <a:pt x="f146" y="f147"/>
                    <a:pt x="f77" y="f96"/>
                  </a:cubicBezTo>
                  <a:cubicBezTo>
                    <a:pt x="f148" y="f149"/>
                    <a:pt x="f150" y="f95"/>
                    <a:pt x="f151" y="f143"/>
                  </a:cubicBezTo>
                  <a:cubicBezTo>
                    <a:pt x="f152" y="f153"/>
                    <a:pt x="f75" y="f153"/>
                    <a:pt x="f154" y="f94"/>
                  </a:cubicBezTo>
                  <a:cubicBezTo>
                    <a:pt x="f155" y="f142"/>
                    <a:pt x="f70" y="f156"/>
                    <a:pt x="f70" y="f98"/>
                  </a:cubicBezTo>
                  <a:cubicBezTo>
                    <a:pt x="f157" y="f100"/>
                    <a:pt x="f157" y="f158"/>
                    <a:pt x="f155" y="f159"/>
                  </a:cubicBezTo>
                  <a:cubicBezTo>
                    <a:pt x="f66" y="f123"/>
                    <a:pt x="f160" y="f161"/>
                    <a:pt x="f162" y="f5"/>
                  </a:cubicBezTo>
                  <a:cubicBezTo>
                    <a:pt x="f113" y="f120"/>
                    <a:pt x="f113" y="f163"/>
                    <a:pt x="f164" y="f108"/>
                  </a:cubicBezTo>
                  <a:cubicBezTo>
                    <a:pt x="f165" y="f141"/>
                    <a:pt x="f166" y="f112"/>
                    <a:pt x="f9" y="f96"/>
                  </a:cubicBezTo>
                  <a:cubicBezTo>
                    <a:pt x="f167" y="f149"/>
                    <a:pt x="f168" y="f96"/>
                    <a:pt x="f50" y="f141"/>
                  </a:cubicBezTo>
                  <a:cubicBezTo>
                    <a:pt x="f169" y="f100"/>
                    <a:pt x="f48" y="f163"/>
                    <a:pt x="f21" y="f103"/>
                  </a:cubicBezTo>
                  <a:cubicBezTo>
                    <a:pt x="f170" y="f171"/>
                    <a:pt x="f101" y="f108"/>
                    <a:pt x="f25" y="f110"/>
                  </a:cubicBezTo>
                  <a:cubicBezTo>
                    <a:pt x="f172" y="f156"/>
                    <a:pt x="f87" y="f142"/>
                    <a:pt x="f173" y="f153"/>
                  </a:cubicBezTo>
                  <a:cubicBezTo>
                    <a:pt x="f174" y="f92"/>
                    <a:pt x="f32" y="f80"/>
                    <a:pt x="f101" y="f175"/>
                  </a:cubicBezTo>
                  <a:cubicBezTo>
                    <a:pt x="f37" y="f176"/>
                    <a:pt x="f30" y="f140"/>
                    <a:pt x="f177" y="f138"/>
                  </a:cubicBezTo>
                  <a:cubicBezTo>
                    <a:pt x="f178" y="f137"/>
                    <a:pt x="f172" y="f146"/>
                    <a:pt x="f23" y="f179"/>
                  </a:cubicBezTo>
                  <a:cubicBezTo>
                    <a:pt x="f45" y="f180"/>
                    <a:pt x="f43" y="f138"/>
                    <a:pt x="f31" y="f181"/>
                  </a:cubicBezTo>
                  <a:cubicBezTo>
                    <a:pt x="f18" y="f79"/>
                    <a:pt x="f40" y="f140"/>
                    <a:pt x="f72" y="f182"/>
                  </a:cubicBezTo>
                  <a:cubicBezTo>
                    <a:pt x="f62" y="f144"/>
                    <a:pt x="f74" y="f183"/>
                    <a:pt x="f52" y="f184"/>
                  </a:cubicBezTo>
                  <a:cubicBezTo>
                    <a:pt x="f12" y="f129"/>
                    <a:pt x="f185" y="f154"/>
                    <a:pt x="f8" y="f186"/>
                  </a:cubicBezTo>
                  <a:cubicBezTo>
                    <a:pt x="f12" y="f187"/>
                    <a:pt x="f78" y="f188"/>
                    <a:pt x="f189" y="f190"/>
                  </a:cubicBezTo>
                  <a:cubicBezTo>
                    <a:pt x="f16" y="f191"/>
                    <a:pt x="f192" y="f193"/>
                    <a:pt x="f194" y="f66"/>
                  </a:cubicBezTo>
                  <a:cubicBezTo>
                    <a:pt x="f42" y="f195"/>
                    <a:pt x="f65" y="f64"/>
                    <a:pt x="f65" y="f60"/>
                  </a:cubicBezTo>
                  <a:cubicBezTo>
                    <a:pt x="f42" y="f122"/>
                    <a:pt x="f33" y="f119"/>
                    <a:pt x="f16" y="f117"/>
                  </a:cubicBezTo>
                  <a:cubicBezTo>
                    <a:pt x="f74" y="f115"/>
                    <a:pt x="f76" y="f114"/>
                    <a:pt x="f6" y="f7"/>
                  </a:cubicBezTo>
                  <a:close/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1" name="Freeform 233">
              <a:extLst>
                <a:ext uri="{FF2B5EF4-FFF2-40B4-BE49-F238E27FC236}">
                  <a16:creationId xmlns:a16="http://schemas.microsoft.com/office/drawing/2014/main" id="{E7CAA71D-1C75-2806-A3A7-899409028B33}"/>
                </a:ext>
              </a:extLst>
            </p:cNvPr>
            <p:cNvSpPr/>
            <p:nvPr/>
          </p:nvSpPr>
          <p:spPr>
            <a:xfrm>
              <a:off x="10881158" y="2657831"/>
              <a:ext cx="96496" cy="96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95"/>
                <a:gd name="f8" fmla="val 16"/>
                <a:gd name="f9" fmla="val 123"/>
                <a:gd name="f10" fmla="val 32"/>
                <a:gd name="f11" fmla="val 68"/>
                <a:gd name="f12" fmla="val 117"/>
                <a:gd name="f13" fmla="val 101"/>
                <a:gd name="f14" fmla="val 64"/>
                <a:gd name="f15" fmla="val 37"/>
                <a:gd name="f16" fmla="val 9"/>
                <a:gd name="f17" fmla="val 100"/>
                <a:gd name="f18" fmla="val 65"/>
                <a:gd name="f19" fmla="val 67"/>
                <a:gd name="f20" fmla="+- 0 0 -90"/>
                <a:gd name="f21" fmla="*/ f3 1 133"/>
                <a:gd name="f22" fmla="*/ f4 1 133"/>
                <a:gd name="f23" fmla="+- f6 0 f5"/>
                <a:gd name="f24" fmla="*/ f20 f0 1"/>
                <a:gd name="f25" fmla="*/ f23 1 133"/>
                <a:gd name="f26" fmla="*/ 95 f23 1"/>
                <a:gd name="f27" fmla="*/ 16 f23 1"/>
                <a:gd name="f28" fmla="*/ 117 f23 1"/>
                <a:gd name="f29" fmla="*/ 37 f23 1"/>
                <a:gd name="f30" fmla="*/ f24 1 f2"/>
                <a:gd name="f31" fmla="*/ f26 1 133"/>
                <a:gd name="f32" fmla="*/ f27 1 133"/>
                <a:gd name="f33" fmla="*/ f28 1 133"/>
                <a:gd name="f34" fmla="*/ f29 1 133"/>
                <a:gd name="f35" fmla="*/ 0 1 f25"/>
                <a:gd name="f36" fmla="*/ f6 1 f25"/>
                <a:gd name="f37" fmla="+- f30 0 f1"/>
                <a:gd name="f38" fmla="*/ f31 1 f25"/>
                <a:gd name="f39" fmla="*/ f32 1 f25"/>
                <a:gd name="f40" fmla="*/ f33 1 f25"/>
                <a:gd name="f41" fmla="*/ f34 1 f25"/>
                <a:gd name="f42" fmla="*/ f35 f21 1"/>
                <a:gd name="f43" fmla="*/ f36 f21 1"/>
                <a:gd name="f44" fmla="*/ f36 f22 1"/>
                <a:gd name="f45" fmla="*/ f35 f22 1"/>
                <a:gd name="f46" fmla="*/ f38 f21 1"/>
                <a:gd name="f47" fmla="*/ f39 f22 1"/>
                <a:gd name="f48" fmla="*/ f40 f21 1"/>
                <a:gd name="f49" fmla="*/ f38 f22 1"/>
                <a:gd name="f50" fmla="*/ f41 f21 1"/>
                <a:gd name="f51" fmla="*/ f40 f22 1"/>
                <a:gd name="f52" fmla="*/ f39 f21 1"/>
                <a:gd name="f53" fmla="*/ f41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6" y="f47"/>
                </a:cxn>
                <a:cxn ang="f37">
                  <a:pos x="f48" y="f49"/>
                </a:cxn>
                <a:cxn ang="f37">
                  <a:pos x="f50" y="f51"/>
                </a:cxn>
                <a:cxn ang="f37">
                  <a:pos x="f52" y="f53"/>
                </a:cxn>
                <a:cxn ang="f37">
                  <a:pos x="f46" y="f47"/>
                </a:cxn>
              </a:cxnLst>
              <a:rect l="f42" t="f45" r="f43" b="f44"/>
              <a:pathLst>
                <a:path w="133" h="133">
                  <a:moveTo>
                    <a:pt x="f7" y="f8"/>
                  </a:moveTo>
                  <a:cubicBezTo>
                    <a:pt x="f9" y="f10"/>
                    <a:pt x="f6" y="f11"/>
                    <a:pt x="f12" y="f7"/>
                  </a:cubicBezTo>
                  <a:cubicBezTo>
                    <a:pt x="f13" y="f9"/>
                    <a:pt x="f14" y="f6"/>
                    <a:pt x="f15" y="f12"/>
                  </a:cubicBezTo>
                  <a:cubicBezTo>
                    <a:pt x="f16" y="f17"/>
                    <a:pt x="f5" y="f18"/>
                    <a:pt x="f8" y="f15"/>
                  </a:cubicBezTo>
                  <a:cubicBezTo>
                    <a:pt x="f10" y="f16"/>
                    <a:pt x="f19" y="f5"/>
                    <a:pt x="f7" y="f8"/>
                  </a:cubicBezTo>
                  <a:close/>
                </a:path>
              </a:pathLst>
            </a:custGeom>
            <a:noFill/>
            <a:ln w="12701" cap="flat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2" name="Freeform 234">
              <a:extLst>
                <a:ext uri="{FF2B5EF4-FFF2-40B4-BE49-F238E27FC236}">
                  <a16:creationId xmlns:a16="http://schemas.microsoft.com/office/drawing/2014/main" id="{0CE5B5F7-098E-D81C-C920-A6695F0665DA}"/>
                </a:ext>
              </a:extLst>
            </p:cNvPr>
            <p:cNvSpPr/>
            <p:nvPr/>
          </p:nvSpPr>
          <p:spPr>
            <a:xfrm>
              <a:off x="10766109" y="2542781"/>
              <a:ext cx="324127" cy="3191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6"/>
                <a:gd name="f7" fmla="val 439"/>
                <a:gd name="f8" fmla="val 299"/>
                <a:gd name="f9" fmla="val 412"/>
                <a:gd name="f10" fmla="val 393"/>
                <a:gd name="f11" fmla="val 375"/>
                <a:gd name="f12" fmla="val 272"/>
                <a:gd name="f13" fmla="val 420"/>
                <a:gd name="f14" fmla="val 172"/>
                <a:gd name="f15" fmla="val 391"/>
                <a:gd name="f16" fmla="val 64"/>
                <a:gd name="f17" fmla="val 280"/>
                <a:gd name="f18" fmla="val 29"/>
                <a:gd name="f19" fmla="val 58"/>
                <a:gd name="f20" fmla="val 169"/>
                <a:gd name="f21" fmla="val 277"/>
                <a:gd name="f22" fmla="val 56"/>
                <a:gd name="f23" fmla="val 377"/>
                <a:gd name="f24" fmla="val 153"/>
                <a:gd name="f25" fmla="val 253"/>
                <a:gd name="f26" fmla="val 424"/>
                <a:gd name="f27" fmla="+- 0 0 -90"/>
                <a:gd name="f28" fmla="*/ f3 1 446"/>
                <a:gd name="f29" fmla="*/ f4 1 439"/>
                <a:gd name="f30" fmla="+- f7 0 f5"/>
                <a:gd name="f31" fmla="+- f6 0 f5"/>
                <a:gd name="f32" fmla="*/ f27 f0 1"/>
                <a:gd name="f33" fmla="*/ f31 1 446"/>
                <a:gd name="f34" fmla="*/ f30 1 439"/>
                <a:gd name="f35" fmla="*/ 299 f31 1"/>
                <a:gd name="f36" fmla="*/ 412 f30 1"/>
                <a:gd name="f37" fmla="*/ 420 f31 1"/>
                <a:gd name="f38" fmla="*/ 172 f30 1"/>
                <a:gd name="f39" fmla="*/ 172 f31 1"/>
                <a:gd name="f40" fmla="*/ 29 f30 1"/>
                <a:gd name="f41" fmla="*/ 29 f31 1"/>
                <a:gd name="f42" fmla="*/ 277 f30 1"/>
                <a:gd name="f43" fmla="*/ 253 f31 1"/>
                <a:gd name="f44" fmla="*/ 424 f30 1"/>
                <a:gd name="f45" fmla="*/ f32 1 f2"/>
                <a:gd name="f46" fmla="*/ f35 1 446"/>
                <a:gd name="f47" fmla="*/ f36 1 439"/>
                <a:gd name="f48" fmla="*/ f37 1 446"/>
                <a:gd name="f49" fmla="*/ f38 1 439"/>
                <a:gd name="f50" fmla="*/ f39 1 446"/>
                <a:gd name="f51" fmla="*/ f40 1 439"/>
                <a:gd name="f52" fmla="*/ f41 1 446"/>
                <a:gd name="f53" fmla="*/ f42 1 439"/>
                <a:gd name="f54" fmla="*/ f43 1 446"/>
                <a:gd name="f55" fmla="*/ f44 1 439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446" h="439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3" name="Line 235">
              <a:extLst>
                <a:ext uri="{FF2B5EF4-FFF2-40B4-BE49-F238E27FC236}">
                  <a16:creationId xmlns:a16="http://schemas.microsoft.com/office/drawing/2014/main" id="{36A45086-8ED4-1809-7835-3E9E7A2D4823}"/>
                </a:ext>
              </a:extLst>
            </p:cNvPr>
            <p:cNvSpPr/>
            <p:nvPr/>
          </p:nvSpPr>
          <p:spPr>
            <a:xfrm>
              <a:off x="10972708" y="2845877"/>
              <a:ext cx="13606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4" name="Freeform 236">
              <a:extLst>
                <a:ext uri="{FF2B5EF4-FFF2-40B4-BE49-F238E27FC236}">
                  <a16:creationId xmlns:a16="http://schemas.microsoft.com/office/drawing/2014/main" id="{92E158D3-C6C2-DB3F-59E3-0E1BB8C38A48}"/>
                </a:ext>
              </a:extLst>
            </p:cNvPr>
            <p:cNvSpPr/>
            <p:nvPr/>
          </p:nvSpPr>
          <p:spPr>
            <a:xfrm>
              <a:off x="10784671" y="2561334"/>
              <a:ext cx="288246" cy="2832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7"/>
                <a:gd name="f7" fmla="val 390"/>
                <a:gd name="f8" fmla="val 266"/>
                <a:gd name="f9" fmla="val 366"/>
                <a:gd name="f10" fmla="val 349"/>
                <a:gd name="f11" fmla="val 333"/>
                <a:gd name="f12" fmla="val 242"/>
                <a:gd name="f13" fmla="val 373"/>
                <a:gd name="f14" fmla="val 153"/>
                <a:gd name="f15" fmla="val 347"/>
                <a:gd name="f16" fmla="val 57"/>
                <a:gd name="f17" fmla="val 249"/>
                <a:gd name="f18" fmla="val 26"/>
                <a:gd name="f19" fmla="val 51"/>
                <a:gd name="f20" fmla="val 150"/>
                <a:gd name="f21" fmla="val 246"/>
                <a:gd name="f22" fmla="val 50"/>
                <a:gd name="f23" fmla="val 335"/>
                <a:gd name="f24" fmla="val 136"/>
                <a:gd name="f25" fmla="val 225"/>
                <a:gd name="f26" fmla="val 377"/>
                <a:gd name="f27" fmla="+- 0 0 -90"/>
                <a:gd name="f28" fmla="*/ f3 1 397"/>
                <a:gd name="f29" fmla="*/ f4 1 390"/>
                <a:gd name="f30" fmla="+- f7 0 f5"/>
                <a:gd name="f31" fmla="+- f6 0 f5"/>
                <a:gd name="f32" fmla="*/ f27 f0 1"/>
                <a:gd name="f33" fmla="*/ f31 1 397"/>
                <a:gd name="f34" fmla="*/ f30 1 390"/>
                <a:gd name="f35" fmla="*/ 266 f31 1"/>
                <a:gd name="f36" fmla="*/ 366 f30 1"/>
                <a:gd name="f37" fmla="*/ 373 f31 1"/>
                <a:gd name="f38" fmla="*/ 153 f30 1"/>
                <a:gd name="f39" fmla="*/ 153 f31 1"/>
                <a:gd name="f40" fmla="*/ 26 f30 1"/>
                <a:gd name="f41" fmla="*/ 26 f31 1"/>
                <a:gd name="f42" fmla="*/ 246 f30 1"/>
                <a:gd name="f43" fmla="*/ 225 f31 1"/>
                <a:gd name="f44" fmla="*/ 377 f30 1"/>
                <a:gd name="f45" fmla="*/ f32 1 f2"/>
                <a:gd name="f46" fmla="*/ f35 1 397"/>
                <a:gd name="f47" fmla="*/ f36 1 390"/>
                <a:gd name="f48" fmla="*/ f37 1 397"/>
                <a:gd name="f49" fmla="*/ f38 1 390"/>
                <a:gd name="f50" fmla="*/ f39 1 397"/>
                <a:gd name="f51" fmla="*/ f40 1 390"/>
                <a:gd name="f52" fmla="*/ f41 1 397"/>
                <a:gd name="f53" fmla="*/ f42 1 390"/>
                <a:gd name="f54" fmla="*/ f43 1 397"/>
                <a:gd name="f55" fmla="*/ f44 1 390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397" h="390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5" name="Line 237">
              <a:extLst>
                <a:ext uri="{FF2B5EF4-FFF2-40B4-BE49-F238E27FC236}">
                  <a16:creationId xmlns:a16="http://schemas.microsoft.com/office/drawing/2014/main" id="{131B462E-8E83-482E-11CC-B477D6CBAF4D}"/>
                </a:ext>
              </a:extLst>
            </p:cNvPr>
            <p:cNvSpPr/>
            <p:nvPr/>
          </p:nvSpPr>
          <p:spPr>
            <a:xfrm>
              <a:off x="10961571" y="2849581"/>
              <a:ext cx="12371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6" name="Freeform 238">
              <a:extLst>
                <a:ext uri="{FF2B5EF4-FFF2-40B4-BE49-F238E27FC236}">
                  <a16:creationId xmlns:a16="http://schemas.microsoft.com/office/drawing/2014/main" id="{906D9EAD-D835-F87A-AE41-984D419F1A5A}"/>
                </a:ext>
              </a:extLst>
            </p:cNvPr>
            <p:cNvSpPr/>
            <p:nvPr/>
          </p:nvSpPr>
          <p:spPr>
            <a:xfrm>
              <a:off x="10946730" y="2887940"/>
              <a:ext cx="106390" cy="1756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7"/>
                <a:gd name="f7" fmla="val 241"/>
                <a:gd name="f8" fmla="val 43"/>
                <a:gd name="f9" fmla="val 188"/>
                <a:gd name="f10" fmla="val 52"/>
                <a:gd name="f11" fmla="val 220"/>
                <a:gd name="f12" fmla="val 80"/>
                <a:gd name="f13" fmla="val 107"/>
                <a:gd name="f14" fmla="val 234"/>
                <a:gd name="f15" fmla="val 133"/>
                <a:gd name="f16" fmla="val 227"/>
                <a:gd name="f17" fmla="val 195"/>
                <a:gd name="f18" fmla="val 138"/>
                <a:gd name="f19" fmla="val 162"/>
                <a:gd name="f20" fmla="val 95"/>
                <a:gd name="f21" fmla="val 25"/>
                <a:gd name="f22" fmla="+- 0 0 -90"/>
                <a:gd name="f23" fmla="*/ f3 1 147"/>
                <a:gd name="f24" fmla="*/ f4 1 241"/>
                <a:gd name="f25" fmla="+- f7 0 f5"/>
                <a:gd name="f26" fmla="+- f6 0 f5"/>
                <a:gd name="f27" fmla="*/ f22 f0 1"/>
                <a:gd name="f28" fmla="*/ f26 1 147"/>
                <a:gd name="f29" fmla="*/ f25 1 241"/>
                <a:gd name="f30" fmla="*/ 43 f26 1"/>
                <a:gd name="f31" fmla="*/ 188 f25 1"/>
                <a:gd name="f32" fmla="*/ 107 f26 1"/>
                <a:gd name="f33" fmla="*/ 234 f25 1"/>
                <a:gd name="f34" fmla="*/ 138 f26 1"/>
                <a:gd name="f35" fmla="*/ 162 f25 1"/>
                <a:gd name="f36" fmla="*/ 95 f26 1"/>
                <a:gd name="f37" fmla="*/ 0 f25 1"/>
                <a:gd name="f38" fmla="*/ 0 f26 1"/>
                <a:gd name="f39" fmla="*/ 25 f25 1"/>
                <a:gd name="f40" fmla="*/ f27 1 f2"/>
                <a:gd name="f41" fmla="*/ f30 1 147"/>
                <a:gd name="f42" fmla="*/ f31 1 241"/>
                <a:gd name="f43" fmla="*/ f32 1 147"/>
                <a:gd name="f44" fmla="*/ f33 1 241"/>
                <a:gd name="f45" fmla="*/ f34 1 147"/>
                <a:gd name="f46" fmla="*/ f35 1 241"/>
                <a:gd name="f47" fmla="*/ f36 1 147"/>
                <a:gd name="f48" fmla="*/ f37 1 241"/>
                <a:gd name="f49" fmla="*/ f38 1 147"/>
                <a:gd name="f50" fmla="*/ f39 1 241"/>
                <a:gd name="f51" fmla="*/ 0 1 f28"/>
                <a:gd name="f52" fmla="*/ f6 1 f28"/>
                <a:gd name="f53" fmla="*/ 0 1 f29"/>
                <a:gd name="f54" fmla="*/ f7 1 f29"/>
                <a:gd name="f55" fmla="+- f40 0 f1"/>
                <a:gd name="f56" fmla="*/ f41 1 f28"/>
                <a:gd name="f57" fmla="*/ f42 1 f29"/>
                <a:gd name="f58" fmla="*/ f43 1 f28"/>
                <a:gd name="f59" fmla="*/ f44 1 f29"/>
                <a:gd name="f60" fmla="*/ f45 1 f28"/>
                <a:gd name="f61" fmla="*/ f46 1 f29"/>
                <a:gd name="f62" fmla="*/ f47 1 f28"/>
                <a:gd name="f63" fmla="*/ f48 1 f29"/>
                <a:gd name="f64" fmla="*/ f49 1 f28"/>
                <a:gd name="f65" fmla="*/ f50 1 f29"/>
                <a:gd name="f66" fmla="*/ f51 f23 1"/>
                <a:gd name="f67" fmla="*/ f52 f23 1"/>
                <a:gd name="f68" fmla="*/ f54 f24 1"/>
                <a:gd name="f69" fmla="*/ f53 f24 1"/>
                <a:gd name="f70" fmla="*/ f56 f23 1"/>
                <a:gd name="f71" fmla="*/ f57 f24 1"/>
                <a:gd name="f72" fmla="*/ f58 f23 1"/>
                <a:gd name="f73" fmla="*/ f59 f24 1"/>
                <a:gd name="f74" fmla="*/ f60 f23 1"/>
                <a:gd name="f75" fmla="*/ f61 f24 1"/>
                <a:gd name="f76" fmla="*/ f62 f23 1"/>
                <a:gd name="f77" fmla="*/ f63 f24 1"/>
                <a:gd name="f78" fmla="*/ f64 f23 1"/>
                <a:gd name="f79" fmla="*/ f65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0" y="f71"/>
                </a:cxn>
                <a:cxn ang="f55">
                  <a:pos x="f72" y="f73"/>
                </a:cxn>
                <a:cxn ang="f55">
                  <a:pos x="f74" y="f75"/>
                </a:cxn>
                <a:cxn ang="f55">
                  <a:pos x="f76" y="f77"/>
                </a:cxn>
                <a:cxn ang="f55">
                  <a:pos x="f78" y="f79"/>
                </a:cxn>
                <a:cxn ang="f55">
                  <a:pos x="f70" y="f71"/>
                </a:cxn>
              </a:cxnLst>
              <a:rect l="f66" t="f69" r="f67" b="f68"/>
              <a:pathLst>
                <a:path w="147" h="241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6"/>
                    <a:pt x="f6" y="f17"/>
                    <a:pt x="f18" y="f19"/>
                  </a:cubicBezTo>
                  <a:cubicBezTo>
                    <a:pt x="f20" y="f5"/>
                    <a:pt x="f20" y="f5"/>
                    <a:pt x="f20" y="f5"/>
                  </a:cubicBezTo>
                  <a:cubicBezTo>
                    <a:pt x="f5" y="f21"/>
                    <a:pt x="f5" y="f21"/>
                    <a:pt x="f5" y="f21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7" name="Line 239">
              <a:extLst>
                <a:ext uri="{FF2B5EF4-FFF2-40B4-BE49-F238E27FC236}">
                  <a16:creationId xmlns:a16="http://schemas.microsoft.com/office/drawing/2014/main" id="{D8DD2BBD-1C8F-F45E-068D-EB5DCB57E780}"/>
                </a:ext>
              </a:extLst>
            </p:cNvPr>
            <p:cNvSpPr/>
            <p:nvPr/>
          </p:nvSpPr>
          <p:spPr>
            <a:xfrm flipV="1">
              <a:off x="10955389" y="2911440"/>
              <a:ext cx="65562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8" name="Line 240">
              <a:extLst>
                <a:ext uri="{FF2B5EF4-FFF2-40B4-BE49-F238E27FC236}">
                  <a16:creationId xmlns:a16="http://schemas.microsoft.com/office/drawing/2014/main" id="{217F8FA2-ED63-6EA8-01EF-57961B081652}"/>
                </a:ext>
              </a:extLst>
            </p:cNvPr>
            <p:cNvSpPr/>
            <p:nvPr/>
          </p:nvSpPr>
          <p:spPr>
            <a:xfrm flipV="1">
              <a:off x="10961571" y="2926290"/>
              <a:ext cx="63093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9" name="Line 241">
              <a:extLst>
                <a:ext uri="{FF2B5EF4-FFF2-40B4-BE49-F238E27FC236}">
                  <a16:creationId xmlns:a16="http://schemas.microsoft.com/office/drawing/2014/main" id="{E4CC8BB4-4C5E-3055-F4E2-503DFA7C2A8E}"/>
                </a:ext>
              </a:extLst>
            </p:cNvPr>
            <p:cNvSpPr/>
            <p:nvPr/>
          </p:nvSpPr>
          <p:spPr>
            <a:xfrm flipV="1">
              <a:off x="10981367" y="3002990"/>
              <a:ext cx="64328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0" name="Line 242">
              <a:extLst>
                <a:ext uri="{FF2B5EF4-FFF2-40B4-BE49-F238E27FC236}">
                  <a16:creationId xmlns:a16="http://schemas.microsoft.com/office/drawing/2014/main" id="{CEF077BE-6BD0-9927-4C16-DE4C653C1C7C}"/>
                </a:ext>
              </a:extLst>
            </p:cNvPr>
            <p:cNvSpPr/>
            <p:nvPr/>
          </p:nvSpPr>
          <p:spPr>
            <a:xfrm flipH="1">
              <a:off x="10622603" y="2558866"/>
              <a:ext cx="158346" cy="274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1" name="Line 243">
              <a:extLst>
                <a:ext uri="{FF2B5EF4-FFF2-40B4-BE49-F238E27FC236}">
                  <a16:creationId xmlns:a16="http://schemas.microsoft.com/office/drawing/2014/main" id="{3FF90841-4FB8-98F5-24A1-2C510016F2B6}"/>
                </a:ext>
              </a:extLst>
            </p:cNvPr>
            <p:cNvSpPr/>
            <p:nvPr/>
          </p:nvSpPr>
          <p:spPr>
            <a:xfrm flipH="1">
              <a:off x="11044461" y="2970821"/>
              <a:ext cx="82890" cy="1435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2" name="Line 244">
              <a:extLst>
                <a:ext uri="{FF2B5EF4-FFF2-40B4-BE49-F238E27FC236}">
                  <a16:creationId xmlns:a16="http://schemas.microsoft.com/office/drawing/2014/main" id="{AF284C73-A7EB-9782-F980-63AD6AEB312F}"/>
                </a:ext>
              </a:extLst>
            </p:cNvPr>
            <p:cNvSpPr/>
            <p:nvPr/>
          </p:nvSpPr>
          <p:spPr>
            <a:xfrm flipH="1">
              <a:off x="11064258" y="2764222"/>
              <a:ext cx="43296" cy="7546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6740" y="2583453"/>
            <a:ext cx="7239000" cy="1325562"/>
          </a:xfrm>
        </p:spPr>
        <p:txBody>
          <a:bodyPr/>
          <a:lstStyle/>
          <a:p>
            <a:r>
              <a:rPr sz="2200" b="1" dirty="0">
                <a:solidFill>
                  <a:srgbClr val="1A2747"/>
                </a:solidFill>
              </a:rPr>
              <a:t>Mixed picture vs wider industry — The Private Clinic trails a select few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292608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Average Star Rating · The Private Clinic vs Wider Industry Competitors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7772400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261872"/>
            <a:ext cx="3657600" cy="32918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307592"/>
            <a:ext cx="10999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A2747"/>
                </a:solidFill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42929"/>
            <a:ext cx="347472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PHI Clinic (4.92) and Cosmetic Skin Clinic (4.88) outperform The Private Clinic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Champneys (2.17), VG </a:t>
            </a:r>
            <a:r>
              <a:rPr sz="1100" dirty="0" err="1">
                <a:solidFill>
                  <a:srgbClr val="333333"/>
                </a:solidFill>
              </a:rPr>
              <a:t>Medispa</a:t>
            </a:r>
            <a:r>
              <a:rPr sz="1100" dirty="0">
                <a:solidFill>
                  <a:srgbClr val="333333"/>
                </a:solidFill>
              </a:rPr>
              <a:t> (3.06) and EF </a:t>
            </a:r>
            <a:r>
              <a:rPr sz="1100" dirty="0" err="1">
                <a:solidFill>
                  <a:srgbClr val="333333"/>
                </a:solidFill>
              </a:rPr>
              <a:t>Medispa</a:t>
            </a:r>
            <a:r>
              <a:rPr sz="1100" dirty="0">
                <a:solidFill>
                  <a:srgbClr val="333333"/>
                </a:solidFill>
              </a:rPr>
              <a:t> (3.29) rate significantly lower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The Private Clinic</a:t>
            </a:r>
            <a:r>
              <a:rPr lang="en-US" sz="1100" dirty="0">
                <a:solidFill>
                  <a:srgbClr val="333333"/>
                </a:solidFill>
              </a:rPr>
              <a:t>(average 4.7)</a:t>
            </a:r>
            <a:r>
              <a:rPr sz="1100" dirty="0">
                <a:solidFill>
                  <a:srgbClr val="333333"/>
                </a:solidFill>
              </a:rPr>
              <a:t> sits above the wider industry average of 4.</a:t>
            </a:r>
            <a:r>
              <a:rPr lang="en-US" sz="1100" dirty="0">
                <a:solidFill>
                  <a:srgbClr val="333333"/>
                </a:solidFill>
              </a:rPr>
              <a:t>32</a:t>
            </a:r>
            <a:endParaRPr sz="1100" dirty="0">
              <a:solidFill>
                <a:srgbClr val="333333"/>
              </a:solidFill>
            </a:endParaRP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Harley Street Skin and Cadogan Clinic are closest rivals at 4.82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Mixed picture vs wider industry — The Private Clinic trails a select few</a:t>
            </a:r>
          </a:p>
        </p:txBody>
      </p:sp>
      <p:grpSp>
        <p:nvGrpSpPr>
          <p:cNvPr id="9" name="Group 231">
            <a:extLst>
              <a:ext uri="{FF2B5EF4-FFF2-40B4-BE49-F238E27FC236}">
                <a16:creationId xmlns:a16="http://schemas.microsoft.com/office/drawing/2014/main" id="{24414E4B-79E6-475D-AEA4-D54C2F7F8E64}"/>
              </a:ext>
            </a:extLst>
          </p:cNvPr>
          <p:cNvGrpSpPr/>
          <p:nvPr/>
        </p:nvGrpSpPr>
        <p:grpSpPr>
          <a:xfrm>
            <a:off x="11175798" y="3909015"/>
            <a:ext cx="504748" cy="571545"/>
            <a:chOff x="10622603" y="2542781"/>
            <a:chExt cx="504748" cy="571545"/>
          </a:xfrm>
        </p:grpSpPr>
        <p:sp>
          <p:nvSpPr>
            <p:cNvPr id="10" name="Freeform 232">
              <a:extLst>
                <a:ext uri="{FF2B5EF4-FFF2-40B4-BE49-F238E27FC236}">
                  <a16:creationId xmlns:a16="http://schemas.microsoft.com/office/drawing/2014/main" id="{88DE6752-C036-E06D-CC1A-F4E74E0CF0B4}"/>
                </a:ext>
              </a:extLst>
            </p:cNvPr>
            <p:cNvSpPr/>
            <p:nvPr/>
          </p:nvSpPr>
          <p:spPr>
            <a:xfrm>
              <a:off x="10837861" y="2613291"/>
              <a:ext cx="183090" cy="1830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2"/>
                <a:gd name="f7" fmla="val 131"/>
                <a:gd name="f8" fmla="val 249"/>
                <a:gd name="f9" fmla="val 145"/>
                <a:gd name="f10" fmla="val 246"/>
                <a:gd name="f11" fmla="val 159"/>
                <a:gd name="f12" fmla="val 243"/>
                <a:gd name="f13" fmla="val 173"/>
                <a:gd name="f14" fmla="val 236"/>
                <a:gd name="f15" fmla="val 172"/>
                <a:gd name="f16" fmla="val 230"/>
                <a:gd name="f17" fmla="val 170"/>
                <a:gd name="f18" fmla="val 223"/>
                <a:gd name="f19" fmla="val 169"/>
                <a:gd name="f20" fmla="val 216"/>
                <a:gd name="f21" fmla="val 168"/>
                <a:gd name="f22" fmla="val 212"/>
                <a:gd name="f23" fmla="val 209"/>
                <a:gd name="f24" fmla="val 174"/>
                <a:gd name="f25" fmla="val 206"/>
                <a:gd name="f26" fmla="val 179"/>
                <a:gd name="f27" fmla="val 207"/>
                <a:gd name="f28" fmla="val 183"/>
                <a:gd name="f29" fmla="val 189"/>
                <a:gd name="f30" fmla="val 194"/>
                <a:gd name="f31" fmla="val 220"/>
                <a:gd name="f32" fmla="val 198"/>
                <a:gd name="f33" fmla="val 225"/>
                <a:gd name="f34" fmla="val 204"/>
                <a:gd name="f35" fmla="val 215"/>
                <a:gd name="f36" fmla="val 214"/>
                <a:gd name="f37" fmla="val 193"/>
                <a:gd name="f38" fmla="val 233"/>
                <a:gd name="f39" fmla="val 188"/>
                <a:gd name="f40" fmla="val 227"/>
                <a:gd name="f41" fmla="val 184"/>
                <a:gd name="f42" fmla="val 222"/>
                <a:gd name="f43" fmla="val 217"/>
                <a:gd name="f44" fmla="val 175"/>
                <a:gd name="f45" fmla="val 213"/>
                <a:gd name="f46" fmla="val 171"/>
                <a:gd name="f47" fmla="val 211"/>
                <a:gd name="f48" fmla="val 165"/>
                <a:gd name="f49" fmla="val 160"/>
                <a:gd name="f50" fmla="val 158"/>
                <a:gd name="f51" fmla="val 219"/>
                <a:gd name="f52" fmla="val 240"/>
                <a:gd name="f53" fmla="val 161"/>
                <a:gd name="f54" fmla="val 247"/>
                <a:gd name="f55" fmla="val 147"/>
                <a:gd name="f56" fmla="val 133"/>
                <a:gd name="f57" fmla="val 250"/>
                <a:gd name="f58" fmla="val 118"/>
                <a:gd name="f59" fmla="val 117"/>
                <a:gd name="f60" fmla="val 116"/>
                <a:gd name="f61" fmla="val 239"/>
                <a:gd name="f62" fmla="val 234"/>
                <a:gd name="f63" fmla="val 115"/>
                <a:gd name="f64" fmla="val 112"/>
                <a:gd name="f65" fmla="val 221"/>
                <a:gd name="f66" fmla="val 106"/>
                <a:gd name="f67" fmla="val 101"/>
                <a:gd name="f68" fmla="val 218"/>
                <a:gd name="f69" fmla="val 97"/>
                <a:gd name="f70" fmla="val 94"/>
                <a:gd name="f71" fmla="val 91"/>
                <a:gd name="f72" fmla="val 231"/>
                <a:gd name="f73" fmla="val 87"/>
                <a:gd name="f74" fmla="val 237"/>
                <a:gd name="f75" fmla="val 84"/>
                <a:gd name="f76" fmla="val 244"/>
                <a:gd name="f77" fmla="val 70"/>
                <a:gd name="f78" fmla="val 238"/>
                <a:gd name="f79" fmla="val 59"/>
                <a:gd name="f80" fmla="val 46"/>
                <a:gd name="f81" fmla="val 48"/>
                <a:gd name="f82" fmla="val 50"/>
                <a:gd name="f83" fmla="val 51"/>
                <a:gd name="f84" fmla="val 53"/>
                <a:gd name="f85" fmla="val 55"/>
                <a:gd name="f86" fmla="val 57"/>
                <a:gd name="f87" fmla="val 203"/>
                <a:gd name="f88" fmla="val 190"/>
                <a:gd name="f89" fmla="val 52"/>
                <a:gd name="f90" fmla="val 186"/>
                <a:gd name="f91" fmla="val 185"/>
                <a:gd name="f92" fmla="val 43"/>
                <a:gd name="f93" fmla="val 187"/>
                <a:gd name="f94" fmla="val 39"/>
                <a:gd name="f95" fmla="val 36"/>
                <a:gd name="f96" fmla="val 32"/>
                <a:gd name="f97" fmla="val 192"/>
                <a:gd name="f98" fmla="val 29"/>
                <a:gd name="f99" fmla="val 26"/>
                <a:gd name="f100" fmla="val 21"/>
                <a:gd name="f101" fmla="val 196"/>
                <a:gd name="f102" fmla="val 16"/>
                <a:gd name="f103" fmla="val 10"/>
                <a:gd name="f104" fmla="val 4"/>
                <a:gd name="f105" fmla="val 157"/>
                <a:gd name="f106" fmla="val 154"/>
                <a:gd name="f107" fmla="val 151"/>
                <a:gd name="f108" fmla="val 22"/>
                <a:gd name="f109" fmla="val 149"/>
                <a:gd name="f110" fmla="val 30"/>
                <a:gd name="f111" fmla="val 142"/>
                <a:gd name="f112" fmla="val 31"/>
                <a:gd name="f113" fmla="val 136"/>
                <a:gd name="f114" fmla="val 129"/>
                <a:gd name="f115" fmla="val 127"/>
                <a:gd name="f116" fmla="val 20"/>
                <a:gd name="f117" fmla="val 126"/>
                <a:gd name="f118" fmla="val 14"/>
                <a:gd name="f119" fmla="val 125"/>
                <a:gd name="f120" fmla="val 8"/>
                <a:gd name="f121" fmla="val 123"/>
                <a:gd name="f122" fmla="val 121"/>
                <a:gd name="f123" fmla="val 3"/>
                <a:gd name="f124" fmla="val 107"/>
                <a:gd name="f125" fmla="val 6"/>
                <a:gd name="f126" fmla="val 9"/>
                <a:gd name="f127" fmla="val 79"/>
                <a:gd name="f128" fmla="val 81"/>
                <a:gd name="f129" fmla="val 82"/>
                <a:gd name="f130" fmla="val 83"/>
                <a:gd name="f131" fmla="val 85"/>
                <a:gd name="f132" fmla="val 41"/>
                <a:gd name="f133" fmla="val 44"/>
                <a:gd name="f134" fmla="val 78"/>
                <a:gd name="f135" fmla="val 47"/>
                <a:gd name="f136" fmla="val 71"/>
                <a:gd name="f137" fmla="val 66"/>
                <a:gd name="f138" fmla="val 62"/>
                <a:gd name="f139" fmla="val 35"/>
                <a:gd name="f140" fmla="val 58"/>
                <a:gd name="f141" fmla="val 27"/>
                <a:gd name="f142" fmla="val 37"/>
                <a:gd name="f143" fmla="val 38"/>
                <a:gd name="f144" fmla="val 63"/>
                <a:gd name="f145" fmla="val 24"/>
                <a:gd name="f146" fmla="val 67"/>
                <a:gd name="f147" fmla="val 28"/>
                <a:gd name="f148" fmla="val 72"/>
                <a:gd name="f149" fmla="val 34"/>
                <a:gd name="f150" fmla="val 74"/>
                <a:gd name="f151" fmla="val 77"/>
                <a:gd name="f152" fmla="val 80"/>
                <a:gd name="f153" fmla="val 40"/>
                <a:gd name="f154" fmla="val 88"/>
                <a:gd name="f155" fmla="val 92"/>
                <a:gd name="f156" fmla="val 33"/>
                <a:gd name="f157" fmla="val 93"/>
                <a:gd name="f158" fmla="val 13"/>
                <a:gd name="f159" fmla="val 5"/>
                <a:gd name="f160" fmla="val 120"/>
                <a:gd name="f161" fmla="val 2"/>
                <a:gd name="f162" fmla="val 135"/>
                <a:gd name="f163" fmla="val 15"/>
                <a:gd name="f164" fmla="val 137"/>
                <a:gd name="f165" fmla="val 138"/>
                <a:gd name="f166" fmla="val 140"/>
                <a:gd name="f167" fmla="val 150"/>
                <a:gd name="f168" fmla="val 155"/>
                <a:gd name="f169" fmla="val 162"/>
                <a:gd name="f170" fmla="val 176"/>
                <a:gd name="f171" fmla="val 11"/>
                <a:gd name="f172" fmla="val 205"/>
                <a:gd name="f173" fmla="val 201"/>
                <a:gd name="f174" fmla="val 199"/>
                <a:gd name="f175" fmla="val 49"/>
                <a:gd name="f176" fmla="val 54"/>
                <a:gd name="f177" fmla="val 197"/>
                <a:gd name="f178" fmla="val 200"/>
                <a:gd name="f179" fmla="val 65"/>
                <a:gd name="f180" fmla="val 64"/>
                <a:gd name="f181" fmla="val 60"/>
                <a:gd name="f182" fmla="val 56"/>
                <a:gd name="f183" fmla="val 69"/>
                <a:gd name="f184" fmla="val 76"/>
                <a:gd name="f185" fmla="val 245"/>
                <a:gd name="f186" fmla="val 95"/>
                <a:gd name="f187" fmla="val 98"/>
                <a:gd name="f188" fmla="val 100"/>
                <a:gd name="f189" fmla="val 232"/>
                <a:gd name="f190" fmla="val 103"/>
                <a:gd name="f191" fmla="val 104"/>
                <a:gd name="f192" fmla="val 228"/>
                <a:gd name="f193" fmla="val 105"/>
                <a:gd name="f194" fmla="val 226"/>
                <a:gd name="f195" fmla="val 109"/>
                <a:gd name="f196" fmla="+- 0 0 -90"/>
                <a:gd name="f197" fmla="*/ f3 1 252"/>
                <a:gd name="f198" fmla="*/ f4 1 252"/>
                <a:gd name="f199" fmla="+- f6 0 f5"/>
                <a:gd name="f200" fmla="*/ f196 f0 1"/>
                <a:gd name="f201" fmla="*/ f199 1 252"/>
                <a:gd name="f202" fmla="*/ 252 f199 1"/>
                <a:gd name="f203" fmla="*/ 131 f199 1"/>
                <a:gd name="f204" fmla="*/ 243 f199 1"/>
                <a:gd name="f205" fmla="*/ 173 f199 1"/>
                <a:gd name="f206" fmla="*/ 223 f199 1"/>
                <a:gd name="f207" fmla="*/ 169 f199 1"/>
                <a:gd name="f208" fmla="*/ 209 f199 1"/>
                <a:gd name="f209" fmla="*/ 174 f199 1"/>
                <a:gd name="f210" fmla="*/ 212 f199 1"/>
                <a:gd name="f211" fmla="*/ 189 f199 1"/>
                <a:gd name="f212" fmla="*/ 225 f199 1"/>
                <a:gd name="f213" fmla="*/ 204 f199 1"/>
                <a:gd name="f214" fmla="*/ 193 f199 1"/>
                <a:gd name="f215" fmla="*/ 233 f199 1"/>
                <a:gd name="f216" fmla="*/ 179 f199 1"/>
                <a:gd name="f217" fmla="*/ 217 f199 1"/>
                <a:gd name="f218" fmla="*/ 165 f199 1"/>
                <a:gd name="f219" fmla="*/ 213 f199 1"/>
                <a:gd name="f220" fmla="*/ 159 f199 1"/>
                <a:gd name="f221" fmla="*/ 227 f199 1"/>
                <a:gd name="f222" fmla="*/ 161 f199 1"/>
                <a:gd name="f223" fmla="*/ 247 f199 1"/>
                <a:gd name="f224" fmla="*/ 118 f199 1"/>
                <a:gd name="f225" fmla="*/ 117 f199 1"/>
                <a:gd name="f226" fmla="*/ 115 f199 1"/>
                <a:gd name="f227" fmla="*/ 230 f199 1"/>
                <a:gd name="f228" fmla="*/ 106 f199 1"/>
                <a:gd name="f229" fmla="*/ 220 f199 1"/>
                <a:gd name="f230" fmla="*/ 94 f199 1"/>
                <a:gd name="f231" fmla="*/ 84 f199 1"/>
                <a:gd name="f232" fmla="*/ 244 f199 1"/>
                <a:gd name="f233" fmla="*/ 46 f199 1"/>
                <a:gd name="f234" fmla="*/ 51 f199 1"/>
                <a:gd name="f235" fmla="*/ 57 f199 1"/>
                <a:gd name="f236" fmla="*/ 203 f199 1"/>
                <a:gd name="f237" fmla="*/ 55 f199 1"/>
                <a:gd name="f238" fmla="*/ 190 f199 1"/>
                <a:gd name="f239" fmla="*/ 43 f199 1"/>
                <a:gd name="f240" fmla="*/ 187 f199 1"/>
                <a:gd name="f241" fmla="*/ 32 f199 1"/>
                <a:gd name="f242" fmla="*/ 192 f199 1"/>
                <a:gd name="f243" fmla="*/ 21 f199 1"/>
                <a:gd name="f244" fmla="*/ 196 f199 1"/>
                <a:gd name="f245" fmla="*/ 4 f199 1"/>
                <a:gd name="f246" fmla="*/ 157 f199 1"/>
                <a:gd name="f247" fmla="*/ 22 f199 1"/>
                <a:gd name="f248" fmla="*/ 149 f199 1"/>
                <a:gd name="f249" fmla="*/ 31 f199 1"/>
                <a:gd name="f250" fmla="*/ 136 f199 1"/>
                <a:gd name="f251" fmla="*/ 20 f199 1"/>
                <a:gd name="f252" fmla="*/ 126 f199 1"/>
                <a:gd name="f253" fmla="*/ 0 f199 1"/>
                <a:gd name="f254" fmla="*/ 121 f199 1"/>
                <a:gd name="f255" fmla="*/ 9 f199 1"/>
                <a:gd name="f256" fmla="*/ 79 f199 1"/>
                <a:gd name="f257" fmla="*/ 26 f199 1"/>
                <a:gd name="f258" fmla="*/ 83 f199 1"/>
                <a:gd name="f259" fmla="*/ 44 f199 1"/>
                <a:gd name="f260" fmla="*/ 78 f199 1"/>
                <a:gd name="f261" fmla="*/ 39 f199 1"/>
                <a:gd name="f262" fmla="*/ 62 f199 1"/>
                <a:gd name="f263" fmla="*/ 27 f199 1"/>
                <a:gd name="f264" fmla="*/ 48 f199 1"/>
                <a:gd name="f265" fmla="*/ 59 f199 1"/>
                <a:gd name="f266" fmla="*/ 70 f199 1"/>
                <a:gd name="f267" fmla="*/ 77 f199 1"/>
                <a:gd name="f268" fmla="*/ 38 f199 1"/>
                <a:gd name="f269" fmla="*/ 88 f199 1"/>
                <a:gd name="f270" fmla="*/ 29 f199 1"/>
                <a:gd name="f271" fmla="*/ 92 f199 1"/>
                <a:gd name="f272" fmla="*/ 5 f199 1"/>
                <a:gd name="f273" fmla="*/ 135 f199 1"/>
                <a:gd name="f274" fmla="*/ 137 f199 1"/>
                <a:gd name="f275" fmla="*/ 145 f199 1"/>
                <a:gd name="f276" fmla="*/ 158 f199 1"/>
                <a:gd name="f277" fmla="*/ 168 f199 1"/>
                <a:gd name="f278" fmla="*/ 10 f199 1"/>
                <a:gd name="f279" fmla="*/ 206 f199 1"/>
                <a:gd name="f280" fmla="*/ 30 f199 1"/>
                <a:gd name="f281" fmla="*/ 201 f199 1"/>
                <a:gd name="f282" fmla="*/ 40 f199 1"/>
                <a:gd name="f283" fmla="*/ 49 f199 1"/>
                <a:gd name="f284" fmla="*/ 197 f199 1"/>
                <a:gd name="f285" fmla="*/ 65 f199 1"/>
                <a:gd name="f286" fmla="*/ 60 f199 1"/>
                <a:gd name="f287" fmla="*/ 231 f199 1"/>
                <a:gd name="f288" fmla="*/ 56 f199 1"/>
                <a:gd name="f289" fmla="*/ 240 f199 1"/>
                <a:gd name="f290" fmla="*/ 76 f199 1"/>
                <a:gd name="f291" fmla="*/ 249 f199 1"/>
                <a:gd name="f292" fmla="*/ 95 f199 1"/>
                <a:gd name="f293" fmla="*/ 232 f199 1"/>
                <a:gd name="f294" fmla="*/ 103 f199 1"/>
                <a:gd name="f295" fmla="*/ 226 f199 1"/>
                <a:gd name="f296" fmla="*/ 221 f199 1"/>
                <a:gd name="f297" fmla="*/ 116 f199 1"/>
                <a:gd name="f298" fmla="*/ f200 1 f2"/>
                <a:gd name="f299" fmla="*/ f202 1 252"/>
                <a:gd name="f300" fmla="*/ f203 1 252"/>
                <a:gd name="f301" fmla="*/ f204 1 252"/>
                <a:gd name="f302" fmla="*/ f205 1 252"/>
                <a:gd name="f303" fmla="*/ f206 1 252"/>
                <a:gd name="f304" fmla="*/ f207 1 252"/>
                <a:gd name="f305" fmla="*/ f208 1 252"/>
                <a:gd name="f306" fmla="*/ f209 1 252"/>
                <a:gd name="f307" fmla="*/ f210 1 252"/>
                <a:gd name="f308" fmla="*/ f211 1 252"/>
                <a:gd name="f309" fmla="*/ f212 1 252"/>
                <a:gd name="f310" fmla="*/ f213 1 252"/>
                <a:gd name="f311" fmla="*/ f214 1 252"/>
                <a:gd name="f312" fmla="*/ f215 1 252"/>
                <a:gd name="f313" fmla="*/ f216 1 252"/>
                <a:gd name="f314" fmla="*/ f217 1 252"/>
                <a:gd name="f315" fmla="*/ f218 1 252"/>
                <a:gd name="f316" fmla="*/ f219 1 252"/>
                <a:gd name="f317" fmla="*/ f220 1 252"/>
                <a:gd name="f318" fmla="*/ f221 1 252"/>
                <a:gd name="f319" fmla="*/ f222 1 252"/>
                <a:gd name="f320" fmla="*/ f223 1 252"/>
                <a:gd name="f321" fmla="*/ f224 1 252"/>
                <a:gd name="f322" fmla="*/ f225 1 252"/>
                <a:gd name="f323" fmla="*/ f226 1 252"/>
                <a:gd name="f324" fmla="*/ f227 1 252"/>
                <a:gd name="f325" fmla="*/ f228 1 252"/>
                <a:gd name="f326" fmla="*/ f229 1 252"/>
                <a:gd name="f327" fmla="*/ f230 1 252"/>
                <a:gd name="f328" fmla="*/ f231 1 252"/>
                <a:gd name="f329" fmla="*/ f232 1 252"/>
                <a:gd name="f330" fmla="*/ f233 1 252"/>
                <a:gd name="f331" fmla="*/ f234 1 252"/>
                <a:gd name="f332" fmla="*/ f235 1 252"/>
                <a:gd name="f333" fmla="*/ f236 1 252"/>
                <a:gd name="f334" fmla="*/ f237 1 252"/>
                <a:gd name="f335" fmla="*/ f238 1 252"/>
                <a:gd name="f336" fmla="*/ f239 1 252"/>
                <a:gd name="f337" fmla="*/ f240 1 252"/>
                <a:gd name="f338" fmla="*/ f241 1 252"/>
                <a:gd name="f339" fmla="*/ f242 1 252"/>
                <a:gd name="f340" fmla="*/ f243 1 252"/>
                <a:gd name="f341" fmla="*/ f244 1 252"/>
                <a:gd name="f342" fmla="*/ f245 1 252"/>
                <a:gd name="f343" fmla="*/ f246 1 252"/>
                <a:gd name="f344" fmla="*/ f247 1 252"/>
                <a:gd name="f345" fmla="*/ f248 1 252"/>
                <a:gd name="f346" fmla="*/ f249 1 252"/>
                <a:gd name="f347" fmla="*/ f250 1 252"/>
                <a:gd name="f348" fmla="*/ f251 1 252"/>
                <a:gd name="f349" fmla="*/ f252 1 252"/>
                <a:gd name="f350" fmla="*/ f253 1 252"/>
                <a:gd name="f351" fmla="*/ f254 1 252"/>
                <a:gd name="f352" fmla="*/ f255 1 252"/>
                <a:gd name="f353" fmla="*/ f256 1 252"/>
                <a:gd name="f354" fmla="*/ f257 1 252"/>
                <a:gd name="f355" fmla="*/ f258 1 252"/>
                <a:gd name="f356" fmla="*/ f259 1 252"/>
                <a:gd name="f357" fmla="*/ f260 1 252"/>
                <a:gd name="f358" fmla="*/ f261 1 252"/>
                <a:gd name="f359" fmla="*/ f262 1 252"/>
                <a:gd name="f360" fmla="*/ f263 1 252"/>
                <a:gd name="f361" fmla="*/ f264 1 252"/>
                <a:gd name="f362" fmla="*/ f265 1 252"/>
                <a:gd name="f363" fmla="*/ f266 1 252"/>
                <a:gd name="f364" fmla="*/ f267 1 252"/>
                <a:gd name="f365" fmla="*/ f268 1 252"/>
                <a:gd name="f366" fmla="*/ f269 1 252"/>
                <a:gd name="f367" fmla="*/ f270 1 252"/>
                <a:gd name="f368" fmla="*/ f271 1 252"/>
                <a:gd name="f369" fmla="*/ f272 1 252"/>
                <a:gd name="f370" fmla="*/ f273 1 252"/>
                <a:gd name="f371" fmla="*/ f274 1 252"/>
                <a:gd name="f372" fmla="*/ f275 1 252"/>
                <a:gd name="f373" fmla="*/ f276 1 252"/>
                <a:gd name="f374" fmla="*/ f277 1 252"/>
                <a:gd name="f375" fmla="*/ f278 1 252"/>
                <a:gd name="f376" fmla="*/ f279 1 252"/>
                <a:gd name="f377" fmla="*/ f280 1 252"/>
                <a:gd name="f378" fmla="*/ f281 1 252"/>
                <a:gd name="f379" fmla="*/ f282 1 252"/>
                <a:gd name="f380" fmla="*/ f283 1 252"/>
                <a:gd name="f381" fmla="*/ f284 1 252"/>
                <a:gd name="f382" fmla="*/ f285 1 252"/>
                <a:gd name="f383" fmla="*/ f286 1 252"/>
                <a:gd name="f384" fmla="*/ f287 1 252"/>
                <a:gd name="f385" fmla="*/ f288 1 252"/>
                <a:gd name="f386" fmla="*/ f289 1 252"/>
                <a:gd name="f387" fmla="*/ f290 1 252"/>
                <a:gd name="f388" fmla="*/ f291 1 252"/>
                <a:gd name="f389" fmla="*/ f292 1 252"/>
                <a:gd name="f390" fmla="*/ f293 1 252"/>
                <a:gd name="f391" fmla="*/ f294 1 252"/>
                <a:gd name="f392" fmla="*/ f295 1 252"/>
                <a:gd name="f393" fmla="*/ f296 1 252"/>
                <a:gd name="f394" fmla="*/ f297 1 252"/>
                <a:gd name="f395" fmla="*/ 0 1 f201"/>
                <a:gd name="f396" fmla="*/ f6 1 f201"/>
                <a:gd name="f397" fmla="+- f298 0 f1"/>
                <a:gd name="f398" fmla="*/ f299 1 f201"/>
                <a:gd name="f399" fmla="*/ f300 1 f201"/>
                <a:gd name="f400" fmla="*/ f301 1 f201"/>
                <a:gd name="f401" fmla="*/ f302 1 f201"/>
                <a:gd name="f402" fmla="*/ f303 1 f201"/>
                <a:gd name="f403" fmla="*/ f304 1 f201"/>
                <a:gd name="f404" fmla="*/ f305 1 f201"/>
                <a:gd name="f405" fmla="*/ f306 1 f201"/>
                <a:gd name="f406" fmla="*/ f307 1 f201"/>
                <a:gd name="f407" fmla="*/ f308 1 f201"/>
                <a:gd name="f408" fmla="*/ f309 1 f201"/>
                <a:gd name="f409" fmla="*/ f310 1 f201"/>
                <a:gd name="f410" fmla="*/ f311 1 f201"/>
                <a:gd name="f411" fmla="*/ f312 1 f201"/>
                <a:gd name="f412" fmla="*/ f313 1 f201"/>
                <a:gd name="f413" fmla="*/ f314 1 f201"/>
                <a:gd name="f414" fmla="*/ f315 1 f201"/>
                <a:gd name="f415" fmla="*/ f316 1 f201"/>
                <a:gd name="f416" fmla="*/ f317 1 f201"/>
                <a:gd name="f417" fmla="*/ f318 1 f201"/>
                <a:gd name="f418" fmla="*/ f319 1 f201"/>
                <a:gd name="f419" fmla="*/ f320 1 f201"/>
                <a:gd name="f420" fmla="*/ f321 1 f201"/>
                <a:gd name="f421" fmla="*/ f322 1 f201"/>
                <a:gd name="f422" fmla="*/ f323 1 f201"/>
                <a:gd name="f423" fmla="*/ f324 1 f201"/>
                <a:gd name="f424" fmla="*/ f325 1 f201"/>
                <a:gd name="f425" fmla="*/ f326 1 f201"/>
                <a:gd name="f426" fmla="*/ f327 1 f201"/>
                <a:gd name="f427" fmla="*/ f328 1 f201"/>
                <a:gd name="f428" fmla="*/ f329 1 f201"/>
                <a:gd name="f429" fmla="*/ f330 1 f201"/>
                <a:gd name="f430" fmla="*/ f331 1 f201"/>
                <a:gd name="f431" fmla="*/ f332 1 f201"/>
                <a:gd name="f432" fmla="*/ f333 1 f201"/>
                <a:gd name="f433" fmla="*/ f334 1 f201"/>
                <a:gd name="f434" fmla="*/ f335 1 f201"/>
                <a:gd name="f435" fmla="*/ f336 1 f201"/>
                <a:gd name="f436" fmla="*/ f337 1 f201"/>
                <a:gd name="f437" fmla="*/ f338 1 f201"/>
                <a:gd name="f438" fmla="*/ f339 1 f201"/>
                <a:gd name="f439" fmla="*/ f340 1 f201"/>
                <a:gd name="f440" fmla="*/ f341 1 f201"/>
                <a:gd name="f441" fmla="*/ f342 1 f201"/>
                <a:gd name="f442" fmla="*/ f343 1 f201"/>
                <a:gd name="f443" fmla="*/ f344 1 f201"/>
                <a:gd name="f444" fmla="*/ f345 1 f201"/>
                <a:gd name="f445" fmla="*/ f346 1 f201"/>
                <a:gd name="f446" fmla="*/ f347 1 f201"/>
                <a:gd name="f447" fmla="*/ f348 1 f201"/>
                <a:gd name="f448" fmla="*/ f349 1 f201"/>
                <a:gd name="f449" fmla="*/ f350 1 f201"/>
                <a:gd name="f450" fmla="*/ f351 1 f201"/>
                <a:gd name="f451" fmla="*/ f352 1 f201"/>
                <a:gd name="f452" fmla="*/ f353 1 f201"/>
                <a:gd name="f453" fmla="*/ f354 1 f201"/>
                <a:gd name="f454" fmla="*/ f355 1 f201"/>
                <a:gd name="f455" fmla="*/ f356 1 f201"/>
                <a:gd name="f456" fmla="*/ f357 1 f201"/>
                <a:gd name="f457" fmla="*/ f358 1 f201"/>
                <a:gd name="f458" fmla="*/ f359 1 f201"/>
                <a:gd name="f459" fmla="*/ f360 1 f201"/>
                <a:gd name="f460" fmla="*/ f361 1 f201"/>
                <a:gd name="f461" fmla="*/ f362 1 f201"/>
                <a:gd name="f462" fmla="*/ f363 1 f201"/>
                <a:gd name="f463" fmla="*/ f364 1 f201"/>
                <a:gd name="f464" fmla="*/ f365 1 f201"/>
                <a:gd name="f465" fmla="*/ f366 1 f201"/>
                <a:gd name="f466" fmla="*/ f367 1 f201"/>
                <a:gd name="f467" fmla="*/ f368 1 f201"/>
                <a:gd name="f468" fmla="*/ f369 1 f201"/>
                <a:gd name="f469" fmla="*/ f370 1 f201"/>
                <a:gd name="f470" fmla="*/ f371 1 f201"/>
                <a:gd name="f471" fmla="*/ f372 1 f201"/>
                <a:gd name="f472" fmla="*/ f373 1 f201"/>
                <a:gd name="f473" fmla="*/ f374 1 f201"/>
                <a:gd name="f474" fmla="*/ f375 1 f201"/>
                <a:gd name="f475" fmla="*/ f376 1 f201"/>
                <a:gd name="f476" fmla="*/ f377 1 f201"/>
                <a:gd name="f477" fmla="*/ f378 1 f201"/>
                <a:gd name="f478" fmla="*/ f379 1 f201"/>
                <a:gd name="f479" fmla="*/ f380 1 f201"/>
                <a:gd name="f480" fmla="*/ f381 1 f201"/>
                <a:gd name="f481" fmla="*/ f382 1 f201"/>
                <a:gd name="f482" fmla="*/ f383 1 f201"/>
                <a:gd name="f483" fmla="*/ f384 1 f201"/>
                <a:gd name="f484" fmla="*/ f385 1 f201"/>
                <a:gd name="f485" fmla="*/ f386 1 f201"/>
                <a:gd name="f486" fmla="*/ f387 1 f201"/>
                <a:gd name="f487" fmla="*/ f388 1 f201"/>
                <a:gd name="f488" fmla="*/ f389 1 f201"/>
                <a:gd name="f489" fmla="*/ f390 1 f201"/>
                <a:gd name="f490" fmla="*/ f391 1 f201"/>
                <a:gd name="f491" fmla="*/ f392 1 f201"/>
                <a:gd name="f492" fmla="*/ f393 1 f201"/>
                <a:gd name="f493" fmla="*/ f394 1 f201"/>
                <a:gd name="f494" fmla="*/ f395 f197 1"/>
                <a:gd name="f495" fmla="*/ f396 f197 1"/>
                <a:gd name="f496" fmla="*/ f396 f198 1"/>
                <a:gd name="f497" fmla="*/ f395 f198 1"/>
                <a:gd name="f498" fmla="*/ f398 f197 1"/>
                <a:gd name="f499" fmla="*/ f399 f198 1"/>
                <a:gd name="f500" fmla="*/ f400 f197 1"/>
                <a:gd name="f501" fmla="*/ f401 f198 1"/>
                <a:gd name="f502" fmla="*/ f402 f197 1"/>
                <a:gd name="f503" fmla="*/ f403 f198 1"/>
                <a:gd name="f504" fmla="*/ f404 f197 1"/>
                <a:gd name="f505" fmla="*/ f405 f198 1"/>
                <a:gd name="f506" fmla="*/ f406 f197 1"/>
                <a:gd name="f507" fmla="*/ f407 f198 1"/>
                <a:gd name="f508" fmla="*/ f408 f197 1"/>
                <a:gd name="f509" fmla="*/ f409 f198 1"/>
                <a:gd name="f510" fmla="*/ f410 f197 1"/>
                <a:gd name="f511" fmla="*/ f411 f198 1"/>
                <a:gd name="f512" fmla="*/ f412 f197 1"/>
                <a:gd name="f513" fmla="*/ f413 f198 1"/>
                <a:gd name="f514" fmla="*/ f414 f197 1"/>
                <a:gd name="f515" fmla="*/ f415 f198 1"/>
                <a:gd name="f516" fmla="*/ f416 f197 1"/>
                <a:gd name="f517" fmla="*/ f417 f198 1"/>
                <a:gd name="f518" fmla="*/ f418 f197 1"/>
                <a:gd name="f519" fmla="*/ f419 f198 1"/>
                <a:gd name="f520" fmla="*/ f420 f197 1"/>
                <a:gd name="f521" fmla="*/ f398 f198 1"/>
                <a:gd name="f522" fmla="*/ f421 f197 1"/>
                <a:gd name="f523" fmla="*/ f400 f198 1"/>
                <a:gd name="f524" fmla="*/ f422 f197 1"/>
                <a:gd name="f525" fmla="*/ f423 f198 1"/>
                <a:gd name="f526" fmla="*/ f424 f197 1"/>
                <a:gd name="f527" fmla="*/ f425 f198 1"/>
                <a:gd name="f528" fmla="*/ f426 f197 1"/>
                <a:gd name="f529" fmla="*/ f408 f198 1"/>
                <a:gd name="f530" fmla="*/ f427 f197 1"/>
                <a:gd name="f531" fmla="*/ f428 f198 1"/>
                <a:gd name="f532" fmla="*/ f429 f197 1"/>
                <a:gd name="f533" fmla="*/ f402 f198 1"/>
                <a:gd name="f534" fmla="*/ f430 f197 1"/>
                <a:gd name="f535" fmla="*/ f406 f198 1"/>
                <a:gd name="f536" fmla="*/ f431 f197 1"/>
                <a:gd name="f537" fmla="*/ f432 f198 1"/>
                <a:gd name="f538" fmla="*/ f433 f197 1"/>
                <a:gd name="f539" fmla="*/ f434 f198 1"/>
                <a:gd name="f540" fmla="*/ f435 f197 1"/>
                <a:gd name="f541" fmla="*/ f436 f198 1"/>
                <a:gd name="f542" fmla="*/ f437 f197 1"/>
                <a:gd name="f543" fmla="*/ f438 f198 1"/>
                <a:gd name="f544" fmla="*/ f439 f197 1"/>
                <a:gd name="f545" fmla="*/ f440 f198 1"/>
                <a:gd name="f546" fmla="*/ f441 f197 1"/>
                <a:gd name="f547" fmla="*/ f442 f198 1"/>
                <a:gd name="f548" fmla="*/ f443 f197 1"/>
                <a:gd name="f549" fmla="*/ f444 f198 1"/>
                <a:gd name="f550" fmla="*/ f445 f197 1"/>
                <a:gd name="f551" fmla="*/ f446 f198 1"/>
                <a:gd name="f552" fmla="*/ f447 f197 1"/>
                <a:gd name="f553" fmla="*/ f448 f198 1"/>
                <a:gd name="f554" fmla="*/ f449 f197 1"/>
                <a:gd name="f555" fmla="*/ f450 f198 1"/>
                <a:gd name="f556" fmla="*/ f451 f197 1"/>
                <a:gd name="f557" fmla="*/ f452 f198 1"/>
                <a:gd name="f558" fmla="*/ f453 f197 1"/>
                <a:gd name="f559" fmla="*/ f454 f198 1"/>
                <a:gd name="f560" fmla="*/ f455 f197 1"/>
                <a:gd name="f561" fmla="*/ f456 f198 1"/>
                <a:gd name="f562" fmla="*/ f457 f197 1"/>
                <a:gd name="f563" fmla="*/ f458 f198 1"/>
                <a:gd name="f564" fmla="*/ f459 f197 1"/>
                <a:gd name="f565" fmla="*/ f460 f198 1"/>
                <a:gd name="f566" fmla="*/ f461 f197 1"/>
                <a:gd name="f567" fmla="*/ f447 f198 1"/>
                <a:gd name="f568" fmla="*/ f462 f197 1"/>
                <a:gd name="f569" fmla="*/ f437 f198 1"/>
                <a:gd name="f570" fmla="*/ f463 f197 1"/>
                <a:gd name="f571" fmla="*/ f464 f198 1"/>
                <a:gd name="f572" fmla="*/ f465 f197 1"/>
                <a:gd name="f573" fmla="*/ f457 f198 1"/>
                <a:gd name="f574" fmla="*/ f466 f198 1"/>
                <a:gd name="f575" fmla="*/ f467 f197 1"/>
                <a:gd name="f576" fmla="*/ f468 f198 1"/>
                <a:gd name="f577" fmla="*/ f469 f197 1"/>
                <a:gd name="f578" fmla="*/ f449 f198 1"/>
                <a:gd name="f579" fmla="*/ f470 f197 1"/>
                <a:gd name="f580" fmla="*/ f443 f198 1"/>
                <a:gd name="f581" fmla="*/ f471 f197 1"/>
                <a:gd name="f582" fmla="*/ f472 f197 1"/>
                <a:gd name="f583" fmla="*/ f459 f198 1"/>
                <a:gd name="f584" fmla="*/ f473 f197 1"/>
                <a:gd name="f585" fmla="*/ f474 f198 1"/>
                <a:gd name="f586" fmla="*/ f475 f197 1"/>
                <a:gd name="f587" fmla="*/ f476 f198 1"/>
                <a:gd name="f588" fmla="*/ f477 f197 1"/>
                <a:gd name="f589" fmla="*/ f478 f198 1"/>
                <a:gd name="f590" fmla="*/ f440 f197 1"/>
                <a:gd name="f591" fmla="*/ f479 f198 1"/>
                <a:gd name="f592" fmla="*/ f480 f197 1"/>
                <a:gd name="f593" fmla="*/ f481 f198 1"/>
                <a:gd name="f594" fmla="*/ f425 f197 1"/>
                <a:gd name="f595" fmla="*/ f482 f198 1"/>
                <a:gd name="f596" fmla="*/ f483 f197 1"/>
                <a:gd name="f597" fmla="*/ f484 f198 1"/>
                <a:gd name="f598" fmla="*/ f485 f197 1"/>
                <a:gd name="f599" fmla="*/ f486 f198 1"/>
                <a:gd name="f600" fmla="*/ f487 f197 1"/>
                <a:gd name="f601" fmla="*/ f488 f198 1"/>
                <a:gd name="f602" fmla="*/ f489 f197 1"/>
                <a:gd name="f603" fmla="*/ f490 f198 1"/>
                <a:gd name="f604" fmla="*/ f491 f197 1"/>
                <a:gd name="f605" fmla="*/ f424 f198 1"/>
                <a:gd name="f606" fmla="*/ f492 f197 1"/>
                <a:gd name="f607" fmla="*/ f493 f198 1"/>
                <a:gd name="f608" fmla="*/ f423 f19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7">
                  <a:pos x="f498" y="f499"/>
                </a:cxn>
                <a:cxn ang="f397">
                  <a:pos x="f500" y="f501"/>
                </a:cxn>
                <a:cxn ang="f397">
                  <a:pos x="f502" y="f503"/>
                </a:cxn>
                <a:cxn ang="f397">
                  <a:pos x="f504" y="f505"/>
                </a:cxn>
                <a:cxn ang="f397">
                  <a:pos x="f506" y="f507"/>
                </a:cxn>
                <a:cxn ang="f397">
                  <a:pos x="f508" y="f509"/>
                </a:cxn>
                <a:cxn ang="f397">
                  <a:pos x="f510" y="f511"/>
                </a:cxn>
                <a:cxn ang="f397">
                  <a:pos x="f512" y="f513"/>
                </a:cxn>
                <a:cxn ang="f397">
                  <a:pos x="f514" y="f515"/>
                </a:cxn>
                <a:cxn ang="f397">
                  <a:pos x="f516" y="f517"/>
                </a:cxn>
                <a:cxn ang="f397">
                  <a:pos x="f518" y="f519"/>
                </a:cxn>
                <a:cxn ang="f397">
                  <a:pos x="f520" y="f521"/>
                </a:cxn>
                <a:cxn ang="f397">
                  <a:pos x="f522" y="f523"/>
                </a:cxn>
                <a:cxn ang="f397">
                  <a:pos x="f524" y="f525"/>
                </a:cxn>
                <a:cxn ang="f397">
                  <a:pos x="f526" y="f527"/>
                </a:cxn>
                <a:cxn ang="f397">
                  <a:pos x="f528" y="f529"/>
                </a:cxn>
                <a:cxn ang="f397">
                  <a:pos x="f530" y="f531"/>
                </a:cxn>
                <a:cxn ang="f397">
                  <a:pos x="f532" y="f533"/>
                </a:cxn>
                <a:cxn ang="f397">
                  <a:pos x="f534" y="f535"/>
                </a:cxn>
                <a:cxn ang="f397">
                  <a:pos x="f536" y="f537"/>
                </a:cxn>
                <a:cxn ang="f397">
                  <a:pos x="f538" y="f539"/>
                </a:cxn>
                <a:cxn ang="f397">
                  <a:pos x="f540" y="f541"/>
                </a:cxn>
                <a:cxn ang="f397">
                  <a:pos x="f542" y="f543"/>
                </a:cxn>
                <a:cxn ang="f397">
                  <a:pos x="f544" y="f545"/>
                </a:cxn>
                <a:cxn ang="f397">
                  <a:pos x="f546" y="f547"/>
                </a:cxn>
                <a:cxn ang="f397">
                  <a:pos x="f548" y="f549"/>
                </a:cxn>
                <a:cxn ang="f397">
                  <a:pos x="f550" y="f551"/>
                </a:cxn>
                <a:cxn ang="f397">
                  <a:pos x="f552" y="f553"/>
                </a:cxn>
                <a:cxn ang="f397">
                  <a:pos x="f554" y="f555"/>
                </a:cxn>
                <a:cxn ang="f397">
                  <a:pos x="f556" y="f557"/>
                </a:cxn>
                <a:cxn ang="f397">
                  <a:pos x="f558" y="f559"/>
                </a:cxn>
                <a:cxn ang="f397">
                  <a:pos x="f560" y="f561"/>
                </a:cxn>
                <a:cxn ang="f397">
                  <a:pos x="f562" y="f563"/>
                </a:cxn>
                <a:cxn ang="f397">
                  <a:pos x="f564" y="f565"/>
                </a:cxn>
                <a:cxn ang="f397">
                  <a:pos x="f566" y="f567"/>
                </a:cxn>
                <a:cxn ang="f397">
                  <a:pos x="f568" y="f569"/>
                </a:cxn>
                <a:cxn ang="f397">
                  <a:pos x="f570" y="f571"/>
                </a:cxn>
                <a:cxn ang="f397">
                  <a:pos x="f572" y="f573"/>
                </a:cxn>
                <a:cxn ang="f397">
                  <a:pos x="f528" y="f574"/>
                </a:cxn>
                <a:cxn ang="f397">
                  <a:pos x="f575" y="f576"/>
                </a:cxn>
                <a:cxn ang="f397">
                  <a:pos x="f577" y="f578"/>
                </a:cxn>
                <a:cxn ang="f397">
                  <a:pos x="f579" y="f580"/>
                </a:cxn>
                <a:cxn ang="f397">
                  <a:pos x="f581" y="f569"/>
                </a:cxn>
                <a:cxn ang="f397">
                  <a:pos x="f582" y="f583"/>
                </a:cxn>
                <a:cxn ang="f397">
                  <a:pos x="f584" y="f585"/>
                </a:cxn>
                <a:cxn ang="f397">
                  <a:pos x="f586" y="f587"/>
                </a:cxn>
                <a:cxn ang="f397">
                  <a:pos x="f588" y="f589"/>
                </a:cxn>
                <a:cxn ang="f397">
                  <a:pos x="f590" y="f591"/>
                </a:cxn>
                <a:cxn ang="f397">
                  <a:pos x="f592" y="f563"/>
                </a:cxn>
                <a:cxn ang="f397">
                  <a:pos x="f504" y="f593"/>
                </a:cxn>
                <a:cxn ang="f397">
                  <a:pos x="f594" y="f595"/>
                </a:cxn>
                <a:cxn ang="f397">
                  <a:pos x="f596" y="f597"/>
                </a:cxn>
                <a:cxn ang="f397">
                  <a:pos x="f598" y="f599"/>
                </a:cxn>
                <a:cxn ang="f397">
                  <a:pos x="f600" y="f601"/>
                </a:cxn>
                <a:cxn ang="f397">
                  <a:pos x="f602" y="f603"/>
                </a:cxn>
                <a:cxn ang="f397">
                  <a:pos x="f604" y="f605"/>
                </a:cxn>
                <a:cxn ang="f397">
                  <a:pos x="f606" y="f607"/>
                </a:cxn>
                <a:cxn ang="f397">
                  <a:pos x="f608" y="f553"/>
                </a:cxn>
                <a:cxn ang="f397">
                  <a:pos x="f498" y="f499"/>
                </a:cxn>
              </a:cxnLst>
              <a:rect l="f494" t="f497" r="f495" b="f496"/>
              <a:pathLst>
                <a:path w="252" h="252">
                  <a:moveTo>
                    <a:pt x="f6" y="f7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19"/>
                    <a:pt x="f23" y="f24"/>
                  </a:cubicBezTo>
                  <a:cubicBezTo>
                    <a:pt x="f25" y="f26"/>
                    <a:pt x="f27" y="f28"/>
                    <a:pt x="f22" y="f29"/>
                  </a:cubicBezTo>
                  <a:cubicBezTo>
                    <a:pt x="f20" y="f30"/>
                    <a:pt x="f31" y="f32"/>
                    <a:pt x="f33" y="f34"/>
                  </a:cubicBezTo>
                  <a:cubicBezTo>
                    <a:pt x="f35" y="f36"/>
                    <a:pt x="f34" y="f18"/>
                    <a:pt x="f37" y="f38"/>
                  </a:cubicBezTo>
                  <a:cubicBezTo>
                    <a:pt x="f39" y="f40"/>
                    <a:pt x="f41" y="f42"/>
                    <a:pt x="f26" y="f43"/>
                  </a:cubicBezTo>
                  <a:cubicBezTo>
                    <a:pt x="f44" y="f45"/>
                    <a:pt x="f46" y="f47"/>
                    <a:pt x="f48" y="f45"/>
                  </a:cubicBezTo>
                  <a:cubicBezTo>
                    <a:pt x="f49" y="f35"/>
                    <a:pt x="f50" y="f51"/>
                    <a:pt x="f11" y="f40"/>
                  </a:cubicBezTo>
                  <a:cubicBezTo>
                    <a:pt x="f11" y="f38"/>
                    <a:pt x="f49" y="f52"/>
                    <a:pt x="f53" y="f54"/>
                  </a:cubicBezTo>
                  <a:cubicBezTo>
                    <a:pt x="f55" y="f8"/>
                    <a:pt x="f56" y="f57"/>
                    <a:pt x="f58" y="f6"/>
                  </a:cubicBezTo>
                  <a:cubicBezTo>
                    <a:pt x="f58" y="f8"/>
                    <a:pt x="f59" y="f10"/>
                    <a:pt x="f59" y="f12"/>
                  </a:cubicBezTo>
                  <a:cubicBezTo>
                    <a:pt x="f60" y="f61"/>
                    <a:pt x="f60" y="f62"/>
                    <a:pt x="f63" y="f16"/>
                  </a:cubicBezTo>
                  <a:cubicBezTo>
                    <a:pt x="f63" y="f33"/>
                    <a:pt x="f64" y="f65"/>
                    <a:pt x="f66" y="f31"/>
                  </a:cubicBezTo>
                  <a:cubicBezTo>
                    <a:pt x="f67" y="f68"/>
                    <a:pt x="f69" y="f65"/>
                    <a:pt x="f70" y="f33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16"/>
                    <a:pt x="f80" y="f18"/>
                  </a:cubicBezTo>
                  <a:cubicBezTo>
                    <a:pt x="f81" y="f51"/>
                    <a:pt x="f82" y="f35"/>
                    <a:pt x="f83" y="f22"/>
                  </a:cubicBezTo>
                  <a:cubicBezTo>
                    <a:pt x="f84" y="f23"/>
                    <a:pt x="f85" y="f25"/>
                    <a:pt x="f86" y="f87"/>
                  </a:cubicBezTo>
                  <a:cubicBezTo>
                    <a:pt x="f79" y="f32"/>
                    <a:pt x="f79" y="f30"/>
                    <a:pt x="f85" y="f88"/>
                  </a:cubicBezTo>
                  <a:cubicBezTo>
                    <a:pt x="f89" y="f90"/>
                    <a:pt x="f81" y="f91"/>
                    <a:pt x="f92" y="f93"/>
                  </a:cubicBezTo>
                  <a:cubicBezTo>
                    <a:pt x="f94" y="f39"/>
                    <a:pt x="f95" y="f88"/>
                    <a:pt x="f96" y="f97"/>
                  </a:cubicBezTo>
                  <a:cubicBezTo>
                    <a:pt x="f98" y="f37"/>
                    <a:pt x="f99" y="f30"/>
                    <a:pt x="f100" y="f101"/>
                  </a:cubicBezTo>
                  <a:cubicBezTo>
                    <a:pt x="f102" y="f28"/>
                    <a:pt x="f103" y="f17"/>
                    <a:pt x="f104" y="f105"/>
                  </a:cubicBezTo>
                  <a:cubicBezTo>
                    <a:pt x="f103" y="f106"/>
                    <a:pt x="f102" y="f107"/>
                    <a:pt x="f108" y="f109"/>
                  </a:cubicBezTo>
                  <a:cubicBezTo>
                    <a:pt x="f110" y="f9"/>
                    <a:pt x="f96" y="f111"/>
                    <a:pt x="f112" y="f113"/>
                  </a:cubicBezTo>
                  <a:cubicBezTo>
                    <a:pt x="f110" y="f114"/>
                    <a:pt x="f99" y="f115"/>
                    <a:pt x="f116" y="f117"/>
                  </a:cubicBezTo>
                  <a:cubicBezTo>
                    <a:pt x="f118" y="f119"/>
                    <a:pt x="f120" y="f121"/>
                    <a:pt x="f5" y="f122"/>
                  </a:cubicBezTo>
                  <a:cubicBezTo>
                    <a:pt x="f123" y="f124"/>
                    <a:pt x="f125" y="f70"/>
                    <a:pt x="f126" y="f127"/>
                  </a:cubicBezTo>
                  <a:cubicBezTo>
                    <a:pt x="f102" y="f128"/>
                    <a:pt x="f100" y="f129"/>
                    <a:pt x="f99" y="f130"/>
                  </a:cubicBezTo>
                  <a:cubicBezTo>
                    <a:pt x="f95" y="f131"/>
                    <a:pt x="f132" y="f75"/>
                    <a:pt x="f133" y="f134"/>
                  </a:cubicBezTo>
                  <a:cubicBezTo>
                    <a:pt x="f135" y="f136"/>
                    <a:pt x="f92" y="f137"/>
                    <a:pt x="f94" y="f138"/>
                  </a:cubicBezTo>
                  <a:cubicBezTo>
                    <a:pt x="f139" y="f140"/>
                    <a:pt x="f96" y="f84"/>
                    <a:pt x="f141" y="f81"/>
                  </a:cubicBezTo>
                  <a:cubicBezTo>
                    <a:pt x="f142" y="f143"/>
                    <a:pt x="f81" y="f98"/>
                    <a:pt x="f79" y="f116"/>
                  </a:cubicBezTo>
                  <a:cubicBezTo>
                    <a:pt x="f144" y="f145"/>
                    <a:pt x="f146" y="f147"/>
                    <a:pt x="f77" y="f96"/>
                  </a:cubicBezTo>
                  <a:cubicBezTo>
                    <a:pt x="f148" y="f149"/>
                    <a:pt x="f150" y="f95"/>
                    <a:pt x="f151" y="f143"/>
                  </a:cubicBezTo>
                  <a:cubicBezTo>
                    <a:pt x="f152" y="f153"/>
                    <a:pt x="f75" y="f153"/>
                    <a:pt x="f154" y="f94"/>
                  </a:cubicBezTo>
                  <a:cubicBezTo>
                    <a:pt x="f155" y="f142"/>
                    <a:pt x="f70" y="f156"/>
                    <a:pt x="f70" y="f98"/>
                  </a:cubicBezTo>
                  <a:cubicBezTo>
                    <a:pt x="f157" y="f100"/>
                    <a:pt x="f157" y="f158"/>
                    <a:pt x="f155" y="f159"/>
                  </a:cubicBezTo>
                  <a:cubicBezTo>
                    <a:pt x="f66" y="f123"/>
                    <a:pt x="f160" y="f161"/>
                    <a:pt x="f162" y="f5"/>
                  </a:cubicBezTo>
                  <a:cubicBezTo>
                    <a:pt x="f113" y="f120"/>
                    <a:pt x="f113" y="f163"/>
                    <a:pt x="f164" y="f108"/>
                  </a:cubicBezTo>
                  <a:cubicBezTo>
                    <a:pt x="f165" y="f141"/>
                    <a:pt x="f166" y="f112"/>
                    <a:pt x="f9" y="f96"/>
                  </a:cubicBezTo>
                  <a:cubicBezTo>
                    <a:pt x="f167" y="f149"/>
                    <a:pt x="f168" y="f96"/>
                    <a:pt x="f50" y="f141"/>
                  </a:cubicBezTo>
                  <a:cubicBezTo>
                    <a:pt x="f169" y="f100"/>
                    <a:pt x="f48" y="f163"/>
                    <a:pt x="f21" y="f103"/>
                  </a:cubicBezTo>
                  <a:cubicBezTo>
                    <a:pt x="f170" y="f171"/>
                    <a:pt x="f101" y="f108"/>
                    <a:pt x="f25" y="f110"/>
                  </a:cubicBezTo>
                  <a:cubicBezTo>
                    <a:pt x="f172" y="f156"/>
                    <a:pt x="f87" y="f142"/>
                    <a:pt x="f173" y="f153"/>
                  </a:cubicBezTo>
                  <a:cubicBezTo>
                    <a:pt x="f174" y="f92"/>
                    <a:pt x="f32" y="f80"/>
                    <a:pt x="f101" y="f175"/>
                  </a:cubicBezTo>
                  <a:cubicBezTo>
                    <a:pt x="f37" y="f176"/>
                    <a:pt x="f30" y="f140"/>
                    <a:pt x="f177" y="f138"/>
                  </a:cubicBezTo>
                  <a:cubicBezTo>
                    <a:pt x="f178" y="f137"/>
                    <a:pt x="f172" y="f146"/>
                    <a:pt x="f23" y="f179"/>
                  </a:cubicBezTo>
                  <a:cubicBezTo>
                    <a:pt x="f45" y="f180"/>
                    <a:pt x="f43" y="f138"/>
                    <a:pt x="f31" y="f181"/>
                  </a:cubicBezTo>
                  <a:cubicBezTo>
                    <a:pt x="f18" y="f79"/>
                    <a:pt x="f40" y="f140"/>
                    <a:pt x="f72" y="f182"/>
                  </a:cubicBezTo>
                  <a:cubicBezTo>
                    <a:pt x="f62" y="f144"/>
                    <a:pt x="f74" y="f183"/>
                    <a:pt x="f52" y="f184"/>
                  </a:cubicBezTo>
                  <a:cubicBezTo>
                    <a:pt x="f12" y="f129"/>
                    <a:pt x="f185" y="f154"/>
                    <a:pt x="f8" y="f186"/>
                  </a:cubicBezTo>
                  <a:cubicBezTo>
                    <a:pt x="f12" y="f187"/>
                    <a:pt x="f78" y="f188"/>
                    <a:pt x="f189" y="f190"/>
                  </a:cubicBezTo>
                  <a:cubicBezTo>
                    <a:pt x="f16" y="f191"/>
                    <a:pt x="f192" y="f193"/>
                    <a:pt x="f194" y="f66"/>
                  </a:cubicBezTo>
                  <a:cubicBezTo>
                    <a:pt x="f42" y="f195"/>
                    <a:pt x="f65" y="f64"/>
                    <a:pt x="f65" y="f60"/>
                  </a:cubicBezTo>
                  <a:cubicBezTo>
                    <a:pt x="f42" y="f122"/>
                    <a:pt x="f33" y="f119"/>
                    <a:pt x="f16" y="f117"/>
                  </a:cubicBezTo>
                  <a:cubicBezTo>
                    <a:pt x="f74" y="f115"/>
                    <a:pt x="f76" y="f114"/>
                    <a:pt x="f6" y="f7"/>
                  </a:cubicBezTo>
                  <a:close/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1" name="Freeform 233">
              <a:extLst>
                <a:ext uri="{FF2B5EF4-FFF2-40B4-BE49-F238E27FC236}">
                  <a16:creationId xmlns:a16="http://schemas.microsoft.com/office/drawing/2014/main" id="{6EB5F00E-3FCC-5F19-19ED-FE282BA8A226}"/>
                </a:ext>
              </a:extLst>
            </p:cNvPr>
            <p:cNvSpPr/>
            <p:nvPr/>
          </p:nvSpPr>
          <p:spPr>
            <a:xfrm>
              <a:off x="10881158" y="2657831"/>
              <a:ext cx="96496" cy="96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95"/>
                <a:gd name="f8" fmla="val 16"/>
                <a:gd name="f9" fmla="val 123"/>
                <a:gd name="f10" fmla="val 32"/>
                <a:gd name="f11" fmla="val 68"/>
                <a:gd name="f12" fmla="val 117"/>
                <a:gd name="f13" fmla="val 101"/>
                <a:gd name="f14" fmla="val 64"/>
                <a:gd name="f15" fmla="val 37"/>
                <a:gd name="f16" fmla="val 9"/>
                <a:gd name="f17" fmla="val 100"/>
                <a:gd name="f18" fmla="val 65"/>
                <a:gd name="f19" fmla="val 67"/>
                <a:gd name="f20" fmla="+- 0 0 -90"/>
                <a:gd name="f21" fmla="*/ f3 1 133"/>
                <a:gd name="f22" fmla="*/ f4 1 133"/>
                <a:gd name="f23" fmla="+- f6 0 f5"/>
                <a:gd name="f24" fmla="*/ f20 f0 1"/>
                <a:gd name="f25" fmla="*/ f23 1 133"/>
                <a:gd name="f26" fmla="*/ 95 f23 1"/>
                <a:gd name="f27" fmla="*/ 16 f23 1"/>
                <a:gd name="f28" fmla="*/ 117 f23 1"/>
                <a:gd name="f29" fmla="*/ 37 f23 1"/>
                <a:gd name="f30" fmla="*/ f24 1 f2"/>
                <a:gd name="f31" fmla="*/ f26 1 133"/>
                <a:gd name="f32" fmla="*/ f27 1 133"/>
                <a:gd name="f33" fmla="*/ f28 1 133"/>
                <a:gd name="f34" fmla="*/ f29 1 133"/>
                <a:gd name="f35" fmla="*/ 0 1 f25"/>
                <a:gd name="f36" fmla="*/ f6 1 f25"/>
                <a:gd name="f37" fmla="+- f30 0 f1"/>
                <a:gd name="f38" fmla="*/ f31 1 f25"/>
                <a:gd name="f39" fmla="*/ f32 1 f25"/>
                <a:gd name="f40" fmla="*/ f33 1 f25"/>
                <a:gd name="f41" fmla="*/ f34 1 f25"/>
                <a:gd name="f42" fmla="*/ f35 f21 1"/>
                <a:gd name="f43" fmla="*/ f36 f21 1"/>
                <a:gd name="f44" fmla="*/ f36 f22 1"/>
                <a:gd name="f45" fmla="*/ f35 f22 1"/>
                <a:gd name="f46" fmla="*/ f38 f21 1"/>
                <a:gd name="f47" fmla="*/ f39 f22 1"/>
                <a:gd name="f48" fmla="*/ f40 f21 1"/>
                <a:gd name="f49" fmla="*/ f38 f22 1"/>
                <a:gd name="f50" fmla="*/ f41 f21 1"/>
                <a:gd name="f51" fmla="*/ f40 f22 1"/>
                <a:gd name="f52" fmla="*/ f39 f21 1"/>
                <a:gd name="f53" fmla="*/ f41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6" y="f47"/>
                </a:cxn>
                <a:cxn ang="f37">
                  <a:pos x="f48" y="f49"/>
                </a:cxn>
                <a:cxn ang="f37">
                  <a:pos x="f50" y="f51"/>
                </a:cxn>
                <a:cxn ang="f37">
                  <a:pos x="f52" y="f53"/>
                </a:cxn>
                <a:cxn ang="f37">
                  <a:pos x="f46" y="f47"/>
                </a:cxn>
              </a:cxnLst>
              <a:rect l="f42" t="f45" r="f43" b="f44"/>
              <a:pathLst>
                <a:path w="133" h="133">
                  <a:moveTo>
                    <a:pt x="f7" y="f8"/>
                  </a:moveTo>
                  <a:cubicBezTo>
                    <a:pt x="f9" y="f10"/>
                    <a:pt x="f6" y="f11"/>
                    <a:pt x="f12" y="f7"/>
                  </a:cubicBezTo>
                  <a:cubicBezTo>
                    <a:pt x="f13" y="f9"/>
                    <a:pt x="f14" y="f6"/>
                    <a:pt x="f15" y="f12"/>
                  </a:cubicBezTo>
                  <a:cubicBezTo>
                    <a:pt x="f16" y="f17"/>
                    <a:pt x="f5" y="f18"/>
                    <a:pt x="f8" y="f15"/>
                  </a:cubicBezTo>
                  <a:cubicBezTo>
                    <a:pt x="f10" y="f16"/>
                    <a:pt x="f19" y="f5"/>
                    <a:pt x="f7" y="f8"/>
                  </a:cubicBezTo>
                  <a:close/>
                </a:path>
              </a:pathLst>
            </a:custGeom>
            <a:noFill/>
            <a:ln w="12701" cap="flat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2" name="Freeform 234">
              <a:extLst>
                <a:ext uri="{FF2B5EF4-FFF2-40B4-BE49-F238E27FC236}">
                  <a16:creationId xmlns:a16="http://schemas.microsoft.com/office/drawing/2014/main" id="{3FB67CB5-D90F-5EA5-15D9-ED99C4442339}"/>
                </a:ext>
              </a:extLst>
            </p:cNvPr>
            <p:cNvSpPr/>
            <p:nvPr/>
          </p:nvSpPr>
          <p:spPr>
            <a:xfrm>
              <a:off x="10766109" y="2542781"/>
              <a:ext cx="324127" cy="3191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6"/>
                <a:gd name="f7" fmla="val 439"/>
                <a:gd name="f8" fmla="val 299"/>
                <a:gd name="f9" fmla="val 412"/>
                <a:gd name="f10" fmla="val 393"/>
                <a:gd name="f11" fmla="val 375"/>
                <a:gd name="f12" fmla="val 272"/>
                <a:gd name="f13" fmla="val 420"/>
                <a:gd name="f14" fmla="val 172"/>
                <a:gd name="f15" fmla="val 391"/>
                <a:gd name="f16" fmla="val 64"/>
                <a:gd name="f17" fmla="val 280"/>
                <a:gd name="f18" fmla="val 29"/>
                <a:gd name="f19" fmla="val 58"/>
                <a:gd name="f20" fmla="val 169"/>
                <a:gd name="f21" fmla="val 277"/>
                <a:gd name="f22" fmla="val 56"/>
                <a:gd name="f23" fmla="val 377"/>
                <a:gd name="f24" fmla="val 153"/>
                <a:gd name="f25" fmla="val 253"/>
                <a:gd name="f26" fmla="val 424"/>
                <a:gd name="f27" fmla="+- 0 0 -90"/>
                <a:gd name="f28" fmla="*/ f3 1 446"/>
                <a:gd name="f29" fmla="*/ f4 1 439"/>
                <a:gd name="f30" fmla="+- f7 0 f5"/>
                <a:gd name="f31" fmla="+- f6 0 f5"/>
                <a:gd name="f32" fmla="*/ f27 f0 1"/>
                <a:gd name="f33" fmla="*/ f31 1 446"/>
                <a:gd name="f34" fmla="*/ f30 1 439"/>
                <a:gd name="f35" fmla="*/ 299 f31 1"/>
                <a:gd name="f36" fmla="*/ 412 f30 1"/>
                <a:gd name="f37" fmla="*/ 420 f31 1"/>
                <a:gd name="f38" fmla="*/ 172 f30 1"/>
                <a:gd name="f39" fmla="*/ 172 f31 1"/>
                <a:gd name="f40" fmla="*/ 29 f30 1"/>
                <a:gd name="f41" fmla="*/ 29 f31 1"/>
                <a:gd name="f42" fmla="*/ 277 f30 1"/>
                <a:gd name="f43" fmla="*/ 253 f31 1"/>
                <a:gd name="f44" fmla="*/ 424 f30 1"/>
                <a:gd name="f45" fmla="*/ f32 1 f2"/>
                <a:gd name="f46" fmla="*/ f35 1 446"/>
                <a:gd name="f47" fmla="*/ f36 1 439"/>
                <a:gd name="f48" fmla="*/ f37 1 446"/>
                <a:gd name="f49" fmla="*/ f38 1 439"/>
                <a:gd name="f50" fmla="*/ f39 1 446"/>
                <a:gd name="f51" fmla="*/ f40 1 439"/>
                <a:gd name="f52" fmla="*/ f41 1 446"/>
                <a:gd name="f53" fmla="*/ f42 1 439"/>
                <a:gd name="f54" fmla="*/ f43 1 446"/>
                <a:gd name="f55" fmla="*/ f44 1 439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446" h="439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3" name="Line 235">
              <a:extLst>
                <a:ext uri="{FF2B5EF4-FFF2-40B4-BE49-F238E27FC236}">
                  <a16:creationId xmlns:a16="http://schemas.microsoft.com/office/drawing/2014/main" id="{419E6098-393C-BA3D-3EB5-FE4B10560D8C}"/>
                </a:ext>
              </a:extLst>
            </p:cNvPr>
            <p:cNvSpPr/>
            <p:nvPr/>
          </p:nvSpPr>
          <p:spPr>
            <a:xfrm>
              <a:off x="10972708" y="2845877"/>
              <a:ext cx="13606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4" name="Freeform 236">
              <a:extLst>
                <a:ext uri="{FF2B5EF4-FFF2-40B4-BE49-F238E27FC236}">
                  <a16:creationId xmlns:a16="http://schemas.microsoft.com/office/drawing/2014/main" id="{03E13036-87A7-5FB9-1E57-4B6E18E3857C}"/>
                </a:ext>
              </a:extLst>
            </p:cNvPr>
            <p:cNvSpPr/>
            <p:nvPr/>
          </p:nvSpPr>
          <p:spPr>
            <a:xfrm>
              <a:off x="10784671" y="2561334"/>
              <a:ext cx="288246" cy="2832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7"/>
                <a:gd name="f7" fmla="val 390"/>
                <a:gd name="f8" fmla="val 266"/>
                <a:gd name="f9" fmla="val 366"/>
                <a:gd name="f10" fmla="val 349"/>
                <a:gd name="f11" fmla="val 333"/>
                <a:gd name="f12" fmla="val 242"/>
                <a:gd name="f13" fmla="val 373"/>
                <a:gd name="f14" fmla="val 153"/>
                <a:gd name="f15" fmla="val 347"/>
                <a:gd name="f16" fmla="val 57"/>
                <a:gd name="f17" fmla="val 249"/>
                <a:gd name="f18" fmla="val 26"/>
                <a:gd name="f19" fmla="val 51"/>
                <a:gd name="f20" fmla="val 150"/>
                <a:gd name="f21" fmla="val 246"/>
                <a:gd name="f22" fmla="val 50"/>
                <a:gd name="f23" fmla="val 335"/>
                <a:gd name="f24" fmla="val 136"/>
                <a:gd name="f25" fmla="val 225"/>
                <a:gd name="f26" fmla="val 377"/>
                <a:gd name="f27" fmla="+- 0 0 -90"/>
                <a:gd name="f28" fmla="*/ f3 1 397"/>
                <a:gd name="f29" fmla="*/ f4 1 390"/>
                <a:gd name="f30" fmla="+- f7 0 f5"/>
                <a:gd name="f31" fmla="+- f6 0 f5"/>
                <a:gd name="f32" fmla="*/ f27 f0 1"/>
                <a:gd name="f33" fmla="*/ f31 1 397"/>
                <a:gd name="f34" fmla="*/ f30 1 390"/>
                <a:gd name="f35" fmla="*/ 266 f31 1"/>
                <a:gd name="f36" fmla="*/ 366 f30 1"/>
                <a:gd name="f37" fmla="*/ 373 f31 1"/>
                <a:gd name="f38" fmla="*/ 153 f30 1"/>
                <a:gd name="f39" fmla="*/ 153 f31 1"/>
                <a:gd name="f40" fmla="*/ 26 f30 1"/>
                <a:gd name="f41" fmla="*/ 26 f31 1"/>
                <a:gd name="f42" fmla="*/ 246 f30 1"/>
                <a:gd name="f43" fmla="*/ 225 f31 1"/>
                <a:gd name="f44" fmla="*/ 377 f30 1"/>
                <a:gd name="f45" fmla="*/ f32 1 f2"/>
                <a:gd name="f46" fmla="*/ f35 1 397"/>
                <a:gd name="f47" fmla="*/ f36 1 390"/>
                <a:gd name="f48" fmla="*/ f37 1 397"/>
                <a:gd name="f49" fmla="*/ f38 1 390"/>
                <a:gd name="f50" fmla="*/ f39 1 397"/>
                <a:gd name="f51" fmla="*/ f40 1 390"/>
                <a:gd name="f52" fmla="*/ f41 1 397"/>
                <a:gd name="f53" fmla="*/ f42 1 390"/>
                <a:gd name="f54" fmla="*/ f43 1 397"/>
                <a:gd name="f55" fmla="*/ f44 1 390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397" h="390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5" name="Line 237">
              <a:extLst>
                <a:ext uri="{FF2B5EF4-FFF2-40B4-BE49-F238E27FC236}">
                  <a16:creationId xmlns:a16="http://schemas.microsoft.com/office/drawing/2014/main" id="{36EB2EA1-0D90-C49C-4C31-FA0C64FBED0F}"/>
                </a:ext>
              </a:extLst>
            </p:cNvPr>
            <p:cNvSpPr/>
            <p:nvPr/>
          </p:nvSpPr>
          <p:spPr>
            <a:xfrm>
              <a:off x="10961571" y="2849581"/>
              <a:ext cx="12371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6" name="Freeform 238">
              <a:extLst>
                <a:ext uri="{FF2B5EF4-FFF2-40B4-BE49-F238E27FC236}">
                  <a16:creationId xmlns:a16="http://schemas.microsoft.com/office/drawing/2014/main" id="{4CD0CAB1-41C0-FF0B-DD0C-4949E214004C}"/>
                </a:ext>
              </a:extLst>
            </p:cNvPr>
            <p:cNvSpPr/>
            <p:nvPr/>
          </p:nvSpPr>
          <p:spPr>
            <a:xfrm>
              <a:off x="10946730" y="2887940"/>
              <a:ext cx="106390" cy="1756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7"/>
                <a:gd name="f7" fmla="val 241"/>
                <a:gd name="f8" fmla="val 43"/>
                <a:gd name="f9" fmla="val 188"/>
                <a:gd name="f10" fmla="val 52"/>
                <a:gd name="f11" fmla="val 220"/>
                <a:gd name="f12" fmla="val 80"/>
                <a:gd name="f13" fmla="val 107"/>
                <a:gd name="f14" fmla="val 234"/>
                <a:gd name="f15" fmla="val 133"/>
                <a:gd name="f16" fmla="val 227"/>
                <a:gd name="f17" fmla="val 195"/>
                <a:gd name="f18" fmla="val 138"/>
                <a:gd name="f19" fmla="val 162"/>
                <a:gd name="f20" fmla="val 95"/>
                <a:gd name="f21" fmla="val 25"/>
                <a:gd name="f22" fmla="+- 0 0 -90"/>
                <a:gd name="f23" fmla="*/ f3 1 147"/>
                <a:gd name="f24" fmla="*/ f4 1 241"/>
                <a:gd name="f25" fmla="+- f7 0 f5"/>
                <a:gd name="f26" fmla="+- f6 0 f5"/>
                <a:gd name="f27" fmla="*/ f22 f0 1"/>
                <a:gd name="f28" fmla="*/ f26 1 147"/>
                <a:gd name="f29" fmla="*/ f25 1 241"/>
                <a:gd name="f30" fmla="*/ 43 f26 1"/>
                <a:gd name="f31" fmla="*/ 188 f25 1"/>
                <a:gd name="f32" fmla="*/ 107 f26 1"/>
                <a:gd name="f33" fmla="*/ 234 f25 1"/>
                <a:gd name="f34" fmla="*/ 138 f26 1"/>
                <a:gd name="f35" fmla="*/ 162 f25 1"/>
                <a:gd name="f36" fmla="*/ 95 f26 1"/>
                <a:gd name="f37" fmla="*/ 0 f25 1"/>
                <a:gd name="f38" fmla="*/ 0 f26 1"/>
                <a:gd name="f39" fmla="*/ 25 f25 1"/>
                <a:gd name="f40" fmla="*/ f27 1 f2"/>
                <a:gd name="f41" fmla="*/ f30 1 147"/>
                <a:gd name="f42" fmla="*/ f31 1 241"/>
                <a:gd name="f43" fmla="*/ f32 1 147"/>
                <a:gd name="f44" fmla="*/ f33 1 241"/>
                <a:gd name="f45" fmla="*/ f34 1 147"/>
                <a:gd name="f46" fmla="*/ f35 1 241"/>
                <a:gd name="f47" fmla="*/ f36 1 147"/>
                <a:gd name="f48" fmla="*/ f37 1 241"/>
                <a:gd name="f49" fmla="*/ f38 1 147"/>
                <a:gd name="f50" fmla="*/ f39 1 241"/>
                <a:gd name="f51" fmla="*/ 0 1 f28"/>
                <a:gd name="f52" fmla="*/ f6 1 f28"/>
                <a:gd name="f53" fmla="*/ 0 1 f29"/>
                <a:gd name="f54" fmla="*/ f7 1 f29"/>
                <a:gd name="f55" fmla="+- f40 0 f1"/>
                <a:gd name="f56" fmla="*/ f41 1 f28"/>
                <a:gd name="f57" fmla="*/ f42 1 f29"/>
                <a:gd name="f58" fmla="*/ f43 1 f28"/>
                <a:gd name="f59" fmla="*/ f44 1 f29"/>
                <a:gd name="f60" fmla="*/ f45 1 f28"/>
                <a:gd name="f61" fmla="*/ f46 1 f29"/>
                <a:gd name="f62" fmla="*/ f47 1 f28"/>
                <a:gd name="f63" fmla="*/ f48 1 f29"/>
                <a:gd name="f64" fmla="*/ f49 1 f28"/>
                <a:gd name="f65" fmla="*/ f50 1 f29"/>
                <a:gd name="f66" fmla="*/ f51 f23 1"/>
                <a:gd name="f67" fmla="*/ f52 f23 1"/>
                <a:gd name="f68" fmla="*/ f54 f24 1"/>
                <a:gd name="f69" fmla="*/ f53 f24 1"/>
                <a:gd name="f70" fmla="*/ f56 f23 1"/>
                <a:gd name="f71" fmla="*/ f57 f24 1"/>
                <a:gd name="f72" fmla="*/ f58 f23 1"/>
                <a:gd name="f73" fmla="*/ f59 f24 1"/>
                <a:gd name="f74" fmla="*/ f60 f23 1"/>
                <a:gd name="f75" fmla="*/ f61 f24 1"/>
                <a:gd name="f76" fmla="*/ f62 f23 1"/>
                <a:gd name="f77" fmla="*/ f63 f24 1"/>
                <a:gd name="f78" fmla="*/ f64 f23 1"/>
                <a:gd name="f79" fmla="*/ f65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0" y="f71"/>
                </a:cxn>
                <a:cxn ang="f55">
                  <a:pos x="f72" y="f73"/>
                </a:cxn>
                <a:cxn ang="f55">
                  <a:pos x="f74" y="f75"/>
                </a:cxn>
                <a:cxn ang="f55">
                  <a:pos x="f76" y="f77"/>
                </a:cxn>
                <a:cxn ang="f55">
                  <a:pos x="f78" y="f79"/>
                </a:cxn>
                <a:cxn ang="f55">
                  <a:pos x="f70" y="f71"/>
                </a:cxn>
              </a:cxnLst>
              <a:rect l="f66" t="f69" r="f67" b="f68"/>
              <a:pathLst>
                <a:path w="147" h="241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6"/>
                    <a:pt x="f6" y="f17"/>
                    <a:pt x="f18" y="f19"/>
                  </a:cubicBezTo>
                  <a:cubicBezTo>
                    <a:pt x="f20" y="f5"/>
                    <a:pt x="f20" y="f5"/>
                    <a:pt x="f20" y="f5"/>
                  </a:cubicBezTo>
                  <a:cubicBezTo>
                    <a:pt x="f5" y="f21"/>
                    <a:pt x="f5" y="f21"/>
                    <a:pt x="f5" y="f21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7" name="Line 239">
              <a:extLst>
                <a:ext uri="{FF2B5EF4-FFF2-40B4-BE49-F238E27FC236}">
                  <a16:creationId xmlns:a16="http://schemas.microsoft.com/office/drawing/2014/main" id="{86343C29-361B-E43F-2CA8-752954B5C77F}"/>
                </a:ext>
              </a:extLst>
            </p:cNvPr>
            <p:cNvSpPr/>
            <p:nvPr/>
          </p:nvSpPr>
          <p:spPr>
            <a:xfrm flipV="1">
              <a:off x="10955389" y="2911440"/>
              <a:ext cx="65562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8" name="Line 240">
              <a:extLst>
                <a:ext uri="{FF2B5EF4-FFF2-40B4-BE49-F238E27FC236}">
                  <a16:creationId xmlns:a16="http://schemas.microsoft.com/office/drawing/2014/main" id="{C86F6C47-5CA7-624C-070F-0CFB331AEF90}"/>
                </a:ext>
              </a:extLst>
            </p:cNvPr>
            <p:cNvSpPr/>
            <p:nvPr/>
          </p:nvSpPr>
          <p:spPr>
            <a:xfrm flipV="1">
              <a:off x="10961571" y="2926290"/>
              <a:ext cx="63093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9" name="Line 241">
              <a:extLst>
                <a:ext uri="{FF2B5EF4-FFF2-40B4-BE49-F238E27FC236}">
                  <a16:creationId xmlns:a16="http://schemas.microsoft.com/office/drawing/2014/main" id="{A96C0C05-8E95-F0F5-6F16-E4CB5CB001A1}"/>
                </a:ext>
              </a:extLst>
            </p:cNvPr>
            <p:cNvSpPr/>
            <p:nvPr/>
          </p:nvSpPr>
          <p:spPr>
            <a:xfrm flipV="1">
              <a:off x="10981367" y="3002990"/>
              <a:ext cx="64328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0" name="Line 242">
              <a:extLst>
                <a:ext uri="{FF2B5EF4-FFF2-40B4-BE49-F238E27FC236}">
                  <a16:creationId xmlns:a16="http://schemas.microsoft.com/office/drawing/2014/main" id="{1403128E-0CC3-A187-AF74-FFDAFB104E20}"/>
                </a:ext>
              </a:extLst>
            </p:cNvPr>
            <p:cNvSpPr/>
            <p:nvPr/>
          </p:nvSpPr>
          <p:spPr>
            <a:xfrm flipH="1">
              <a:off x="10622603" y="2558866"/>
              <a:ext cx="158346" cy="274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1" name="Line 243">
              <a:extLst>
                <a:ext uri="{FF2B5EF4-FFF2-40B4-BE49-F238E27FC236}">
                  <a16:creationId xmlns:a16="http://schemas.microsoft.com/office/drawing/2014/main" id="{00505A5B-41B4-1816-675E-13A69CCC83E2}"/>
                </a:ext>
              </a:extLst>
            </p:cNvPr>
            <p:cNvSpPr/>
            <p:nvPr/>
          </p:nvSpPr>
          <p:spPr>
            <a:xfrm flipH="1">
              <a:off x="11044461" y="2970821"/>
              <a:ext cx="82890" cy="1435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2" name="Line 244">
              <a:extLst>
                <a:ext uri="{FF2B5EF4-FFF2-40B4-BE49-F238E27FC236}">
                  <a16:creationId xmlns:a16="http://schemas.microsoft.com/office/drawing/2014/main" id="{512920F2-07E5-1AD6-7673-E200DDD1C6E6}"/>
                </a:ext>
              </a:extLst>
            </p:cNvPr>
            <p:cNvSpPr/>
            <p:nvPr/>
          </p:nvSpPr>
          <p:spPr>
            <a:xfrm flipH="1">
              <a:off x="11064258" y="2764222"/>
              <a:ext cx="43296" cy="7546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7784" y="2677864"/>
            <a:ext cx="7239000" cy="1325562"/>
          </a:xfrm>
        </p:spPr>
        <p:txBody>
          <a:bodyPr/>
          <a:lstStyle/>
          <a:p>
            <a:r>
              <a:rPr sz="2200" b="1" dirty="0">
                <a:solidFill>
                  <a:srgbClr val="1A2747"/>
                </a:solidFill>
              </a:rPr>
              <a:t>Cleanliness ratings are uniformly high — The Private Clinic matches competitors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292608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Cleanliness Category · % of Reviews Mentioning "Clean" · 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261872"/>
            <a:ext cx="3657600" cy="32918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307592"/>
            <a:ext cx="10999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A2747"/>
                </a:solidFill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03353"/>
            <a:ext cx="3474720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The Private Clinic scores 100% clean mentions — equal to top direct rivals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All direct competitors except MYA (95.2%) score 100% on cleanliness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Cleanliness is a hygiene factor — consistent across all direct competitors</a:t>
            </a:r>
          </a:p>
          <a:p>
            <a:pPr>
              <a:spcBef>
                <a:spcPts val="300"/>
              </a:spcBef>
            </a:pPr>
            <a:endParaRPr sz="1100" dirty="0">
              <a:solidFill>
                <a:srgbClr val="33333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Cleanliness ratings are uniformly high — The Private Clinic matches competitors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D5BE38F-C103-3430-92B3-45E74BFFA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261872"/>
            <a:ext cx="7818120" cy="3291840"/>
          </a:xfrm>
          <a:prstGeom prst="rect">
            <a:avLst/>
          </a:prstGeom>
        </p:spPr>
      </p:pic>
      <p:grpSp>
        <p:nvGrpSpPr>
          <p:cNvPr id="4" name="Group 231">
            <a:extLst>
              <a:ext uri="{FF2B5EF4-FFF2-40B4-BE49-F238E27FC236}">
                <a16:creationId xmlns:a16="http://schemas.microsoft.com/office/drawing/2014/main" id="{885774D0-EEA3-3BB0-6082-B5A8F8F362DD}"/>
              </a:ext>
            </a:extLst>
          </p:cNvPr>
          <p:cNvGrpSpPr/>
          <p:nvPr/>
        </p:nvGrpSpPr>
        <p:grpSpPr>
          <a:xfrm>
            <a:off x="11291012" y="3894364"/>
            <a:ext cx="504748" cy="571545"/>
            <a:chOff x="10622603" y="2542781"/>
            <a:chExt cx="504748" cy="571545"/>
          </a:xfrm>
        </p:grpSpPr>
        <p:sp>
          <p:nvSpPr>
            <p:cNvPr id="9" name="Freeform 232">
              <a:extLst>
                <a:ext uri="{FF2B5EF4-FFF2-40B4-BE49-F238E27FC236}">
                  <a16:creationId xmlns:a16="http://schemas.microsoft.com/office/drawing/2014/main" id="{69BE1AA4-6E9E-2E70-0E22-A25370033FF0}"/>
                </a:ext>
              </a:extLst>
            </p:cNvPr>
            <p:cNvSpPr/>
            <p:nvPr/>
          </p:nvSpPr>
          <p:spPr>
            <a:xfrm>
              <a:off x="10837861" y="2613291"/>
              <a:ext cx="183090" cy="1830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2"/>
                <a:gd name="f7" fmla="val 131"/>
                <a:gd name="f8" fmla="val 249"/>
                <a:gd name="f9" fmla="val 145"/>
                <a:gd name="f10" fmla="val 246"/>
                <a:gd name="f11" fmla="val 159"/>
                <a:gd name="f12" fmla="val 243"/>
                <a:gd name="f13" fmla="val 173"/>
                <a:gd name="f14" fmla="val 236"/>
                <a:gd name="f15" fmla="val 172"/>
                <a:gd name="f16" fmla="val 230"/>
                <a:gd name="f17" fmla="val 170"/>
                <a:gd name="f18" fmla="val 223"/>
                <a:gd name="f19" fmla="val 169"/>
                <a:gd name="f20" fmla="val 216"/>
                <a:gd name="f21" fmla="val 168"/>
                <a:gd name="f22" fmla="val 212"/>
                <a:gd name="f23" fmla="val 209"/>
                <a:gd name="f24" fmla="val 174"/>
                <a:gd name="f25" fmla="val 206"/>
                <a:gd name="f26" fmla="val 179"/>
                <a:gd name="f27" fmla="val 207"/>
                <a:gd name="f28" fmla="val 183"/>
                <a:gd name="f29" fmla="val 189"/>
                <a:gd name="f30" fmla="val 194"/>
                <a:gd name="f31" fmla="val 220"/>
                <a:gd name="f32" fmla="val 198"/>
                <a:gd name="f33" fmla="val 225"/>
                <a:gd name="f34" fmla="val 204"/>
                <a:gd name="f35" fmla="val 215"/>
                <a:gd name="f36" fmla="val 214"/>
                <a:gd name="f37" fmla="val 193"/>
                <a:gd name="f38" fmla="val 233"/>
                <a:gd name="f39" fmla="val 188"/>
                <a:gd name="f40" fmla="val 227"/>
                <a:gd name="f41" fmla="val 184"/>
                <a:gd name="f42" fmla="val 222"/>
                <a:gd name="f43" fmla="val 217"/>
                <a:gd name="f44" fmla="val 175"/>
                <a:gd name="f45" fmla="val 213"/>
                <a:gd name="f46" fmla="val 171"/>
                <a:gd name="f47" fmla="val 211"/>
                <a:gd name="f48" fmla="val 165"/>
                <a:gd name="f49" fmla="val 160"/>
                <a:gd name="f50" fmla="val 158"/>
                <a:gd name="f51" fmla="val 219"/>
                <a:gd name="f52" fmla="val 240"/>
                <a:gd name="f53" fmla="val 161"/>
                <a:gd name="f54" fmla="val 247"/>
                <a:gd name="f55" fmla="val 147"/>
                <a:gd name="f56" fmla="val 133"/>
                <a:gd name="f57" fmla="val 250"/>
                <a:gd name="f58" fmla="val 118"/>
                <a:gd name="f59" fmla="val 117"/>
                <a:gd name="f60" fmla="val 116"/>
                <a:gd name="f61" fmla="val 239"/>
                <a:gd name="f62" fmla="val 234"/>
                <a:gd name="f63" fmla="val 115"/>
                <a:gd name="f64" fmla="val 112"/>
                <a:gd name="f65" fmla="val 221"/>
                <a:gd name="f66" fmla="val 106"/>
                <a:gd name="f67" fmla="val 101"/>
                <a:gd name="f68" fmla="val 218"/>
                <a:gd name="f69" fmla="val 97"/>
                <a:gd name="f70" fmla="val 94"/>
                <a:gd name="f71" fmla="val 91"/>
                <a:gd name="f72" fmla="val 231"/>
                <a:gd name="f73" fmla="val 87"/>
                <a:gd name="f74" fmla="val 237"/>
                <a:gd name="f75" fmla="val 84"/>
                <a:gd name="f76" fmla="val 244"/>
                <a:gd name="f77" fmla="val 70"/>
                <a:gd name="f78" fmla="val 238"/>
                <a:gd name="f79" fmla="val 59"/>
                <a:gd name="f80" fmla="val 46"/>
                <a:gd name="f81" fmla="val 48"/>
                <a:gd name="f82" fmla="val 50"/>
                <a:gd name="f83" fmla="val 51"/>
                <a:gd name="f84" fmla="val 53"/>
                <a:gd name="f85" fmla="val 55"/>
                <a:gd name="f86" fmla="val 57"/>
                <a:gd name="f87" fmla="val 203"/>
                <a:gd name="f88" fmla="val 190"/>
                <a:gd name="f89" fmla="val 52"/>
                <a:gd name="f90" fmla="val 186"/>
                <a:gd name="f91" fmla="val 185"/>
                <a:gd name="f92" fmla="val 43"/>
                <a:gd name="f93" fmla="val 187"/>
                <a:gd name="f94" fmla="val 39"/>
                <a:gd name="f95" fmla="val 36"/>
                <a:gd name="f96" fmla="val 32"/>
                <a:gd name="f97" fmla="val 192"/>
                <a:gd name="f98" fmla="val 29"/>
                <a:gd name="f99" fmla="val 26"/>
                <a:gd name="f100" fmla="val 21"/>
                <a:gd name="f101" fmla="val 196"/>
                <a:gd name="f102" fmla="val 16"/>
                <a:gd name="f103" fmla="val 10"/>
                <a:gd name="f104" fmla="val 4"/>
                <a:gd name="f105" fmla="val 157"/>
                <a:gd name="f106" fmla="val 154"/>
                <a:gd name="f107" fmla="val 151"/>
                <a:gd name="f108" fmla="val 22"/>
                <a:gd name="f109" fmla="val 149"/>
                <a:gd name="f110" fmla="val 30"/>
                <a:gd name="f111" fmla="val 142"/>
                <a:gd name="f112" fmla="val 31"/>
                <a:gd name="f113" fmla="val 136"/>
                <a:gd name="f114" fmla="val 129"/>
                <a:gd name="f115" fmla="val 127"/>
                <a:gd name="f116" fmla="val 20"/>
                <a:gd name="f117" fmla="val 126"/>
                <a:gd name="f118" fmla="val 14"/>
                <a:gd name="f119" fmla="val 125"/>
                <a:gd name="f120" fmla="val 8"/>
                <a:gd name="f121" fmla="val 123"/>
                <a:gd name="f122" fmla="val 121"/>
                <a:gd name="f123" fmla="val 3"/>
                <a:gd name="f124" fmla="val 107"/>
                <a:gd name="f125" fmla="val 6"/>
                <a:gd name="f126" fmla="val 9"/>
                <a:gd name="f127" fmla="val 79"/>
                <a:gd name="f128" fmla="val 81"/>
                <a:gd name="f129" fmla="val 82"/>
                <a:gd name="f130" fmla="val 83"/>
                <a:gd name="f131" fmla="val 85"/>
                <a:gd name="f132" fmla="val 41"/>
                <a:gd name="f133" fmla="val 44"/>
                <a:gd name="f134" fmla="val 78"/>
                <a:gd name="f135" fmla="val 47"/>
                <a:gd name="f136" fmla="val 71"/>
                <a:gd name="f137" fmla="val 66"/>
                <a:gd name="f138" fmla="val 62"/>
                <a:gd name="f139" fmla="val 35"/>
                <a:gd name="f140" fmla="val 58"/>
                <a:gd name="f141" fmla="val 27"/>
                <a:gd name="f142" fmla="val 37"/>
                <a:gd name="f143" fmla="val 38"/>
                <a:gd name="f144" fmla="val 63"/>
                <a:gd name="f145" fmla="val 24"/>
                <a:gd name="f146" fmla="val 67"/>
                <a:gd name="f147" fmla="val 28"/>
                <a:gd name="f148" fmla="val 72"/>
                <a:gd name="f149" fmla="val 34"/>
                <a:gd name="f150" fmla="val 74"/>
                <a:gd name="f151" fmla="val 77"/>
                <a:gd name="f152" fmla="val 80"/>
                <a:gd name="f153" fmla="val 40"/>
                <a:gd name="f154" fmla="val 88"/>
                <a:gd name="f155" fmla="val 92"/>
                <a:gd name="f156" fmla="val 33"/>
                <a:gd name="f157" fmla="val 93"/>
                <a:gd name="f158" fmla="val 13"/>
                <a:gd name="f159" fmla="val 5"/>
                <a:gd name="f160" fmla="val 120"/>
                <a:gd name="f161" fmla="val 2"/>
                <a:gd name="f162" fmla="val 135"/>
                <a:gd name="f163" fmla="val 15"/>
                <a:gd name="f164" fmla="val 137"/>
                <a:gd name="f165" fmla="val 138"/>
                <a:gd name="f166" fmla="val 140"/>
                <a:gd name="f167" fmla="val 150"/>
                <a:gd name="f168" fmla="val 155"/>
                <a:gd name="f169" fmla="val 162"/>
                <a:gd name="f170" fmla="val 176"/>
                <a:gd name="f171" fmla="val 11"/>
                <a:gd name="f172" fmla="val 205"/>
                <a:gd name="f173" fmla="val 201"/>
                <a:gd name="f174" fmla="val 199"/>
                <a:gd name="f175" fmla="val 49"/>
                <a:gd name="f176" fmla="val 54"/>
                <a:gd name="f177" fmla="val 197"/>
                <a:gd name="f178" fmla="val 200"/>
                <a:gd name="f179" fmla="val 65"/>
                <a:gd name="f180" fmla="val 64"/>
                <a:gd name="f181" fmla="val 60"/>
                <a:gd name="f182" fmla="val 56"/>
                <a:gd name="f183" fmla="val 69"/>
                <a:gd name="f184" fmla="val 76"/>
                <a:gd name="f185" fmla="val 245"/>
                <a:gd name="f186" fmla="val 95"/>
                <a:gd name="f187" fmla="val 98"/>
                <a:gd name="f188" fmla="val 100"/>
                <a:gd name="f189" fmla="val 232"/>
                <a:gd name="f190" fmla="val 103"/>
                <a:gd name="f191" fmla="val 104"/>
                <a:gd name="f192" fmla="val 228"/>
                <a:gd name="f193" fmla="val 105"/>
                <a:gd name="f194" fmla="val 226"/>
                <a:gd name="f195" fmla="val 109"/>
                <a:gd name="f196" fmla="+- 0 0 -90"/>
                <a:gd name="f197" fmla="*/ f3 1 252"/>
                <a:gd name="f198" fmla="*/ f4 1 252"/>
                <a:gd name="f199" fmla="+- f6 0 f5"/>
                <a:gd name="f200" fmla="*/ f196 f0 1"/>
                <a:gd name="f201" fmla="*/ f199 1 252"/>
                <a:gd name="f202" fmla="*/ 252 f199 1"/>
                <a:gd name="f203" fmla="*/ 131 f199 1"/>
                <a:gd name="f204" fmla="*/ 243 f199 1"/>
                <a:gd name="f205" fmla="*/ 173 f199 1"/>
                <a:gd name="f206" fmla="*/ 223 f199 1"/>
                <a:gd name="f207" fmla="*/ 169 f199 1"/>
                <a:gd name="f208" fmla="*/ 209 f199 1"/>
                <a:gd name="f209" fmla="*/ 174 f199 1"/>
                <a:gd name="f210" fmla="*/ 212 f199 1"/>
                <a:gd name="f211" fmla="*/ 189 f199 1"/>
                <a:gd name="f212" fmla="*/ 225 f199 1"/>
                <a:gd name="f213" fmla="*/ 204 f199 1"/>
                <a:gd name="f214" fmla="*/ 193 f199 1"/>
                <a:gd name="f215" fmla="*/ 233 f199 1"/>
                <a:gd name="f216" fmla="*/ 179 f199 1"/>
                <a:gd name="f217" fmla="*/ 217 f199 1"/>
                <a:gd name="f218" fmla="*/ 165 f199 1"/>
                <a:gd name="f219" fmla="*/ 213 f199 1"/>
                <a:gd name="f220" fmla="*/ 159 f199 1"/>
                <a:gd name="f221" fmla="*/ 227 f199 1"/>
                <a:gd name="f222" fmla="*/ 161 f199 1"/>
                <a:gd name="f223" fmla="*/ 247 f199 1"/>
                <a:gd name="f224" fmla="*/ 118 f199 1"/>
                <a:gd name="f225" fmla="*/ 117 f199 1"/>
                <a:gd name="f226" fmla="*/ 115 f199 1"/>
                <a:gd name="f227" fmla="*/ 230 f199 1"/>
                <a:gd name="f228" fmla="*/ 106 f199 1"/>
                <a:gd name="f229" fmla="*/ 220 f199 1"/>
                <a:gd name="f230" fmla="*/ 94 f199 1"/>
                <a:gd name="f231" fmla="*/ 84 f199 1"/>
                <a:gd name="f232" fmla="*/ 244 f199 1"/>
                <a:gd name="f233" fmla="*/ 46 f199 1"/>
                <a:gd name="f234" fmla="*/ 51 f199 1"/>
                <a:gd name="f235" fmla="*/ 57 f199 1"/>
                <a:gd name="f236" fmla="*/ 203 f199 1"/>
                <a:gd name="f237" fmla="*/ 55 f199 1"/>
                <a:gd name="f238" fmla="*/ 190 f199 1"/>
                <a:gd name="f239" fmla="*/ 43 f199 1"/>
                <a:gd name="f240" fmla="*/ 187 f199 1"/>
                <a:gd name="f241" fmla="*/ 32 f199 1"/>
                <a:gd name="f242" fmla="*/ 192 f199 1"/>
                <a:gd name="f243" fmla="*/ 21 f199 1"/>
                <a:gd name="f244" fmla="*/ 196 f199 1"/>
                <a:gd name="f245" fmla="*/ 4 f199 1"/>
                <a:gd name="f246" fmla="*/ 157 f199 1"/>
                <a:gd name="f247" fmla="*/ 22 f199 1"/>
                <a:gd name="f248" fmla="*/ 149 f199 1"/>
                <a:gd name="f249" fmla="*/ 31 f199 1"/>
                <a:gd name="f250" fmla="*/ 136 f199 1"/>
                <a:gd name="f251" fmla="*/ 20 f199 1"/>
                <a:gd name="f252" fmla="*/ 126 f199 1"/>
                <a:gd name="f253" fmla="*/ 0 f199 1"/>
                <a:gd name="f254" fmla="*/ 121 f199 1"/>
                <a:gd name="f255" fmla="*/ 9 f199 1"/>
                <a:gd name="f256" fmla="*/ 79 f199 1"/>
                <a:gd name="f257" fmla="*/ 26 f199 1"/>
                <a:gd name="f258" fmla="*/ 83 f199 1"/>
                <a:gd name="f259" fmla="*/ 44 f199 1"/>
                <a:gd name="f260" fmla="*/ 78 f199 1"/>
                <a:gd name="f261" fmla="*/ 39 f199 1"/>
                <a:gd name="f262" fmla="*/ 62 f199 1"/>
                <a:gd name="f263" fmla="*/ 27 f199 1"/>
                <a:gd name="f264" fmla="*/ 48 f199 1"/>
                <a:gd name="f265" fmla="*/ 59 f199 1"/>
                <a:gd name="f266" fmla="*/ 70 f199 1"/>
                <a:gd name="f267" fmla="*/ 77 f199 1"/>
                <a:gd name="f268" fmla="*/ 38 f199 1"/>
                <a:gd name="f269" fmla="*/ 88 f199 1"/>
                <a:gd name="f270" fmla="*/ 29 f199 1"/>
                <a:gd name="f271" fmla="*/ 92 f199 1"/>
                <a:gd name="f272" fmla="*/ 5 f199 1"/>
                <a:gd name="f273" fmla="*/ 135 f199 1"/>
                <a:gd name="f274" fmla="*/ 137 f199 1"/>
                <a:gd name="f275" fmla="*/ 145 f199 1"/>
                <a:gd name="f276" fmla="*/ 158 f199 1"/>
                <a:gd name="f277" fmla="*/ 168 f199 1"/>
                <a:gd name="f278" fmla="*/ 10 f199 1"/>
                <a:gd name="f279" fmla="*/ 206 f199 1"/>
                <a:gd name="f280" fmla="*/ 30 f199 1"/>
                <a:gd name="f281" fmla="*/ 201 f199 1"/>
                <a:gd name="f282" fmla="*/ 40 f199 1"/>
                <a:gd name="f283" fmla="*/ 49 f199 1"/>
                <a:gd name="f284" fmla="*/ 197 f199 1"/>
                <a:gd name="f285" fmla="*/ 65 f199 1"/>
                <a:gd name="f286" fmla="*/ 60 f199 1"/>
                <a:gd name="f287" fmla="*/ 231 f199 1"/>
                <a:gd name="f288" fmla="*/ 56 f199 1"/>
                <a:gd name="f289" fmla="*/ 240 f199 1"/>
                <a:gd name="f290" fmla="*/ 76 f199 1"/>
                <a:gd name="f291" fmla="*/ 249 f199 1"/>
                <a:gd name="f292" fmla="*/ 95 f199 1"/>
                <a:gd name="f293" fmla="*/ 232 f199 1"/>
                <a:gd name="f294" fmla="*/ 103 f199 1"/>
                <a:gd name="f295" fmla="*/ 226 f199 1"/>
                <a:gd name="f296" fmla="*/ 221 f199 1"/>
                <a:gd name="f297" fmla="*/ 116 f199 1"/>
                <a:gd name="f298" fmla="*/ f200 1 f2"/>
                <a:gd name="f299" fmla="*/ f202 1 252"/>
                <a:gd name="f300" fmla="*/ f203 1 252"/>
                <a:gd name="f301" fmla="*/ f204 1 252"/>
                <a:gd name="f302" fmla="*/ f205 1 252"/>
                <a:gd name="f303" fmla="*/ f206 1 252"/>
                <a:gd name="f304" fmla="*/ f207 1 252"/>
                <a:gd name="f305" fmla="*/ f208 1 252"/>
                <a:gd name="f306" fmla="*/ f209 1 252"/>
                <a:gd name="f307" fmla="*/ f210 1 252"/>
                <a:gd name="f308" fmla="*/ f211 1 252"/>
                <a:gd name="f309" fmla="*/ f212 1 252"/>
                <a:gd name="f310" fmla="*/ f213 1 252"/>
                <a:gd name="f311" fmla="*/ f214 1 252"/>
                <a:gd name="f312" fmla="*/ f215 1 252"/>
                <a:gd name="f313" fmla="*/ f216 1 252"/>
                <a:gd name="f314" fmla="*/ f217 1 252"/>
                <a:gd name="f315" fmla="*/ f218 1 252"/>
                <a:gd name="f316" fmla="*/ f219 1 252"/>
                <a:gd name="f317" fmla="*/ f220 1 252"/>
                <a:gd name="f318" fmla="*/ f221 1 252"/>
                <a:gd name="f319" fmla="*/ f222 1 252"/>
                <a:gd name="f320" fmla="*/ f223 1 252"/>
                <a:gd name="f321" fmla="*/ f224 1 252"/>
                <a:gd name="f322" fmla="*/ f225 1 252"/>
                <a:gd name="f323" fmla="*/ f226 1 252"/>
                <a:gd name="f324" fmla="*/ f227 1 252"/>
                <a:gd name="f325" fmla="*/ f228 1 252"/>
                <a:gd name="f326" fmla="*/ f229 1 252"/>
                <a:gd name="f327" fmla="*/ f230 1 252"/>
                <a:gd name="f328" fmla="*/ f231 1 252"/>
                <a:gd name="f329" fmla="*/ f232 1 252"/>
                <a:gd name="f330" fmla="*/ f233 1 252"/>
                <a:gd name="f331" fmla="*/ f234 1 252"/>
                <a:gd name="f332" fmla="*/ f235 1 252"/>
                <a:gd name="f333" fmla="*/ f236 1 252"/>
                <a:gd name="f334" fmla="*/ f237 1 252"/>
                <a:gd name="f335" fmla="*/ f238 1 252"/>
                <a:gd name="f336" fmla="*/ f239 1 252"/>
                <a:gd name="f337" fmla="*/ f240 1 252"/>
                <a:gd name="f338" fmla="*/ f241 1 252"/>
                <a:gd name="f339" fmla="*/ f242 1 252"/>
                <a:gd name="f340" fmla="*/ f243 1 252"/>
                <a:gd name="f341" fmla="*/ f244 1 252"/>
                <a:gd name="f342" fmla="*/ f245 1 252"/>
                <a:gd name="f343" fmla="*/ f246 1 252"/>
                <a:gd name="f344" fmla="*/ f247 1 252"/>
                <a:gd name="f345" fmla="*/ f248 1 252"/>
                <a:gd name="f346" fmla="*/ f249 1 252"/>
                <a:gd name="f347" fmla="*/ f250 1 252"/>
                <a:gd name="f348" fmla="*/ f251 1 252"/>
                <a:gd name="f349" fmla="*/ f252 1 252"/>
                <a:gd name="f350" fmla="*/ f253 1 252"/>
                <a:gd name="f351" fmla="*/ f254 1 252"/>
                <a:gd name="f352" fmla="*/ f255 1 252"/>
                <a:gd name="f353" fmla="*/ f256 1 252"/>
                <a:gd name="f354" fmla="*/ f257 1 252"/>
                <a:gd name="f355" fmla="*/ f258 1 252"/>
                <a:gd name="f356" fmla="*/ f259 1 252"/>
                <a:gd name="f357" fmla="*/ f260 1 252"/>
                <a:gd name="f358" fmla="*/ f261 1 252"/>
                <a:gd name="f359" fmla="*/ f262 1 252"/>
                <a:gd name="f360" fmla="*/ f263 1 252"/>
                <a:gd name="f361" fmla="*/ f264 1 252"/>
                <a:gd name="f362" fmla="*/ f265 1 252"/>
                <a:gd name="f363" fmla="*/ f266 1 252"/>
                <a:gd name="f364" fmla="*/ f267 1 252"/>
                <a:gd name="f365" fmla="*/ f268 1 252"/>
                <a:gd name="f366" fmla="*/ f269 1 252"/>
                <a:gd name="f367" fmla="*/ f270 1 252"/>
                <a:gd name="f368" fmla="*/ f271 1 252"/>
                <a:gd name="f369" fmla="*/ f272 1 252"/>
                <a:gd name="f370" fmla="*/ f273 1 252"/>
                <a:gd name="f371" fmla="*/ f274 1 252"/>
                <a:gd name="f372" fmla="*/ f275 1 252"/>
                <a:gd name="f373" fmla="*/ f276 1 252"/>
                <a:gd name="f374" fmla="*/ f277 1 252"/>
                <a:gd name="f375" fmla="*/ f278 1 252"/>
                <a:gd name="f376" fmla="*/ f279 1 252"/>
                <a:gd name="f377" fmla="*/ f280 1 252"/>
                <a:gd name="f378" fmla="*/ f281 1 252"/>
                <a:gd name="f379" fmla="*/ f282 1 252"/>
                <a:gd name="f380" fmla="*/ f283 1 252"/>
                <a:gd name="f381" fmla="*/ f284 1 252"/>
                <a:gd name="f382" fmla="*/ f285 1 252"/>
                <a:gd name="f383" fmla="*/ f286 1 252"/>
                <a:gd name="f384" fmla="*/ f287 1 252"/>
                <a:gd name="f385" fmla="*/ f288 1 252"/>
                <a:gd name="f386" fmla="*/ f289 1 252"/>
                <a:gd name="f387" fmla="*/ f290 1 252"/>
                <a:gd name="f388" fmla="*/ f291 1 252"/>
                <a:gd name="f389" fmla="*/ f292 1 252"/>
                <a:gd name="f390" fmla="*/ f293 1 252"/>
                <a:gd name="f391" fmla="*/ f294 1 252"/>
                <a:gd name="f392" fmla="*/ f295 1 252"/>
                <a:gd name="f393" fmla="*/ f296 1 252"/>
                <a:gd name="f394" fmla="*/ f297 1 252"/>
                <a:gd name="f395" fmla="*/ 0 1 f201"/>
                <a:gd name="f396" fmla="*/ f6 1 f201"/>
                <a:gd name="f397" fmla="+- f298 0 f1"/>
                <a:gd name="f398" fmla="*/ f299 1 f201"/>
                <a:gd name="f399" fmla="*/ f300 1 f201"/>
                <a:gd name="f400" fmla="*/ f301 1 f201"/>
                <a:gd name="f401" fmla="*/ f302 1 f201"/>
                <a:gd name="f402" fmla="*/ f303 1 f201"/>
                <a:gd name="f403" fmla="*/ f304 1 f201"/>
                <a:gd name="f404" fmla="*/ f305 1 f201"/>
                <a:gd name="f405" fmla="*/ f306 1 f201"/>
                <a:gd name="f406" fmla="*/ f307 1 f201"/>
                <a:gd name="f407" fmla="*/ f308 1 f201"/>
                <a:gd name="f408" fmla="*/ f309 1 f201"/>
                <a:gd name="f409" fmla="*/ f310 1 f201"/>
                <a:gd name="f410" fmla="*/ f311 1 f201"/>
                <a:gd name="f411" fmla="*/ f312 1 f201"/>
                <a:gd name="f412" fmla="*/ f313 1 f201"/>
                <a:gd name="f413" fmla="*/ f314 1 f201"/>
                <a:gd name="f414" fmla="*/ f315 1 f201"/>
                <a:gd name="f415" fmla="*/ f316 1 f201"/>
                <a:gd name="f416" fmla="*/ f317 1 f201"/>
                <a:gd name="f417" fmla="*/ f318 1 f201"/>
                <a:gd name="f418" fmla="*/ f319 1 f201"/>
                <a:gd name="f419" fmla="*/ f320 1 f201"/>
                <a:gd name="f420" fmla="*/ f321 1 f201"/>
                <a:gd name="f421" fmla="*/ f322 1 f201"/>
                <a:gd name="f422" fmla="*/ f323 1 f201"/>
                <a:gd name="f423" fmla="*/ f324 1 f201"/>
                <a:gd name="f424" fmla="*/ f325 1 f201"/>
                <a:gd name="f425" fmla="*/ f326 1 f201"/>
                <a:gd name="f426" fmla="*/ f327 1 f201"/>
                <a:gd name="f427" fmla="*/ f328 1 f201"/>
                <a:gd name="f428" fmla="*/ f329 1 f201"/>
                <a:gd name="f429" fmla="*/ f330 1 f201"/>
                <a:gd name="f430" fmla="*/ f331 1 f201"/>
                <a:gd name="f431" fmla="*/ f332 1 f201"/>
                <a:gd name="f432" fmla="*/ f333 1 f201"/>
                <a:gd name="f433" fmla="*/ f334 1 f201"/>
                <a:gd name="f434" fmla="*/ f335 1 f201"/>
                <a:gd name="f435" fmla="*/ f336 1 f201"/>
                <a:gd name="f436" fmla="*/ f337 1 f201"/>
                <a:gd name="f437" fmla="*/ f338 1 f201"/>
                <a:gd name="f438" fmla="*/ f339 1 f201"/>
                <a:gd name="f439" fmla="*/ f340 1 f201"/>
                <a:gd name="f440" fmla="*/ f341 1 f201"/>
                <a:gd name="f441" fmla="*/ f342 1 f201"/>
                <a:gd name="f442" fmla="*/ f343 1 f201"/>
                <a:gd name="f443" fmla="*/ f344 1 f201"/>
                <a:gd name="f444" fmla="*/ f345 1 f201"/>
                <a:gd name="f445" fmla="*/ f346 1 f201"/>
                <a:gd name="f446" fmla="*/ f347 1 f201"/>
                <a:gd name="f447" fmla="*/ f348 1 f201"/>
                <a:gd name="f448" fmla="*/ f349 1 f201"/>
                <a:gd name="f449" fmla="*/ f350 1 f201"/>
                <a:gd name="f450" fmla="*/ f351 1 f201"/>
                <a:gd name="f451" fmla="*/ f352 1 f201"/>
                <a:gd name="f452" fmla="*/ f353 1 f201"/>
                <a:gd name="f453" fmla="*/ f354 1 f201"/>
                <a:gd name="f454" fmla="*/ f355 1 f201"/>
                <a:gd name="f455" fmla="*/ f356 1 f201"/>
                <a:gd name="f456" fmla="*/ f357 1 f201"/>
                <a:gd name="f457" fmla="*/ f358 1 f201"/>
                <a:gd name="f458" fmla="*/ f359 1 f201"/>
                <a:gd name="f459" fmla="*/ f360 1 f201"/>
                <a:gd name="f460" fmla="*/ f361 1 f201"/>
                <a:gd name="f461" fmla="*/ f362 1 f201"/>
                <a:gd name="f462" fmla="*/ f363 1 f201"/>
                <a:gd name="f463" fmla="*/ f364 1 f201"/>
                <a:gd name="f464" fmla="*/ f365 1 f201"/>
                <a:gd name="f465" fmla="*/ f366 1 f201"/>
                <a:gd name="f466" fmla="*/ f367 1 f201"/>
                <a:gd name="f467" fmla="*/ f368 1 f201"/>
                <a:gd name="f468" fmla="*/ f369 1 f201"/>
                <a:gd name="f469" fmla="*/ f370 1 f201"/>
                <a:gd name="f470" fmla="*/ f371 1 f201"/>
                <a:gd name="f471" fmla="*/ f372 1 f201"/>
                <a:gd name="f472" fmla="*/ f373 1 f201"/>
                <a:gd name="f473" fmla="*/ f374 1 f201"/>
                <a:gd name="f474" fmla="*/ f375 1 f201"/>
                <a:gd name="f475" fmla="*/ f376 1 f201"/>
                <a:gd name="f476" fmla="*/ f377 1 f201"/>
                <a:gd name="f477" fmla="*/ f378 1 f201"/>
                <a:gd name="f478" fmla="*/ f379 1 f201"/>
                <a:gd name="f479" fmla="*/ f380 1 f201"/>
                <a:gd name="f480" fmla="*/ f381 1 f201"/>
                <a:gd name="f481" fmla="*/ f382 1 f201"/>
                <a:gd name="f482" fmla="*/ f383 1 f201"/>
                <a:gd name="f483" fmla="*/ f384 1 f201"/>
                <a:gd name="f484" fmla="*/ f385 1 f201"/>
                <a:gd name="f485" fmla="*/ f386 1 f201"/>
                <a:gd name="f486" fmla="*/ f387 1 f201"/>
                <a:gd name="f487" fmla="*/ f388 1 f201"/>
                <a:gd name="f488" fmla="*/ f389 1 f201"/>
                <a:gd name="f489" fmla="*/ f390 1 f201"/>
                <a:gd name="f490" fmla="*/ f391 1 f201"/>
                <a:gd name="f491" fmla="*/ f392 1 f201"/>
                <a:gd name="f492" fmla="*/ f393 1 f201"/>
                <a:gd name="f493" fmla="*/ f394 1 f201"/>
                <a:gd name="f494" fmla="*/ f395 f197 1"/>
                <a:gd name="f495" fmla="*/ f396 f197 1"/>
                <a:gd name="f496" fmla="*/ f396 f198 1"/>
                <a:gd name="f497" fmla="*/ f395 f198 1"/>
                <a:gd name="f498" fmla="*/ f398 f197 1"/>
                <a:gd name="f499" fmla="*/ f399 f198 1"/>
                <a:gd name="f500" fmla="*/ f400 f197 1"/>
                <a:gd name="f501" fmla="*/ f401 f198 1"/>
                <a:gd name="f502" fmla="*/ f402 f197 1"/>
                <a:gd name="f503" fmla="*/ f403 f198 1"/>
                <a:gd name="f504" fmla="*/ f404 f197 1"/>
                <a:gd name="f505" fmla="*/ f405 f198 1"/>
                <a:gd name="f506" fmla="*/ f406 f197 1"/>
                <a:gd name="f507" fmla="*/ f407 f198 1"/>
                <a:gd name="f508" fmla="*/ f408 f197 1"/>
                <a:gd name="f509" fmla="*/ f409 f198 1"/>
                <a:gd name="f510" fmla="*/ f410 f197 1"/>
                <a:gd name="f511" fmla="*/ f411 f198 1"/>
                <a:gd name="f512" fmla="*/ f412 f197 1"/>
                <a:gd name="f513" fmla="*/ f413 f198 1"/>
                <a:gd name="f514" fmla="*/ f414 f197 1"/>
                <a:gd name="f515" fmla="*/ f415 f198 1"/>
                <a:gd name="f516" fmla="*/ f416 f197 1"/>
                <a:gd name="f517" fmla="*/ f417 f198 1"/>
                <a:gd name="f518" fmla="*/ f418 f197 1"/>
                <a:gd name="f519" fmla="*/ f419 f198 1"/>
                <a:gd name="f520" fmla="*/ f420 f197 1"/>
                <a:gd name="f521" fmla="*/ f398 f198 1"/>
                <a:gd name="f522" fmla="*/ f421 f197 1"/>
                <a:gd name="f523" fmla="*/ f400 f198 1"/>
                <a:gd name="f524" fmla="*/ f422 f197 1"/>
                <a:gd name="f525" fmla="*/ f423 f198 1"/>
                <a:gd name="f526" fmla="*/ f424 f197 1"/>
                <a:gd name="f527" fmla="*/ f425 f198 1"/>
                <a:gd name="f528" fmla="*/ f426 f197 1"/>
                <a:gd name="f529" fmla="*/ f408 f198 1"/>
                <a:gd name="f530" fmla="*/ f427 f197 1"/>
                <a:gd name="f531" fmla="*/ f428 f198 1"/>
                <a:gd name="f532" fmla="*/ f429 f197 1"/>
                <a:gd name="f533" fmla="*/ f402 f198 1"/>
                <a:gd name="f534" fmla="*/ f430 f197 1"/>
                <a:gd name="f535" fmla="*/ f406 f198 1"/>
                <a:gd name="f536" fmla="*/ f431 f197 1"/>
                <a:gd name="f537" fmla="*/ f432 f198 1"/>
                <a:gd name="f538" fmla="*/ f433 f197 1"/>
                <a:gd name="f539" fmla="*/ f434 f198 1"/>
                <a:gd name="f540" fmla="*/ f435 f197 1"/>
                <a:gd name="f541" fmla="*/ f436 f198 1"/>
                <a:gd name="f542" fmla="*/ f437 f197 1"/>
                <a:gd name="f543" fmla="*/ f438 f198 1"/>
                <a:gd name="f544" fmla="*/ f439 f197 1"/>
                <a:gd name="f545" fmla="*/ f440 f198 1"/>
                <a:gd name="f546" fmla="*/ f441 f197 1"/>
                <a:gd name="f547" fmla="*/ f442 f198 1"/>
                <a:gd name="f548" fmla="*/ f443 f197 1"/>
                <a:gd name="f549" fmla="*/ f444 f198 1"/>
                <a:gd name="f550" fmla="*/ f445 f197 1"/>
                <a:gd name="f551" fmla="*/ f446 f198 1"/>
                <a:gd name="f552" fmla="*/ f447 f197 1"/>
                <a:gd name="f553" fmla="*/ f448 f198 1"/>
                <a:gd name="f554" fmla="*/ f449 f197 1"/>
                <a:gd name="f555" fmla="*/ f450 f198 1"/>
                <a:gd name="f556" fmla="*/ f451 f197 1"/>
                <a:gd name="f557" fmla="*/ f452 f198 1"/>
                <a:gd name="f558" fmla="*/ f453 f197 1"/>
                <a:gd name="f559" fmla="*/ f454 f198 1"/>
                <a:gd name="f560" fmla="*/ f455 f197 1"/>
                <a:gd name="f561" fmla="*/ f456 f198 1"/>
                <a:gd name="f562" fmla="*/ f457 f197 1"/>
                <a:gd name="f563" fmla="*/ f458 f198 1"/>
                <a:gd name="f564" fmla="*/ f459 f197 1"/>
                <a:gd name="f565" fmla="*/ f460 f198 1"/>
                <a:gd name="f566" fmla="*/ f461 f197 1"/>
                <a:gd name="f567" fmla="*/ f447 f198 1"/>
                <a:gd name="f568" fmla="*/ f462 f197 1"/>
                <a:gd name="f569" fmla="*/ f437 f198 1"/>
                <a:gd name="f570" fmla="*/ f463 f197 1"/>
                <a:gd name="f571" fmla="*/ f464 f198 1"/>
                <a:gd name="f572" fmla="*/ f465 f197 1"/>
                <a:gd name="f573" fmla="*/ f457 f198 1"/>
                <a:gd name="f574" fmla="*/ f466 f198 1"/>
                <a:gd name="f575" fmla="*/ f467 f197 1"/>
                <a:gd name="f576" fmla="*/ f468 f198 1"/>
                <a:gd name="f577" fmla="*/ f469 f197 1"/>
                <a:gd name="f578" fmla="*/ f449 f198 1"/>
                <a:gd name="f579" fmla="*/ f470 f197 1"/>
                <a:gd name="f580" fmla="*/ f443 f198 1"/>
                <a:gd name="f581" fmla="*/ f471 f197 1"/>
                <a:gd name="f582" fmla="*/ f472 f197 1"/>
                <a:gd name="f583" fmla="*/ f459 f198 1"/>
                <a:gd name="f584" fmla="*/ f473 f197 1"/>
                <a:gd name="f585" fmla="*/ f474 f198 1"/>
                <a:gd name="f586" fmla="*/ f475 f197 1"/>
                <a:gd name="f587" fmla="*/ f476 f198 1"/>
                <a:gd name="f588" fmla="*/ f477 f197 1"/>
                <a:gd name="f589" fmla="*/ f478 f198 1"/>
                <a:gd name="f590" fmla="*/ f440 f197 1"/>
                <a:gd name="f591" fmla="*/ f479 f198 1"/>
                <a:gd name="f592" fmla="*/ f480 f197 1"/>
                <a:gd name="f593" fmla="*/ f481 f198 1"/>
                <a:gd name="f594" fmla="*/ f425 f197 1"/>
                <a:gd name="f595" fmla="*/ f482 f198 1"/>
                <a:gd name="f596" fmla="*/ f483 f197 1"/>
                <a:gd name="f597" fmla="*/ f484 f198 1"/>
                <a:gd name="f598" fmla="*/ f485 f197 1"/>
                <a:gd name="f599" fmla="*/ f486 f198 1"/>
                <a:gd name="f600" fmla="*/ f487 f197 1"/>
                <a:gd name="f601" fmla="*/ f488 f198 1"/>
                <a:gd name="f602" fmla="*/ f489 f197 1"/>
                <a:gd name="f603" fmla="*/ f490 f198 1"/>
                <a:gd name="f604" fmla="*/ f491 f197 1"/>
                <a:gd name="f605" fmla="*/ f424 f198 1"/>
                <a:gd name="f606" fmla="*/ f492 f197 1"/>
                <a:gd name="f607" fmla="*/ f493 f198 1"/>
                <a:gd name="f608" fmla="*/ f423 f19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7">
                  <a:pos x="f498" y="f499"/>
                </a:cxn>
                <a:cxn ang="f397">
                  <a:pos x="f500" y="f501"/>
                </a:cxn>
                <a:cxn ang="f397">
                  <a:pos x="f502" y="f503"/>
                </a:cxn>
                <a:cxn ang="f397">
                  <a:pos x="f504" y="f505"/>
                </a:cxn>
                <a:cxn ang="f397">
                  <a:pos x="f506" y="f507"/>
                </a:cxn>
                <a:cxn ang="f397">
                  <a:pos x="f508" y="f509"/>
                </a:cxn>
                <a:cxn ang="f397">
                  <a:pos x="f510" y="f511"/>
                </a:cxn>
                <a:cxn ang="f397">
                  <a:pos x="f512" y="f513"/>
                </a:cxn>
                <a:cxn ang="f397">
                  <a:pos x="f514" y="f515"/>
                </a:cxn>
                <a:cxn ang="f397">
                  <a:pos x="f516" y="f517"/>
                </a:cxn>
                <a:cxn ang="f397">
                  <a:pos x="f518" y="f519"/>
                </a:cxn>
                <a:cxn ang="f397">
                  <a:pos x="f520" y="f521"/>
                </a:cxn>
                <a:cxn ang="f397">
                  <a:pos x="f522" y="f523"/>
                </a:cxn>
                <a:cxn ang="f397">
                  <a:pos x="f524" y="f525"/>
                </a:cxn>
                <a:cxn ang="f397">
                  <a:pos x="f526" y="f527"/>
                </a:cxn>
                <a:cxn ang="f397">
                  <a:pos x="f528" y="f529"/>
                </a:cxn>
                <a:cxn ang="f397">
                  <a:pos x="f530" y="f531"/>
                </a:cxn>
                <a:cxn ang="f397">
                  <a:pos x="f532" y="f533"/>
                </a:cxn>
                <a:cxn ang="f397">
                  <a:pos x="f534" y="f535"/>
                </a:cxn>
                <a:cxn ang="f397">
                  <a:pos x="f536" y="f537"/>
                </a:cxn>
                <a:cxn ang="f397">
                  <a:pos x="f538" y="f539"/>
                </a:cxn>
                <a:cxn ang="f397">
                  <a:pos x="f540" y="f541"/>
                </a:cxn>
                <a:cxn ang="f397">
                  <a:pos x="f542" y="f543"/>
                </a:cxn>
                <a:cxn ang="f397">
                  <a:pos x="f544" y="f545"/>
                </a:cxn>
                <a:cxn ang="f397">
                  <a:pos x="f546" y="f547"/>
                </a:cxn>
                <a:cxn ang="f397">
                  <a:pos x="f548" y="f549"/>
                </a:cxn>
                <a:cxn ang="f397">
                  <a:pos x="f550" y="f551"/>
                </a:cxn>
                <a:cxn ang="f397">
                  <a:pos x="f552" y="f553"/>
                </a:cxn>
                <a:cxn ang="f397">
                  <a:pos x="f554" y="f555"/>
                </a:cxn>
                <a:cxn ang="f397">
                  <a:pos x="f556" y="f557"/>
                </a:cxn>
                <a:cxn ang="f397">
                  <a:pos x="f558" y="f559"/>
                </a:cxn>
                <a:cxn ang="f397">
                  <a:pos x="f560" y="f561"/>
                </a:cxn>
                <a:cxn ang="f397">
                  <a:pos x="f562" y="f563"/>
                </a:cxn>
                <a:cxn ang="f397">
                  <a:pos x="f564" y="f565"/>
                </a:cxn>
                <a:cxn ang="f397">
                  <a:pos x="f566" y="f567"/>
                </a:cxn>
                <a:cxn ang="f397">
                  <a:pos x="f568" y="f569"/>
                </a:cxn>
                <a:cxn ang="f397">
                  <a:pos x="f570" y="f571"/>
                </a:cxn>
                <a:cxn ang="f397">
                  <a:pos x="f572" y="f573"/>
                </a:cxn>
                <a:cxn ang="f397">
                  <a:pos x="f528" y="f574"/>
                </a:cxn>
                <a:cxn ang="f397">
                  <a:pos x="f575" y="f576"/>
                </a:cxn>
                <a:cxn ang="f397">
                  <a:pos x="f577" y="f578"/>
                </a:cxn>
                <a:cxn ang="f397">
                  <a:pos x="f579" y="f580"/>
                </a:cxn>
                <a:cxn ang="f397">
                  <a:pos x="f581" y="f569"/>
                </a:cxn>
                <a:cxn ang="f397">
                  <a:pos x="f582" y="f583"/>
                </a:cxn>
                <a:cxn ang="f397">
                  <a:pos x="f584" y="f585"/>
                </a:cxn>
                <a:cxn ang="f397">
                  <a:pos x="f586" y="f587"/>
                </a:cxn>
                <a:cxn ang="f397">
                  <a:pos x="f588" y="f589"/>
                </a:cxn>
                <a:cxn ang="f397">
                  <a:pos x="f590" y="f591"/>
                </a:cxn>
                <a:cxn ang="f397">
                  <a:pos x="f592" y="f563"/>
                </a:cxn>
                <a:cxn ang="f397">
                  <a:pos x="f504" y="f593"/>
                </a:cxn>
                <a:cxn ang="f397">
                  <a:pos x="f594" y="f595"/>
                </a:cxn>
                <a:cxn ang="f397">
                  <a:pos x="f596" y="f597"/>
                </a:cxn>
                <a:cxn ang="f397">
                  <a:pos x="f598" y="f599"/>
                </a:cxn>
                <a:cxn ang="f397">
                  <a:pos x="f600" y="f601"/>
                </a:cxn>
                <a:cxn ang="f397">
                  <a:pos x="f602" y="f603"/>
                </a:cxn>
                <a:cxn ang="f397">
                  <a:pos x="f604" y="f605"/>
                </a:cxn>
                <a:cxn ang="f397">
                  <a:pos x="f606" y="f607"/>
                </a:cxn>
                <a:cxn ang="f397">
                  <a:pos x="f608" y="f553"/>
                </a:cxn>
                <a:cxn ang="f397">
                  <a:pos x="f498" y="f499"/>
                </a:cxn>
              </a:cxnLst>
              <a:rect l="f494" t="f497" r="f495" b="f496"/>
              <a:pathLst>
                <a:path w="252" h="252">
                  <a:moveTo>
                    <a:pt x="f6" y="f7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19"/>
                    <a:pt x="f23" y="f24"/>
                  </a:cubicBezTo>
                  <a:cubicBezTo>
                    <a:pt x="f25" y="f26"/>
                    <a:pt x="f27" y="f28"/>
                    <a:pt x="f22" y="f29"/>
                  </a:cubicBezTo>
                  <a:cubicBezTo>
                    <a:pt x="f20" y="f30"/>
                    <a:pt x="f31" y="f32"/>
                    <a:pt x="f33" y="f34"/>
                  </a:cubicBezTo>
                  <a:cubicBezTo>
                    <a:pt x="f35" y="f36"/>
                    <a:pt x="f34" y="f18"/>
                    <a:pt x="f37" y="f38"/>
                  </a:cubicBezTo>
                  <a:cubicBezTo>
                    <a:pt x="f39" y="f40"/>
                    <a:pt x="f41" y="f42"/>
                    <a:pt x="f26" y="f43"/>
                  </a:cubicBezTo>
                  <a:cubicBezTo>
                    <a:pt x="f44" y="f45"/>
                    <a:pt x="f46" y="f47"/>
                    <a:pt x="f48" y="f45"/>
                  </a:cubicBezTo>
                  <a:cubicBezTo>
                    <a:pt x="f49" y="f35"/>
                    <a:pt x="f50" y="f51"/>
                    <a:pt x="f11" y="f40"/>
                  </a:cubicBezTo>
                  <a:cubicBezTo>
                    <a:pt x="f11" y="f38"/>
                    <a:pt x="f49" y="f52"/>
                    <a:pt x="f53" y="f54"/>
                  </a:cubicBezTo>
                  <a:cubicBezTo>
                    <a:pt x="f55" y="f8"/>
                    <a:pt x="f56" y="f57"/>
                    <a:pt x="f58" y="f6"/>
                  </a:cubicBezTo>
                  <a:cubicBezTo>
                    <a:pt x="f58" y="f8"/>
                    <a:pt x="f59" y="f10"/>
                    <a:pt x="f59" y="f12"/>
                  </a:cubicBezTo>
                  <a:cubicBezTo>
                    <a:pt x="f60" y="f61"/>
                    <a:pt x="f60" y="f62"/>
                    <a:pt x="f63" y="f16"/>
                  </a:cubicBezTo>
                  <a:cubicBezTo>
                    <a:pt x="f63" y="f33"/>
                    <a:pt x="f64" y="f65"/>
                    <a:pt x="f66" y="f31"/>
                  </a:cubicBezTo>
                  <a:cubicBezTo>
                    <a:pt x="f67" y="f68"/>
                    <a:pt x="f69" y="f65"/>
                    <a:pt x="f70" y="f33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16"/>
                    <a:pt x="f80" y="f18"/>
                  </a:cubicBezTo>
                  <a:cubicBezTo>
                    <a:pt x="f81" y="f51"/>
                    <a:pt x="f82" y="f35"/>
                    <a:pt x="f83" y="f22"/>
                  </a:cubicBezTo>
                  <a:cubicBezTo>
                    <a:pt x="f84" y="f23"/>
                    <a:pt x="f85" y="f25"/>
                    <a:pt x="f86" y="f87"/>
                  </a:cubicBezTo>
                  <a:cubicBezTo>
                    <a:pt x="f79" y="f32"/>
                    <a:pt x="f79" y="f30"/>
                    <a:pt x="f85" y="f88"/>
                  </a:cubicBezTo>
                  <a:cubicBezTo>
                    <a:pt x="f89" y="f90"/>
                    <a:pt x="f81" y="f91"/>
                    <a:pt x="f92" y="f93"/>
                  </a:cubicBezTo>
                  <a:cubicBezTo>
                    <a:pt x="f94" y="f39"/>
                    <a:pt x="f95" y="f88"/>
                    <a:pt x="f96" y="f97"/>
                  </a:cubicBezTo>
                  <a:cubicBezTo>
                    <a:pt x="f98" y="f37"/>
                    <a:pt x="f99" y="f30"/>
                    <a:pt x="f100" y="f101"/>
                  </a:cubicBezTo>
                  <a:cubicBezTo>
                    <a:pt x="f102" y="f28"/>
                    <a:pt x="f103" y="f17"/>
                    <a:pt x="f104" y="f105"/>
                  </a:cubicBezTo>
                  <a:cubicBezTo>
                    <a:pt x="f103" y="f106"/>
                    <a:pt x="f102" y="f107"/>
                    <a:pt x="f108" y="f109"/>
                  </a:cubicBezTo>
                  <a:cubicBezTo>
                    <a:pt x="f110" y="f9"/>
                    <a:pt x="f96" y="f111"/>
                    <a:pt x="f112" y="f113"/>
                  </a:cubicBezTo>
                  <a:cubicBezTo>
                    <a:pt x="f110" y="f114"/>
                    <a:pt x="f99" y="f115"/>
                    <a:pt x="f116" y="f117"/>
                  </a:cubicBezTo>
                  <a:cubicBezTo>
                    <a:pt x="f118" y="f119"/>
                    <a:pt x="f120" y="f121"/>
                    <a:pt x="f5" y="f122"/>
                  </a:cubicBezTo>
                  <a:cubicBezTo>
                    <a:pt x="f123" y="f124"/>
                    <a:pt x="f125" y="f70"/>
                    <a:pt x="f126" y="f127"/>
                  </a:cubicBezTo>
                  <a:cubicBezTo>
                    <a:pt x="f102" y="f128"/>
                    <a:pt x="f100" y="f129"/>
                    <a:pt x="f99" y="f130"/>
                  </a:cubicBezTo>
                  <a:cubicBezTo>
                    <a:pt x="f95" y="f131"/>
                    <a:pt x="f132" y="f75"/>
                    <a:pt x="f133" y="f134"/>
                  </a:cubicBezTo>
                  <a:cubicBezTo>
                    <a:pt x="f135" y="f136"/>
                    <a:pt x="f92" y="f137"/>
                    <a:pt x="f94" y="f138"/>
                  </a:cubicBezTo>
                  <a:cubicBezTo>
                    <a:pt x="f139" y="f140"/>
                    <a:pt x="f96" y="f84"/>
                    <a:pt x="f141" y="f81"/>
                  </a:cubicBezTo>
                  <a:cubicBezTo>
                    <a:pt x="f142" y="f143"/>
                    <a:pt x="f81" y="f98"/>
                    <a:pt x="f79" y="f116"/>
                  </a:cubicBezTo>
                  <a:cubicBezTo>
                    <a:pt x="f144" y="f145"/>
                    <a:pt x="f146" y="f147"/>
                    <a:pt x="f77" y="f96"/>
                  </a:cubicBezTo>
                  <a:cubicBezTo>
                    <a:pt x="f148" y="f149"/>
                    <a:pt x="f150" y="f95"/>
                    <a:pt x="f151" y="f143"/>
                  </a:cubicBezTo>
                  <a:cubicBezTo>
                    <a:pt x="f152" y="f153"/>
                    <a:pt x="f75" y="f153"/>
                    <a:pt x="f154" y="f94"/>
                  </a:cubicBezTo>
                  <a:cubicBezTo>
                    <a:pt x="f155" y="f142"/>
                    <a:pt x="f70" y="f156"/>
                    <a:pt x="f70" y="f98"/>
                  </a:cubicBezTo>
                  <a:cubicBezTo>
                    <a:pt x="f157" y="f100"/>
                    <a:pt x="f157" y="f158"/>
                    <a:pt x="f155" y="f159"/>
                  </a:cubicBezTo>
                  <a:cubicBezTo>
                    <a:pt x="f66" y="f123"/>
                    <a:pt x="f160" y="f161"/>
                    <a:pt x="f162" y="f5"/>
                  </a:cubicBezTo>
                  <a:cubicBezTo>
                    <a:pt x="f113" y="f120"/>
                    <a:pt x="f113" y="f163"/>
                    <a:pt x="f164" y="f108"/>
                  </a:cubicBezTo>
                  <a:cubicBezTo>
                    <a:pt x="f165" y="f141"/>
                    <a:pt x="f166" y="f112"/>
                    <a:pt x="f9" y="f96"/>
                  </a:cubicBezTo>
                  <a:cubicBezTo>
                    <a:pt x="f167" y="f149"/>
                    <a:pt x="f168" y="f96"/>
                    <a:pt x="f50" y="f141"/>
                  </a:cubicBezTo>
                  <a:cubicBezTo>
                    <a:pt x="f169" y="f100"/>
                    <a:pt x="f48" y="f163"/>
                    <a:pt x="f21" y="f103"/>
                  </a:cubicBezTo>
                  <a:cubicBezTo>
                    <a:pt x="f170" y="f171"/>
                    <a:pt x="f101" y="f108"/>
                    <a:pt x="f25" y="f110"/>
                  </a:cubicBezTo>
                  <a:cubicBezTo>
                    <a:pt x="f172" y="f156"/>
                    <a:pt x="f87" y="f142"/>
                    <a:pt x="f173" y="f153"/>
                  </a:cubicBezTo>
                  <a:cubicBezTo>
                    <a:pt x="f174" y="f92"/>
                    <a:pt x="f32" y="f80"/>
                    <a:pt x="f101" y="f175"/>
                  </a:cubicBezTo>
                  <a:cubicBezTo>
                    <a:pt x="f37" y="f176"/>
                    <a:pt x="f30" y="f140"/>
                    <a:pt x="f177" y="f138"/>
                  </a:cubicBezTo>
                  <a:cubicBezTo>
                    <a:pt x="f178" y="f137"/>
                    <a:pt x="f172" y="f146"/>
                    <a:pt x="f23" y="f179"/>
                  </a:cubicBezTo>
                  <a:cubicBezTo>
                    <a:pt x="f45" y="f180"/>
                    <a:pt x="f43" y="f138"/>
                    <a:pt x="f31" y="f181"/>
                  </a:cubicBezTo>
                  <a:cubicBezTo>
                    <a:pt x="f18" y="f79"/>
                    <a:pt x="f40" y="f140"/>
                    <a:pt x="f72" y="f182"/>
                  </a:cubicBezTo>
                  <a:cubicBezTo>
                    <a:pt x="f62" y="f144"/>
                    <a:pt x="f74" y="f183"/>
                    <a:pt x="f52" y="f184"/>
                  </a:cubicBezTo>
                  <a:cubicBezTo>
                    <a:pt x="f12" y="f129"/>
                    <a:pt x="f185" y="f154"/>
                    <a:pt x="f8" y="f186"/>
                  </a:cubicBezTo>
                  <a:cubicBezTo>
                    <a:pt x="f12" y="f187"/>
                    <a:pt x="f78" y="f188"/>
                    <a:pt x="f189" y="f190"/>
                  </a:cubicBezTo>
                  <a:cubicBezTo>
                    <a:pt x="f16" y="f191"/>
                    <a:pt x="f192" y="f193"/>
                    <a:pt x="f194" y="f66"/>
                  </a:cubicBezTo>
                  <a:cubicBezTo>
                    <a:pt x="f42" y="f195"/>
                    <a:pt x="f65" y="f64"/>
                    <a:pt x="f65" y="f60"/>
                  </a:cubicBezTo>
                  <a:cubicBezTo>
                    <a:pt x="f42" y="f122"/>
                    <a:pt x="f33" y="f119"/>
                    <a:pt x="f16" y="f117"/>
                  </a:cubicBezTo>
                  <a:cubicBezTo>
                    <a:pt x="f74" y="f115"/>
                    <a:pt x="f76" y="f114"/>
                    <a:pt x="f6" y="f7"/>
                  </a:cubicBezTo>
                  <a:close/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1" name="Freeform 233">
              <a:extLst>
                <a:ext uri="{FF2B5EF4-FFF2-40B4-BE49-F238E27FC236}">
                  <a16:creationId xmlns:a16="http://schemas.microsoft.com/office/drawing/2014/main" id="{DE1F8412-339C-CC07-F102-407F9EEC52D3}"/>
                </a:ext>
              </a:extLst>
            </p:cNvPr>
            <p:cNvSpPr/>
            <p:nvPr/>
          </p:nvSpPr>
          <p:spPr>
            <a:xfrm>
              <a:off x="10881158" y="2657831"/>
              <a:ext cx="96496" cy="96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95"/>
                <a:gd name="f8" fmla="val 16"/>
                <a:gd name="f9" fmla="val 123"/>
                <a:gd name="f10" fmla="val 32"/>
                <a:gd name="f11" fmla="val 68"/>
                <a:gd name="f12" fmla="val 117"/>
                <a:gd name="f13" fmla="val 101"/>
                <a:gd name="f14" fmla="val 64"/>
                <a:gd name="f15" fmla="val 37"/>
                <a:gd name="f16" fmla="val 9"/>
                <a:gd name="f17" fmla="val 100"/>
                <a:gd name="f18" fmla="val 65"/>
                <a:gd name="f19" fmla="val 67"/>
                <a:gd name="f20" fmla="+- 0 0 -90"/>
                <a:gd name="f21" fmla="*/ f3 1 133"/>
                <a:gd name="f22" fmla="*/ f4 1 133"/>
                <a:gd name="f23" fmla="+- f6 0 f5"/>
                <a:gd name="f24" fmla="*/ f20 f0 1"/>
                <a:gd name="f25" fmla="*/ f23 1 133"/>
                <a:gd name="f26" fmla="*/ 95 f23 1"/>
                <a:gd name="f27" fmla="*/ 16 f23 1"/>
                <a:gd name="f28" fmla="*/ 117 f23 1"/>
                <a:gd name="f29" fmla="*/ 37 f23 1"/>
                <a:gd name="f30" fmla="*/ f24 1 f2"/>
                <a:gd name="f31" fmla="*/ f26 1 133"/>
                <a:gd name="f32" fmla="*/ f27 1 133"/>
                <a:gd name="f33" fmla="*/ f28 1 133"/>
                <a:gd name="f34" fmla="*/ f29 1 133"/>
                <a:gd name="f35" fmla="*/ 0 1 f25"/>
                <a:gd name="f36" fmla="*/ f6 1 f25"/>
                <a:gd name="f37" fmla="+- f30 0 f1"/>
                <a:gd name="f38" fmla="*/ f31 1 f25"/>
                <a:gd name="f39" fmla="*/ f32 1 f25"/>
                <a:gd name="f40" fmla="*/ f33 1 f25"/>
                <a:gd name="f41" fmla="*/ f34 1 f25"/>
                <a:gd name="f42" fmla="*/ f35 f21 1"/>
                <a:gd name="f43" fmla="*/ f36 f21 1"/>
                <a:gd name="f44" fmla="*/ f36 f22 1"/>
                <a:gd name="f45" fmla="*/ f35 f22 1"/>
                <a:gd name="f46" fmla="*/ f38 f21 1"/>
                <a:gd name="f47" fmla="*/ f39 f22 1"/>
                <a:gd name="f48" fmla="*/ f40 f21 1"/>
                <a:gd name="f49" fmla="*/ f38 f22 1"/>
                <a:gd name="f50" fmla="*/ f41 f21 1"/>
                <a:gd name="f51" fmla="*/ f40 f22 1"/>
                <a:gd name="f52" fmla="*/ f39 f21 1"/>
                <a:gd name="f53" fmla="*/ f41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6" y="f47"/>
                </a:cxn>
                <a:cxn ang="f37">
                  <a:pos x="f48" y="f49"/>
                </a:cxn>
                <a:cxn ang="f37">
                  <a:pos x="f50" y="f51"/>
                </a:cxn>
                <a:cxn ang="f37">
                  <a:pos x="f52" y="f53"/>
                </a:cxn>
                <a:cxn ang="f37">
                  <a:pos x="f46" y="f47"/>
                </a:cxn>
              </a:cxnLst>
              <a:rect l="f42" t="f45" r="f43" b="f44"/>
              <a:pathLst>
                <a:path w="133" h="133">
                  <a:moveTo>
                    <a:pt x="f7" y="f8"/>
                  </a:moveTo>
                  <a:cubicBezTo>
                    <a:pt x="f9" y="f10"/>
                    <a:pt x="f6" y="f11"/>
                    <a:pt x="f12" y="f7"/>
                  </a:cubicBezTo>
                  <a:cubicBezTo>
                    <a:pt x="f13" y="f9"/>
                    <a:pt x="f14" y="f6"/>
                    <a:pt x="f15" y="f12"/>
                  </a:cubicBezTo>
                  <a:cubicBezTo>
                    <a:pt x="f16" y="f17"/>
                    <a:pt x="f5" y="f18"/>
                    <a:pt x="f8" y="f15"/>
                  </a:cubicBezTo>
                  <a:cubicBezTo>
                    <a:pt x="f10" y="f16"/>
                    <a:pt x="f19" y="f5"/>
                    <a:pt x="f7" y="f8"/>
                  </a:cubicBezTo>
                  <a:close/>
                </a:path>
              </a:pathLst>
            </a:custGeom>
            <a:noFill/>
            <a:ln w="12701" cap="flat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2" name="Freeform 234">
              <a:extLst>
                <a:ext uri="{FF2B5EF4-FFF2-40B4-BE49-F238E27FC236}">
                  <a16:creationId xmlns:a16="http://schemas.microsoft.com/office/drawing/2014/main" id="{4E336184-13AE-9CA6-50E6-4562EF5A299E}"/>
                </a:ext>
              </a:extLst>
            </p:cNvPr>
            <p:cNvSpPr/>
            <p:nvPr/>
          </p:nvSpPr>
          <p:spPr>
            <a:xfrm>
              <a:off x="10766109" y="2542781"/>
              <a:ext cx="324127" cy="3191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6"/>
                <a:gd name="f7" fmla="val 439"/>
                <a:gd name="f8" fmla="val 299"/>
                <a:gd name="f9" fmla="val 412"/>
                <a:gd name="f10" fmla="val 393"/>
                <a:gd name="f11" fmla="val 375"/>
                <a:gd name="f12" fmla="val 272"/>
                <a:gd name="f13" fmla="val 420"/>
                <a:gd name="f14" fmla="val 172"/>
                <a:gd name="f15" fmla="val 391"/>
                <a:gd name="f16" fmla="val 64"/>
                <a:gd name="f17" fmla="val 280"/>
                <a:gd name="f18" fmla="val 29"/>
                <a:gd name="f19" fmla="val 58"/>
                <a:gd name="f20" fmla="val 169"/>
                <a:gd name="f21" fmla="val 277"/>
                <a:gd name="f22" fmla="val 56"/>
                <a:gd name="f23" fmla="val 377"/>
                <a:gd name="f24" fmla="val 153"/>
                <a:gd name="f25" fmla="val 253"/>
                <a:gd name="f26" fmla="val 424"/>
                <a:gd name="f27" fmla="+- 0 0 -90"/>
                <a:gd name="f28" fmla="*/ f3 1 446"/>
                <a:gd name="f29" fmla="*/ f4 1 439"/>
                <a:gd name="f30" fmla="+- f7 0 f5"/>
                <a:gd name="f31" fmla="+- f6 0 f5"/>
                <a:gd name="f32" fmla="*/ f27 f0 1"/>
                <a:gd name="f33" fmla="*/ f31 1 446"/>
                <a:gd name="f34" fmla="*/ f30 1 439"/>
                <a:gd name="f35" fmla="*/ 299 f31 1"/>
                <a:gd name="f36" fmla="*/ 412 f30 1"/>
                <a:gd name="f37" fmla="*/ 420 f31 1"/>
                <a:gd name="f38" fmla="*/ 172 f30 1"/>
                <a:gd name="f39" fmla="*/ 172 f31 1"/>
                <a:gd name="f40" fmla="*/ 29 f30 1"/>
                <a:gd name="f41" fmla="*/ 29 f31 1"/>
                <a:gd name="f42" fmla="*/ 277 f30 1"/>
                <a:gd name="f43" fmla="*/ 253 f31 1"/>
                <a:gd name="f44" fmla="*/ 424 f30 1"/>
                <a:gd name="f45" fmla="*/ f32 1 f2"/>
                <a:gd name="f46" fmla="*/ f35 1 446"/>
                <a:gd name="f47" fmla="*/ f36 1 439"/>
                <a:gd name="f48" fmla="*/ f37 1 446"/>
                <a:gd name="f49" fmla="*/ f38 1 439"/>
                <a:gd name="f50" fmla="*/ f39 1 446"/>
                <a:gd name="f51" fmla="*/ f40 1 439"/>
                <a:gd name="f52" fmla="*/ f41 1 446"/>
                <a:gd name="f53" fmla="*/ f42 1 439"/>
                <a:gd name="f54" fmla="*/ f43 1 446"/>
                <a:gd name="f55" fmla="*/ f44 1 439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446" h="439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3" name="Line 235">
              <a:extLst>
                <a:ext uri="{FF2B5EF4-FFF2-40B4-BE49-F238E27FC236}">
                  <a16:creationId xmlns:a16="http://schemas.microsoft.com/office/drawing/2014/main" id="{7AA367DC-2CEB-5A18-E5D0-2FBF4982605B}"/>
                </a:ext>
              </a:extLst>
            </p:cNvPr>
            <p:cNvSpPr/>
            <p:nvPr/>
          </p:nvSpPr>
          <p:spPr>
            <a:xfrm>
              <a:off x="10972708" y="2845877"/>
              <a:ext cx="13606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4" name="Freeform 236">
              <a:extLst>
                <a:ext uri="{FF2B5EF4-FFF2-40B4-BE49-F238E27FC236}">
                  <a16:creationId xmlns:a16="http://schemas.microsoft.com/office/drawing/2014/main" id="{FFAC1C2D-41CD-2F28-90BD-8D5990E33ED2}"/>
                </a:ext>
              </a:extLst>
            </p:cNvPr>
            <p:cNvSpPr/>
            <p:nvPr/>
          </p:nvSpPr>
          <p:spPr>
            <a:xfrm>
              <a:off x="10784671" y="2561334"/>
              <a:ext cx="288246" cy="2832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7"/>
                <a:gd name="f7" fmla="val 390"/>
                <a:gd name="f8" fmla="val 266"/>
                <a:gd name="f9" fmla="val 366"/>
                <a:gd name="f10" fmla="val 349"/>
                <a:gd name="f11" fmla="val 333"/>
                <a:gd name="f12" fmla="val 242"/>
                <a:gd name="f13" fmla="val 373"/>
                <a:gd name="f14" fmla="val 153"/>
                <a:gd name="f15" fmla="val 347"/>
                <a:gd name="f16" fmla="val 57"/>
                <a:gd name="f17" fmla="val 249"/>
                <a:gd name="f18" fmla="val 26"/>
                <a:gd name="f19" fmla="val 51"/>
                <a:gd name="f20" fmla="val 150"/>
                <a:gd name="f21" fmla="val 246"/>
                <a:gd name="f22" fmla="val 50"/>
                <a:gd name="f23" fmla="val 335"/>
                <a:gd name="f24" fmla="val 136"/>
                <a:gd name="f25" fmla="val 225"/>
                <a:gd name="f26" fmla="val 377"/>
                <a:gd name="f27" fmla="+- 0 0 -90"/>
                <a:gd name="f28" fmla="*/ f3 1 397"/>
                <a:gd name="f29" fmla="*/ f4 1 390"/>
                <a:gd name="f30" fmla="+- f7 0 f5"/>
                <a:gd name="f31" fmla="+- f6 0 f5"/>
                <a:gd name="f32" fmla="*/ f27 f0 1"/>
                <a:gd name="f33" fmla="*/ f31 1 397"/>
                <a:gd name="f34" fmla="*/ f30 1 390"/>
                <a:gd name="f35" fmla="*/ 266 f31 1"/>
                <a:gd name="f36" fmla="*/ 366 f30 1"/>
                <a:gd name="f37" fmla="*/ 373 f31 1"/>
                <a:gd name="f38" fmla="*/ 153 f30 1"/>
                <a:gd name="f39" fmla="*/ 153 f31 1"/>
                <a:gd name="f40" fmla="*/ 26 f30 1"/>
                <a:gd name="f41" fmla="*/ 26 f31 1"/>
                <a:gd name="f42" fmla="*/ 246 f30 1"/>
                <a:gd name="f43" fmla="*/ 225 f31 1"/>
                <a:gd name="f44" fmla="*/ 377 f30 1"/>
                <a:gd name="f45" fmla="*/ f32 1 f2"/>
                <a:gd name="f46" fmla="*/ f35 1 397"/>
                <a:gd name="f47" fmla="*/ f36 1 390"/>
                <a:gd name="f48" fmla="*/ f37 1 397"/>
                <a:gd name="f49" fmla="*/ f38 1 390"/>
                <a:gd name="f50" fmla="*/ f39 1 397"/>
                <a:gd name="f51" fmla="*/ f40 1 390"/>
                <a:gd name="f52" fmla="*/ f41 1 397"/>
                <a:gd name="f53" fmla="*/ f42 1 390"/>
                <a:gd name="f54" fmla="*/ f43 1 397"/>
                <a:gd name="f55" fmla="*/ f44 1 390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397" h="390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5" name="Line 237">
              <a:extLst>
                <a:ext uri="{FF2B5EF4-FFF2-40B4-BE49-F238E27FC236}">
                  <a16:creationId xmlns:a16="http://schemas.microsoft.com/office/drawing/2014/main" id="{4227E0F5-A5B6-76F8-BE96-577CF5B49D7A}"/>
                </a:ext>
              </a:extLst>
            </p:cNvPr>
            <p:cNvSpPr/>
            <p:nvPr/>
          </p:nvSpPr>
          <p:spPr>
            <a:xfrm>
              <a:off x="10961571" y="2849581"/>
              <a:ext cx="12371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6" name="Freeform 238">
              <a:extLst>
                <a:ext uri="{FF2B5EF4-FFF2-40B4-BE49-F238E27FC236}">
                  <a16:creationId xmlns:a16="http://schemas.microsoft.com/office/drawing/2014/main" id="{114F234A-AC16-8301-228D-0A86BDDF24DD}"/>
                </a:ext>
              </a:extLst>
            </p:cNvPr>
            <p:cNvSpPr/>
            <p:nvPr/>
          </p:nvSpPr>
          <p:spPr>
            <a:xfrm>
              <a:off x="10946730" y="2887940"/>
              <a:ext cx="106390" cy="1756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7"/>
                <a:gd name="f7" fmla="val 241"/>
                <a:gd name="f8" fmla="val 43"/>
                <a:gd name="f9" fmla="val 188"/>
                <a:gd name="f10" fmla="val 52"/>
                <a:gd name="f11" fmla="val 220"/>
                <a:gd name="f12" fmla="val 80"/>
                <a:gd name="f13" fmla="val 107"/>
                <a:gd name="f14" fmla="val 234"/>
                <a:gd name="f15" fmla="val 133"/>
                <a:gd name="f16" fmla="val 227"/>
                <a:gd name="f17" fmla="val 195"/>
                <a:gd name="f18" fmla="val 138"/>
                <a:gd name="f19" fmla="val 162"/>
                <a:gd name="f20" fmla="val 95"/>
                <a:gd name="f21" fmla="val 25"/>
                <a:gd name="f22" fmla="+- 0 0 -90"/>
                <a:gd name="f23" fmla="*/ f3 1 147"/>
                <a:gd name="f24" fmla="*/ f4 1 241"/>
                <a:gd name="f25" fmla="+- f7 0 f5"/>
                <a:gd name="f26" fmla="+- f6 0 f5"/>
                <a:gd name="f27" fmla="*/ f22 f0 1"/>
                <a:gd name="f28" fmla="*/ f26 1 147"/>
                <a:gd name="f29" fmla="*/ f25 1 241"/>
                <a:gd name="f30" fmla="*/ 43 f26 1"/>
                <a:gd name="f31" fmla="*/ 188 f25 1"/>
                <a:gd name="f32" fmla="*/ 107 f26 1"/>
                <a:gd name="f33" fmla="*/ 234 f25 1"/>
                <a:gd name="f34" fmla="*/ 138 f26 1"/>
                <a:gd name="f35" fmla="*/ 162 f25 1"/>
                <a:gd name="f36" fmla="*/ 95 f26 1"/>
                <a:gd name="f37" fmla="*/ 0 f25 1"/>
                <a:gd name="f38" fmla="*/ 0 f26 1"/>
                <a:gd name="f39" fmla="*/ 25 f25 1"/>
                <a:gd name="f40" fmla="*/ f27 1 f2"/>
                <a:gd name="f41" fmla="*/ f30 1 147"/>
                <a:gd name="f42" fmla="*/ f31 1 241"/>
                <a:gd name="f43" fmla="*/ f32 1 147"/>
                <a:gd name="f44" fmla="*/ f33 1 241"/>
                <a:gd name="f45" fmla="*/ f34 1 147"/>
                <a:gd name="f46" fmla="*/ f35 1 241"/>
                <a:gd name="f47" fmla="*/ f36 1 147"/>
                <a:gd name="f48" fmla="*/ f37 1 241"/>
                <a:gd name="f49" fmla="*/ f38 1 147"/>
                <a:gd name="f50" fmla="*/ f39 1 241"/>
                <a:gd name="f51" fmla="*/ 0 1 f28"/>
                <a:gd name="f52" fmla="*/ f6 1 f28"/>
                <a:gd name="f53" fmla="*/ 0 1 f29"/>
                <a:gd name="f54" fmla="*/ f7 1 f29"/>
                <a:gd name="f55" fmla="+- f40 0 f1"/>
                <a:gd name="f56" fmla="*/ f41 1 f28"/>
                <a:gd name="f57" fmla="*/ f42 1 f29"/>
                <a:gd name="f58" fmla="*/ f43 1 f28"/>
                <a:gd name="f59" fmla="*/ f44 1 f29"/>
                <a:gd name="f60" fmla="*/ f45 1 f28"/>
                <a:gd name="f61" fmla="*/ f46 1 f29"/>
                <a:gd name="f62" fmla="*/ f47 1 f28"/>
                <a:gd name="f63" fmla="*/ f48 1 f29"/>
                <a:gd name="f64" fmla="*/ f49 1 f28"/>
                <a:gd name="f65" fmla="*/ f50 1 f29"/>
                <a:gd name="f66" fmla="*/ f51 f23 1"/>
                <a:gd name="f67" fmla="*/ f52 f23 1"/>
                <a:gd name="f68" fmla="*/ f54 f24 1"/>
                <a:gd name="f69" fmla="*/ f53 f24 1"/>
                <a:gd name="f70" fmla="*/ f56 f23 1"/>
                <a:gd name="f71" fmla="*/ f57 f24 1"/>
                <a:gd name="f72" fmla="*/ f58 f23 1"/>
                <a:gd name="f73" fmla="*/ f59 f24 1"/>
                <a:gd name="f74" fmla="*/ f60 f23 1"/>
                <a:gd name="f75" fmla="*/ f61 f24 1"/>
                <a:gd name="f76" fmla="*/ f62 f23 1"/>
                <a:gd name="f77" fmla="*/ f63 f24 1"/>
                <a:gd name="f78" fmla="*/ f64 f23 1"/>
                <a:gd name="f79" fmla="*/ f65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0" y="f71"/>
                </a:cxn>
                <a:cxn ang="f55">
                  <a:pos x="f72" y="f73"/>
                </a:cxn>
                <a:cxn ang="f55">
                  <a:pos x="f74" y="f75"/>
                </a:cxn>
                <a:cxn ang="f55">
                  <a:pos x="f76" y="f77"/>
                </a:cxn>
                <a:cxn ang="f55">
                  <a:pos x="f78" y="f79"/>
                </a:cxn>
                <a:cxn ang="f55">
                  <a:pos x="f70" y="f71"/>
                </a:cxn>
              </a:cxnLst>
              <a:rect l="f66" t="f69" r="f67" b="f68"/>
              <a:pathLst>
                <a:path w="147" h="241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6"/>
                    <a:pt x="f6" y="f17"/>
                    <a:pt x="f18" y="f19"/>
                  </a:cubicBezTo>
                  <a:cubicBezTo>
                    <a:pt x="f20" y="f5"/>
                    <a:pt x="f20" y="f5"/>
                    <a:pt x="f20" y="f5"/>
                  </a:cubicBezTo>
                  <a:cubicBezTo>
                    <a:pt x="f5" y="f21"/>
                    <a:pt x="f5" y="f21"/>
                    <a:pt x="f5" y="f21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7" name="Line 239">
              <a:extLst>
                <a:ext uri="{FF2B5EF4-FFF2-40B4-BE49-F238E27FC236}">
                  <a16:creationId xmlns:a16="http://schemas.microsoft.com/office/drawing/2014/main" id="{2F86CF79-BBCA-945E-9C83-2DFFC822D6BE}"/>
                </a:ext>
              </a:extLst>
            </p:cNvPr>
            <p:cNvSpPr/>
            <p:nvPr/>
          </p:nvSpPr>
          <p:spPr>
            <a:xfrm flipV="1">
              <a:off x="10955389" y="2911440"/>
              <a:ext cx="65562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8" name="Line 240">
              <a:extLst>
                <a:ext uri="{FF2B5EF4-FFF2-40B4-BE49-F238E27FC236}">
                  <a16:creationId xmlns:a16="http://schemas.microsoft.com/office/drawing/2014/main" id="{89CFA37E-3213-BB9B-FFB7-569597952D76}"/>
                </a:ext>
              </a:extLst>
            </p:cNvPr>
            <p:cNvSpPr/>
            <p:nvPr/>
          </p:nvSpPr>
          <p:spPr>
            <a:xfrm flipV="1">
              <a:off x="10961571" y="2926290"/>
              <a:ext cx="63093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9" name="Line 241">
              <a:extLst>
                <a:ext uri="{FF2B5EF4-FFF2-40B4-BE49-F238E27FC236}">
                  <a16:creationId xmlns:a16="http://schemas.microsoft.com/office/drawing/2014/main" id="{F9072F72-8C5B-93B2-D726-15EC076A14E9}"/>
                </a:ext>
              </a:extLst>
            </p:cNvPr>
            <p:cNvSpPr/>
            <p:nvPr/>
          </p:nvSpPr>
          <p:spPr>
            <a:xfrm flipV="1">
              <a:off x="10981367" y="3002990"/>
              <a:ext cx="64328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0" name="Line 242">
              <a:extLst>
                <a:ext uri="{FF2B5EF4-FFF2-40B4-BE49-F238E27FC236}">
                  <a16:creationId xmlns:a16="http://schemas.microsoft.com/office/drawing/2014/main" id="{4FBD55A7-386E-197F-7384-1F83FF5D62E6}"/>
                </a:ext>
              </a:extLst>
            </p:cNvPr>
            <p:cNvSpPr/>
            <p:nvPr/>
          </p:nvSpPr>
          <p:spPr>
            <a:xfrm flipH="1">
              <a:off x="10622603" y="2558866"/>
              <a:ext cx="158346" cy="274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1" name="Line 243">
              <a:extLst>
                <a:ext uri="{FF2B5EF4-FFF2-40B4-BE49-F238E27FC236}">
                  <a16:creationId xmlns:a16="http://schemas.microsoft.com/office/drawing/2014/main" id="{A4CF6FF5-7F0A-6DFC-2319-328B26704041}"/>
                </a:ext>
              </a:extLst>
            </p:cNvPr>
            <p:cNvSpPr/>
            <p:nvPr/>
          </p:nvSpPr>
          <p:spPr>
            <a:xfrm flipH="1">
              <a:off x="11044461" y="2970821"/>
              <a:ext cx="82890" cy="1435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2" name="Line 244">
              <a:extLst>
                <a:ext uri="{FF2B5EF4-FFF2-40B4-BE49-F238E27FC236}">
                  <a16:creationId xmlns:a16="http://schemas.microsoft.com/office/drawing/2014/main" id="{FEC66BA4-5C7D-0055-5C5D-614C6FAC73B0}"/>
                </a:ext>
              </a:extLst>
            </p:cNvPr>
            <p:cNvSpPr/>
            <p:nvPr/>
          </p:nvSpPr>
          <p:spPr>
            <a:xfrm flipH="1">
              <a:off x="11064258" y="2764222"/>
              <a:ext cx="43296" cy="7546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0352" y="2694824"/>
            <a:ext cx="7239000" cy="1325562"/>
          </a:xfrm>
        </p:spPr>
        <p:txBody>
          <a:bodyPr/>
          <a:lstStyle/>
          <a:p>
            <a:r>
              <a:rPr sz="2200" b="1" dirty="0">
                <a:solidFill>
                  <a:srgbClr val="1A2747"/>
                </a:solidFill>
              </a:rPr>
              <a:t>Surgery experience: The Private Clinic performs competitively on pain mentions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21440" cy="292608"/>
          </a:xfrm>
          <a:prstGeom prst="rect">
            <a:avLst/>
          </a:prstGeom>
          <a:solidFill>
            <a:srgbClr val="0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Surgery Experience · % of Reviews Mentioning "Painful" ·</a:t>
            </a:r>
            <a:r>
              <a:rPr lang="en-US" sz="1200" b="0" dirty="0">
                <a:solidFill>
                  <a:srgbClr val="FFFFFF"/>
                </a:solidFill>
              </a:rPr>
              <a:t> </a:t>
            </a:r>
            <a:r>
              <a:rPr sz="1200" b="0" dirty="0">
                <a:solidFill>
                  <a:srgbClr val="FFFFFF"/>
                </a:solidFill>
              </a:rPr>
              <a:t>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261872"/>
            <a:ext cx="3657600" cy="3291840"/>
          </a:xfrm>
          <a:prstGeom prst="rect">
            <a:avLst/>
          </a:prstGeom>
          <a:solidFill>
            <a:srgbClr val="F0F8FA"/>
          </a:solidFill>
          <a:ln w="9525">
            <a:solidFill>
              <a:srgbClr val="00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307592"/>
            <a:ext cx="10999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A2747"/>
                </a:solidFill>
              </a:rP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2" y="1833311"/>
            <a:ext cx="3474720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The Private Clinic (81.1% painful) is mid-range among direct competitors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The </a:t>
            </a:r>
            <a:r>
              <a:rPr lang="en-US" sz="1100" dirty="0" err="1">
                <a:solidFill>
                  <a:srgbClr val="333333"/>
                </a:solidFill>
              </a:rPr>
              <a:t>Sk!n</a:t>
            </a:r>
            <a:r>
              <a:rPr lang="en-US" sz="1100" dirty="0">
                <a:solidFill>
                  <a:srgbClr val="333333"/>
                </a:solidFill>
              </a:rPr>
              <a:t> </a:t>
            </a:r>
            <a:r>
              <a:rPr sz="1100" dirty="0">
                <a:solidFill>
                  <a:srgbClr val="333333"/>
                </a:solidFill>
              </a:rPr>
              <a:t>has the highest painful mention rate at </a:t>
            </a:r>
            <a:r>
              <a:rPr lang="en-US" sz="1100" dirty="0">
                <a:solidFill>
                  <a:srgbClr val="333333"/>
                </a:solidFill>
              </a:rPr>
              <a:t>9</a:t>
            </a:r>
            <a:r>
              <a:rPr sz="1100" dirty="0">
                <a:solidFill>
                  <a:srgbClr val="333333"/>
                </a:solidFill>
              </a:rPr>
              <a:t>6.</a:t>
            </a:r>
            <a:r>
              <a:rPr lang="en-US" sz="1100" dirty="0">
                <a:solidFill>
                  <a:srgbClr val="333333"/>
                </a:solidFill>
              </a:rPr>
              <a:t>8</a:t>
            </a:r>
            <a:r>
              <a:rPr sz="1100" dirty="0">
                <a:solidFill>
                  <a:srgbClr val="333333"/>
                </a:solidFill>
              </a:rPr>
              <a:t>%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The </a:t>
            </a:r>
            <a:r>
              <a:rPr lang="en-IN" sz="1100" dirty="0">
                <a:solidFill>
                  <a:srgbClr val="333333"/>
                </a:solidFill>
              </a:rPr>
              <a:t>Harley Medical Group performs best at 73.3% painful mentions</a:t>
            </a:r>
            <a:endParaRPr sz="1100" dirty="0">
              <a:solidFill>
                <a:srgbClr val="333333"/>
              </a:solidFill>
            </a:endParaRP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</a:rPr>
              <a:t>▸  Lower painful % and higher recoverable % indicates better patient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Surgery experience: The Private Clinic performs competitively on pain mentions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C77166-F3D8-E94F-EFBB-99643828F1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261872"/>
            <a:ext cx="7818120" cy="3291840"/>
          </a:xfrm>
          <a:prstGeom prst="rect">
            <a:avLst/>
          </a:prstGeom>
        </p:spPr>
      </p:pic>
      <p:grpSp>
        <p:nvGrpSpPr>
          <p:cNvPr id="4" name="Group 231">
            <a:extLst>
              <a:ext uri="{FF2B5EF4-FFF2-40B4-BE49-F238E27FC236}">
                <a16:creationId xmlns:a16="http://schemas.microsoft.com/office/drawing/2014/main" id="{F2077CD5-3BEE-EC12-E3A3-EDE258808607}"/>
              </a:ext>
            </a:extLst>
          </p:cNvPr>
          <p:cNvGrpSpPr/>
          <p:nvPr/>
        </p:nvGrpSpPr>
        <p:grpSpPr>
          <a:xfrm>
            <a:off x="11291012" y="3894364"/>
            <a:ext cx="504748" cy="571545"/>
            <a:chOff x="10622603" y="2542781"/>
            <a:chExt cx="504748" cy="571545"/>
          </a:xfrm>
        </p:grpSpPr>
        <p:sp>
          <p:nvSpPr>
            <p:cNvPr id="9" name="Freeform 232">
              <a:extLst>
                <a:ext uri="{FF2B5EF4-FFF2-40B4-BE49-F238E27FC236}">
                  <a16:creationId xmlns:a16="http://schemas.microsoft.com/office/drawing/2014/main" id="{ACE172F5-7EE9-2557-487D-C0584B7B9569}"/>
                </a:ext>
              </a:extLst>
            </p:cNvPr>
            <p:cNvSpPr/>
            <p:nvPr/>
          </p:nvSpPr>
          <p:spPr>
            <a:xfrm>
              <a:off x="10837861" y="2613291"/>
              <a:ext cx="183090" cy="1830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2"/>
                <a:gd name="f7" fmla="val 131"/>
                <a:gd name="f8" fmla="val 249"/>
                <a:gd name="f9" fmla="val 145"/>
                <a:gd name="f10" fmla="val 246"/>
                <a:gd name="f11" fmla="val 159"/>
                <a:gd name="f12" fmla="val 243"/>
                <a:gd name="f13" fmla="val 173"/>
                <a:gd name="f14" fmla="val 236"/>
                <a:gd name="f15" fmla="val 172"/>
                <a:gd name="f16" fmla="val 230"/>
                <a:gd name="f17" fmla="val 170"/>
                <a:gd name="f18" fmla="val 223"/>
                <a:gd name="f19" fmla="val 169"/>
                <a:gd name="f20" fmla="val 216"/>
                <a:gd name="f21" fmla="val 168"/>
                <a:gd name="f22" fmla="val 212"/>
                <a:gd name="f23" fmla="val 209"/>
                <a:gd name="f24" fmla="val 174"/>
                <a:gd name="f25" fmla="val 206"/>
                <a:gd name="f26" fmla="val 179"/>
                <a:gd name="f27" fmla="val 207"/>
                <a:gd name="f28" fmla="val 183"/>
                <a:gd name="f29" fmla="val 189"/>
                <a:gd name="f30" fmla="val 194"/>
                <a:gd name="f31" fmla="val 220"/>
                <a:gd name="f32" fmla="val 198"/>
                <a:gd name="f33" fmla="val 225"/>
                <a:gd name="f34" fmla="val 204"/>
                <a:gd name="f35" fmla="val 215"/>
                <a:gd name="f36" fmla="val 214"/>
                <a:gd name="f37" fmla="val 193"/>
                <a:gd name="f38" fmla="val 233"/>
                <a:gd name="f39" fmla="val 188"/>
                <a:gd name="f40" fmla="val 227"/>
                <a:gd name="f41" fmla="val 184"/>
                <a:gd name="f42" fmla="val 222"/>
                <a:gd name="f43" fmla="val 217"/>
                <a:gd name="f44" fmla="val 175"/>
                <a:gd name="f45" fmla="val 213"/>
                <a:gd name="f46" fmla="val 171"/>
                <a:gd name="f47" fmla="val 211"/>
                <a:gd name="f48" fmla="val 165"/>
                <a:gd name="f49" fmla="val 160"/>
                <a:gd name="f50" fmla="val 158"/>
                <a:gd name="f51" fmla="val 219"/>
                <a:gd name="f52" fmla="val 240"/>
                <a:gd name="f53" fmla="val 161"/>
                <a:gd name="f54" fmla="val 247"/>
                <a:gd name="f55" fmla="val 147"/>
                <a:gd name="f56" fmla="val 133"/>
                <a:gd name="f57" fmla="val 250"/>
                <a:gd name="f58" fmla="val 118"/>
                <a:gd name="f59" fmla="val 117"/>
                <a:gd name="f60" fmla="val 116"/>
                <a:gd name="f61" fmla="val 239"/>
                <a:gd name="f62" fmla="val 234"/>
                <a:gd name="f63" fmla="val 115"/>
                <a:gd name="f64" fmla="val 112"/>
                <a:gd name="f65" fmla="val 221"/>
                <a:gd name="f66" fmla="val 106"/>
                <a:gd name="f67" fmla="val 101"/>
                <a:gd name="f68" fmla="val 218"/>
                <a:gd name="f69" fmla="val 97"/>
                <a:gd name="f70" fmla="val 94"/>
                <a:gd name="f71" fmla="val 91"/>
                <a:gd name="f72" fmla="val 231"/>
                <a:gd name="f73" fmla="val 87"/>
                <a:gd name="f74" fmla="val 237"/>
                <a:gd name="f75" fmla="val 84"/>
                <a:gd name="f76" fmla="val 244"/>
                <a:gd name="f77" fmla="val 70"/>
                <a:gd name="f78" fmla="val 238"/>
                <a:gd name="f79" fmla="val 59"/>
                <a:gd name="f80" fmla="val 46"/>
                <a:gd name="f81" fmla="val 48"/>
                <a:gd name="f82" fmla="val 50"/>
                <a:gd name="f83" fmla="val 51"/>
                <a:gd name="f84" fmla="val 53"/>
                <a:gd name="f85" fmla="val 55"/>
                <a:gd name="f86" fmla="val 57"/>
                <a:gd name="f87" fmla="val 203"/>
                <a:gd name="f88" fmla="val 190"/>
                <a:gd name="f89" fmla="val 52"/>
                <a:gd name="f90" fmla="val 186"/>
                <a:gd name="f91" fmla="val 185"/>
                <a:gd name="f92" fmla="val 43"/>
                <a:gd name="f93" fmla="val 187"/>
                <a:gd name="f94" fmla="val 39"/>
                <a:gd name="f95" fmla="val 36"/>
                <a:gd name="f96" fmla="val 32"/>
                <a:gd name="f97" fmla="val 192"/>
                <a:gd name="f98" fmla="val 29"/>
                <a:gd name="f99" fmla="val 26"/>
                <a:gd name="f100" fmla="val 21"/>
                <a:gd name="f101" fmla="val 196"/>
                <a:gd name="f102" fmla="val 16"/>
                <a:gd name="f103" fmla="val 10"/>
                <a:gd name="f104" fmla="val 4"/>
                <a:gd name="f105" fmla="val 157"/>
                <a:gd name="f106" fmla="val 154"/>
                <a:gd name="f107" fmla="val 151"/>
                <a:gd name="f108" fmla="val 22"/>
                <a:gd name="f109" fmla="val 149"/>
                <a:gd name="f110" fmla="val 30"/>
                <a:gd name="f111" fmla="val 142"/>
                <a:gd name="f112" fmla="val 31"/>
                <a:gd name="f113" fmla="val 136"/>
                <a:gd name="f114" fmla="val 129"/>
                <a:gd name="f115" fmla="val 127"/>
                <a:gd name="f116" fmla="val 20"/>
                <a:gd name="f117" fmla="val 126"/>
                <a:gd name="f118" fmla="val 14"/>
                <a:gd name="f119" fmla="val 125"/>
                <a:gd name="f120" fmla="val 8"/>
                <a:gd name="f121" fmla="val 123"/>
                <a:gd name="f122" fmla="val 121"/>
                <a:gd name="f123" fmla="val 3"/>
                <a:gd name="f124" fmla="val 107"/>
                <a:gd name="f125" fmla="val 6"/>
                <a:gd name="f126" fmla="val 9"/>
                <a:gd name="f127" fmla="val 79"/>
                <a:gd name="f128" fmla="val 81"/>
                <a:gd name="f129" fmla="val 82"/>
                <a:gd name="f130" fmla="val 83"/>
                <a:gd name="f131" fmla="val 85"/>
                <a:gd name="f132" fmla="val 41"/>
                <a:gd name="f133" fmla="val 44"/>
                <a:gd name="f134" fmla="val 78"/>
                <a:gd name="f135" fmla="val 47"/>
                <a:gd name="f136" fmla="val 71"/>
                <a:gd name="f137" fmla="val 66"/>
                <a:gd name="f138" fmla="val 62"/>
                <a:gd name="f139" fmla="val 35"/>
                <a:gd name="f140" fmla="val 58"/>
                <a:gd name="f141" fmla="val 27"/>
                <a:gd name="f142" fmla="val 37"/>
                <a:gd name="f143" fmla="val 38"/>
                <a:gd name="f144" fmla="val 63"/>
                <a:gd name="f145" fmla="val 24"/>
                <a:gd name="f146" fmla="val 67"/>
                <a:gd name="f147" fmla="val 28"/>
                <a:gd name="f148" fmla="val 72"/>
                <a:gd name="f149" fmla="val 34"/>
                <a:gd name="f150" fmla="val 74"/>
                <a:gd name="f151" fmla="val 77"/>
                <a:gd name="f152" fmla="val 80"/>
                <a:gd name="f153" fmla="val 40"/>
                <a:gd name="f154" fmla="val 88"/>
                <a:gd name="f155" fmla="val 92"/>
                <a:gd name="f156" fmla="val 33"/>
                <a:gd name="f157" fmla="val 93"/>
                <a:gd name="f158" fmla="val 13"/>
                <a:gd name="f159" fmla="val 5"/>
                <a:gd name="f160" fmla="val 120"/>
                <a:gd name="f161" fmla="val 2"/>
                <a:gd name="f162" fmla="val 135"/>
                <a:gd name="f163" fmla="val 15"/>
                <a:gd name="f164" fmla="val 137"/>
                <a:gd name="f165" fmla="val 138"/>
                <a:gd name="f166" fmla="val 140"/>
                <a:gd name="f167" fmla="val 150"/>
                <a:gd name="f168" fmla="val 155"/>
                <a:gd name="f169" fmla="val 162"/>
                <a:gd name="f170" fmla="val 176"/>
                <a:gd name="f171" fmla="val 11"/>
                <a:gd name="f172" fmla="val 205"/>
                <a:gd name="f173" fmla="val 201"/>
                <a:gd name="f174" fmla="val 199"/>
                <a:gd name="f175" fmla="val 49"/>
                <a:gd name="f176" fmla="val 54"/>
                <a:gd name="f177" fmla="val 197"/>
                <a:gd name="f178" fmla="val 200"/>
                <a:gd name="f179" fmla="val 65"/>
                <a:gd name="f180" fmla="val 64"/>
                <a:gd name="f181" fmla="val 60"/>
                <a:gd name="f182" fmla="val 56"/>
                <a:gd name="f183" fmla="val 69"/>
                <a:gd name="f184" fmla="val 76"/>
                <a:gd name="f185" fmla="val 245"/>
                <a:gd name="f186" fmla="val 95"/>
                <a:gd name="f187" fmla="val 98"/>
                <a:gd name="f188" fmla="val 100"/>
                <a:gd name="f189" fmla="val 232"/>
                <a:gd name="f190" fmla="val 103"/>
                <a:gd name="f191" fmla="val 104"/>
                <a:gd name="f192" fmla="val 228"/>
                <a:gd name="f193" fmla="val 105"/>
                <a:gd name="f194" fmla="val 226"/>
                <a:gd name="f195" fmla="val 109"/>
                <a:gd name="f196" fmla="+- 0 0 -90"/>
                <a:gd name="f197" fmla="*/ f3 1 252"/>
                <a:gd name="f198" fmla="*/ f4 1 252"/>
                <a:gd name="f199" fmla="+- f6 0 f5"/>
                <a:gd name="f200" fmla="*/ f196 f0 1"/>
                <a:gd name="f201" fmla="*/ f199 1 252"/>
                <a:gd name="f202" fmla="*/ 252 f199 1"/>
                <a:gd name="f203" fmla="*/ 131 f199 1"/>
                <a:gd name="f204" fmla="*/ 243 f199 1"/>
                <a:gd name="f205" fmla="*/ 173 f199 1"/>
                <a:gd name="f206" fmla="*/ 223 f199 1"/>
                <a:gd name="f207" fmla="*/ 169 f199 1"/>
                <a:gd name="f208" fmla="*/ 209 f199 1"/>
                <a:gd name="f209" fmla="*/ 174 f199 1"/>
                <a:gd name="f210" fmla="*/ 212 f199 1"/>
                <a:gd name="f211" fmla="*/ 189 f199 1"/>
                <a:gd name="f212" fmla="*/ 225 f199 1"/>
                <a:gd name="f213" fmla="*/ 204 f199 1"/>
                <a:gd name="f214" fmla="*/ 193 f199 1"/>
                <a:gd name="f215" fmla="*/ 233 f199 1"/>
                <a:gd name="f216" fmla="*/ 179 f199 1"/>
                <a:gd name="f217" fmla="*/ 217 f199 1"/>
                <a:gd name="f218" fmla="*/ 165 f199 1"/>
                <a:gd name="f219" fmla="*/ 213 f199 1"/>
                <a:gd name="f220" fmla="*/ 159 f199 1"/>
                <a:gd name="f221" fmla="*/ 227 f199 1"/>
                <a:gd name="f222" fmla="*/ 161 f199 1"/>
                <a:gd name="f223" fmla="*/ 247 f199 1"/>
                <a:gd name="f224" fmla="*/ 118 f199 1"/>
                <a:gd name="f225" fmla="*/ 117 f199 1"/>
                <a:gd name="f226" fmla="*/ 115 f199 1"/>
                <a:gd name="f227" fmla="*/ 230 f199 1"/>
                <a:gd name="f228" fmla="*/ 106 f199 1"/>
                <a:gd name="f229" fmla="*/ 220 f199 1"/>
                <a:gd name="f230" fmla="*/ 94 f199 1"/>
                <a:gd name="f231" fmla="*/ 84 f199 1"/>
                <a:gd name="f232" fmla="*/ 244 f199 1"/>
                <a:gd name="f233" fmla="*/ 46 f199 1"/>
                <a:gd name="f234" fmla="*/ 51 f199 1"/>
                <a:gd name="f235" fmla="*/ 57 f199 1"/>
                <a:gd name="f236" fmla="*/ 203 f199 1"/>
                <a:gd name="f237" fmla="*/ 55 f199 1"/>
                <a:gd name="f238" fmla="*/ 190 f199 1"/>
                <a:gd name="f239" fmla="*/ 43 f199 1"/>
                <a:gd name="f240" fmla="*/ 187 f199 1"/>
                <a:gd name="f241" fmla="*/ 32 f199 1"/>
                <a:gd name="f242" fmla="*/ 192 f199 1"/>
                <a:gd name="f243" fmla="*/ 21 f199 1"/>
                <a:gd name="f244" fmla="*/ 196 f199 1"/>
                <a:gd name="f245" fmla="*/ 4 f199 1"/>
                <a:gd name="f246" fmla="*/ 157 f199 1"/>
                <a:gd name="f247" fmla="*/ 22 f199 1"/>
                <a:gd name="f248" fmla="*/ 149 f199 1"/>
                <a:gd name="f249" fmla="*/ 31 f199 1"/>
                <a:gd name="f250" fmla="*/ 136 f199 1"/>
                <a:gd name="f251" fmla="*/ 20 f199 1"/>
                <a:gd name="f252" fmla="*/ 126 f199 1"/>
                <a:gd name="f253" fmla="*/ 0 f199 1"/>
                <a:gd name="f254" fmla="*/ 121 f199 1"/>
                <a:gd name="f255" fmla="*/ 9 f199 1"/>
                <a:gd name="f256" fmla="*/ 79 f199 1"/>
                <a:gd name="f257" fmla="*/ 26 f199 1"/>
                <a:gd name="f258" fmla="*/ 83 f199 1"/>
                <a:gd name="f259" fmla="*/ 44 f199 1"/>
                <a:gd name="f260" fmla="*/ 78 f199 1"/>
                <a:gd name="f261" fmla="*/ 39 f199 1"/>
                <a:gd name="f262" fmla="*/ 62 f199 1"/>
                <a:gd name="f263" fmla="*/ 27 f199 1"/>
                <a:gd name="f264" fmla="*/ 48 f199 1"/>
                <a:gd name="f265" fmla="*/ 59 f199 1"/>
                <a:gd name="f266" fmla="*/ 70 f199 1"/>
                <a:gd name="f267" fmla="*/ 77 f199 1"/>
                <a:gd name="f268" fmla="*/ 38 f199 1"/>
                <a:gd name="f269" fmla="*/ 88 f199 1"/>
                <a:gd name="f270" fmla="*/ 29 f199 1"/>
                <a:gd name="f271" fmla="*/ 92 f199 1"/>
                <a:gd name="f272" fmla="*/ 5 f199 1"/>
                <a:gd name="f273" fmla="*/ 135 f199 1"/>
                <a:gd name="f274" fmla="*/ 137 f199 1"/>
                <a:gd name="f275" fmla="*/ 145 f199 1"/>
                <a:gd name="f276" fmla="*/ 158 f199 1"/>
                <a:gd name="f277" fmla="*/ 168 f199 1"/>
                <a:gd name="f278" fmla="*/ 10 f199 1"/>
                <a:gd name="f279" fmla="*/ 206 f199 1"/>
                <a:gd name="f280" fmla="*/ 30 f199 1"/>
                <a:gd name="f281" fmla="*/ 201 f199 1"/>
                <a:gd name="f282" fmla="*/ 40 f199 1"/>
                <a:gd name="f283" fmla="*/ 49 f199 1"/>
                <a:gd name="f284" fmla="*/ 197 f199 1"/>
                <a:gd name="f285" fmla="*/ 65 f199 1"/>
                <a:gd name="f286" fmla="*/ 60 f199 1"/>
                <a:gd name="f287" fmla="*/ 231 f199 1"/>
                <a:gd name="f288" fmla="*/ 56 f199 1"/>
                <a:gd name="f289" fmla="*/ 240 f199 1"/>
                <a:gd name="f290" fmla="*/ 76 f199 1"/>
                <a:gd name="f291" fmla="*/ 249 f199 1"/>
                <a:gd name="f292" fmla="*/ 95 f199 1"/>
                <a:gd name="f293" fmla="*/ 232 f199 1"/>
                <a:gd name="f294" fmla="*/ 103 f199 1"/>
                <a:gd name="f295" fmla="*/ 226 f199 1"/>
                <a:gd name="f296" fmla="*/ 221 f199 1"/>
                <a:gd name="f297" fmla="*/ 116 f199 1"/>
                <a:gd name="f298" fmla="*/ f200 1 f2"/>
                <a:gd name="f299" fmla="*/ f202 1 252"/>
                <a:gd name="f300" fmla="*/ f203 1 252"/>
                <a:gd name="f301" fmla="*/ f204 1 252"/>
                <a:gd name="f302" fmla="*/ f205 1 252"/>
                <a:gd name="f303" fmla="*/ f206 1 252"/>
                <a:gd name="f304" fmla="*/ f207 1 252"/>
                <a:gd name="f305" fmla="*/ f208 1 252"/>
                <a:gd name="f306" fmla="*/ f209 1 252"/>
                <a:gd name="f307" fmla="*/ f210 1 252"/>
                <a:gd name="f308" fmla="*/ f211 1 252"/>
                <a:gd name="f309" fmla="*/ f212 1 252"/>
                <a:gd name="f310" fmla="*/ f213 1 252"/>
                <a:gd name="f311" fmla="*/ f214 1 252"/>
                <a:gd name="f312" fmla="*/ f215 1 252"/>
                <a:gd name="f313" fmla="*/ f216 1 252"/>
                <a:gd name="f314" fmla="*/ f217 1 252"/>
                <a:gd name="f315" fmla="*/ f218 1 252"/>
                <a:gd name="f316" fmla="*/ f219 1 252"/>
                <a:gd name="f317" fmla="*/ f220 1 252"/>
                <a:gd name="f318" fmla="*/ f221 1 252"/>
                <a:gd name="f319" fmla="*/ f222 1 252"/>
                <a:gd name="f320" fmla="*/ f223 1 252"/>
                <a:gd name="f321" fmla="*/ f224 1 252"/>
                <a:gd name="f322" fmla="*/ f225 1 252"/>
                <a:gd name="f323" fmla="*/ f226 1 252"/>
                <a:gd name="f324" fmla="*/ f227 1 252"/>
                <a:gd name="f325" fmla="*/ f228 1 252"/>
                <a:gd name="f326" fmla="*/ f229 1 252"/>
                <a:gd name="f327" fmla="*/ f230 1 252"/>
                <a:gd name="f328" fmla="*/ f231 1 252"/>
                <a:gd name="f329" fmla="*/ f232 1 252"/>
                <a:gd name="f330" fmla="*/ f233 1 252"/>
                <a:gd name="f331" fmla="*/ f234 1 252"/>
                <a:gd name="f332" fmla="*/ f235 1 252"/>
                <a:gd name="f333" fmla="*/ f236 1 252"/>
                <a:gd name="f334" fmla="*/ f237 1 252"/>
                <a:gd name="f335" fmla="*/ f238 1 252"/>
                <a:gd name="f336" fmla="*/ f239 1 252"/>
                <a:gd name="f337" fmla="*/ f240 1 252"/>
                <a:gd name="f338" fmla="*/ f241 1 252"/>
                <a:gd name="f339" fmla="*/ f242 1 252"/>
                <a:gd name="f340" fmla="*/ f243 1 252"/>
                <a:gd name="f341" fmla="*/ f244 1 252"/>
                <a:gd name="f342" fmla="*/ f245 1 252"/>
                <a:gd name="f343" fmla="*/ f246 1 252"/>
                <a:gd name="f344" fmla="*/ f247 1 252"/>
                <a:gd name="f345" fmla="*/ f248 1 252"/>
                <a:gd name="f346" fmla="*/ f249 1 252"/>
                <a:gd name="f347" fmla="*/ f250 1 252"/>
                <a:gd name="f348" fmla="*/ f251 1 252"/>
                <a:gd name="f349" fmla="*/ f252 1 252"/>
                <a:gd name="f350" fmla="*/ f253 1 252"/>
                <a:gd name="f351" fmla="*/ f254 1 252"/>
                <a:gd name="f352" fmla="*/ f255 1 252"/>
                <a:gd name="f353" fmla="*/ f256 1 252"/>
                <a:gd name="f354" fmla="*/ f257 1 252"/>
                <a:gd name="f355" fmla="*/ f258 1 252"/>
                <a:gd name="f356" fmla="*/ f259 1 252"/>
                <a:gd name="f357" fmla="*/ f260 1 252"/>
                <a:gd name="f358" fmla="*/ f261 1 252"/>
                <a:gd name="f359" fmla="*/ f262 1 252"/>
                <a:gd name="f360" fmla="*/ f263 1 252"/>
                <a:gd name="f361" fmla="*/ f264 1 252"/>
                <a:gd name="f362" fmla="*/ f265 1 252"/>
                <a:gd name="f363" fmla="*/ f266 1 252"/>
                <a:gd name="f364" fmla="*/ f267 1 252"/>
                <a:gd name="f365" fmla="*/ f268 1 252"/>
                <a:gd name="f366" fmla="*/ f269 1 252"/>
                <a:gd name="f367" fmla="*/ f270 1 252"/>
                <a:gd name="f368" fmla="*/ f271 1 252"/>
                <a:gd name="f369" fmla="*/ f272 1 252"/>
                <a:gd name="f370" fmla="*/ f273 1 252"/>
                <a:gd name="f371" fmla="*/ f274 1 252"/>
                <a:gd name="f372" fmla="*/ f275 1 252"/>
                <a:gd name="f373" fmla="*/ f276 1 252"/>
                <a:gd name="f374" fmla="*/ f277 1 252"/>
                <a:gd name="f375" fmla="*/ f278 1 252"/>
                <a:gd name="f376" fmla="*/ f279 1 252"/>
                <a:gd name="f377" fmla="*/ f280 1 252"/>
                <a:gd name="f378" fmla="*/ f281 1 252"/>
                <a:gd name="f379" fmla="*/ f282 1 252"/>
                <a:gd name="f380" fmla="*/ f283 1 252"/>
                <a:gd name="f381" fmla="*/ f284 1 252"/>
                <a:gd name="f382" fmla="*/ f285 1 252"/>
                <a:gd name="f383" fmla="*/ f286 1 252"/>
                <a:gd name="f384" fmla="*/ f287 1 252"/>
                <a:gd name="f385" fmla="*/ f288 1 252"/>
                <a:gd name="f386" fmla="*/ f289 1 252"/>
                <a:gd name="f387" fmla="*/ f290 1 252"/>
                <a:gd name="f388" fmla="*/ f291 1 252"/>
                <a:gd name="f389" fmla="*/ f292 1 252"/>
                <a:gd name="f390" fmla="*/ f293 1 252"/>
                <a:gd name="f391" fmla="*/ f294 1 252"/>
                <a:gd name="f392" fmla="*/ f295 1 252"/>
                <a:gd name="f393" fmla="*/ f296 1 252"/>
                <a:gd name="f394" fmla="*/ f297 1 252"/>
                <a:gd name="f395" fmla="*/ 0 1 f201"/>
                <a:gd name="f396" fmla="*/ f6 1 f201"/>
                <a:gd name="f397" fmla="+- f298 0 f1"/>
                <a:gd name="f398" fmla="*/ f299 1 f201"/>
                <a:gd name="f399" fmla="*/ f300 1 f201"/>
                <a:gd name="f400" fmla="*/ f301 1 f201"/>
                <a:gd name="f401" fmla="*/ f302 1 f201"/>
                <a:gd name="f402" fmla="*/ f303 1 f201"/>
                <a:gd name="f403" fmla="*/ f304 1 f201"/>
                <a:gd name="f404" fmla="*/ f305 1 f201"/>
                <a:gd name="f405" fmla="*/ f306 1 f201"/>
                <a:gd name="f406" fmla="*/ f307 1 f201"/>
                <a:gd name="f407" fmla="*/ f308 1 f201"/>
                <a:gd name="f408" fmla="*/ f309 1 f201"/>
                <a:gd name="f409" fmla="*/ f310 1 f201"/>
                <a:gd name="f410" fmla="*/ f311 1 f201"/>
                <a:gd name="f411" fmla="*/ f312 1 f201"/>
                <a:gd name="f412" fmla="*/ f313 1 f201"/>
                <a:gd name="f413" fmla="*/ f314 1 f201"/>
                <a:gd name="f414" fmla="*/ f315 1 f201"/>
                <a:gd name="f415" fmla="*/ f316 1 f201"/>
                <a:gd name="f416" fmla="*/ f317 1 f201"/>
                <a:gd name="f417" fmla="*/ f318 1 f201"/>
                <a:gd name="f418" fmla="*/ f319 1 f201"/>
                <a:gd name="f419" fmla="*/ f320 1 f201"/>
                <a:gd name="f420" fmla="*/ f321 1 f201"/>
                <a:gd name="f421" fmla="*/ f322 1 f201"/>
                <a:gd name="f422" fmla="*/ f323 1 f201"/>
                <a:gd name="f423" fmla="*/ f324 1 f201"/>
                <a:gd name="f424" fmla="*/ f325 1 f201"/>
                <a:gd name="f425" fmla="*/ f326 1 f201"/>
                <a:gd name="f426" fmla="*/ f327 1 f201"/>
                <a:gd name="f427" fmla="*/ f328 1 f201"/>
                <a:gd name="f428" fmla="*/ f329 1 f201"/>
                <a:gd name="f429" fmla="*/ f330 1 f201"/>
                <a:gd name="f430" fmla="*/ f331 1 f201"/>
                <a:gd name="f431" fmla="*/ f332 1 f201"/>
                <a:gd name="f432" fmla="*/ f333 1 f201"/>
                <a:gd name="f433" fmla="*/ f334 1 f201"/>
                <a:gd name="f434" fmla="*/ f335 1 f201"/>
                <a:gd name="f435" fmla="*/ f336 1 f201"/>
                <a:gd name="f436" fmla="*/ f337 1 f201"/>
                <a:gd name="f437" fmla="*/ f338 1 f201"/>
                <a:gd name="f438" fmla="*/ f339 1 f201"/>
                <a:gd name="f439" fmla="*/ f340 1 f201"/>
                <a:gd name="f440" fmla="*/ f341 1 f201"/>
                <a:gd name="f441" fmla="*/ f342 1 f201"/>
                <a:gd name="f442" fmla="*/ f343 1 f201"/>
                <a:gd name="f443" fmla="*/ f344 1 f201"/>
                <a:gd name="f444" fmla="*/ f345 1 f201"/>
                <a:gd name="f445" fmla="*/ f346 1 f201"/>
                <a:gd name="f446" fmla="*/ f347 1 f201"/>
                <a:gd name="f447" fmla="*/ f348 1 f201"/>
                <a:gd name="f448" fmla="*/ f349 1 f201"/>
                <a:gd name="f449" fmla="*/ f350 1 f201"/>
                <a:gd name="f450" fmla="*/ f351 1 f201"/>
                <a:gd name="f451" fmla="*/ f352 1 f201"/>
                <a:gd name="f452" fmla="*/ f353 1 f201"/>
                <a:gd name="f453" fmla="*/ f354 1 f201"/>
                <a:gd name="f454" fmla="*/ f355 1 f201"/>
                <a:gd name="f455" fmla="*/ f356 1 f201"/>
                <a:gd name="f456" fmla="*/ f357 1 f201"/>
                <a:gd name="f457" fmla="*/ f358 1 f201"/>
                <a:gd name="f458" fmla="*/ f359 1 f201"/>
                <a:gd name="f459" fmla="*/ f360 1 f201"/>
                <a:gd name="f460" fmla="*/ f361 1 f201"/>
                <a:gd name="f461" fmla="*/ f362 1 f201"/>
                <a:gd name="f462" fmla="*/ f363 1 f201"/>
                <a:gd name="f463" fmla="*/ f364 1 f201"/>
                <a:gd name="f464" fmla="*/ f365 1 f201"/>
                <a:gd name="f465" fmla="*/ f366 1 f201"/>
                <a:gd name="f466" fmla="*/ f367 1 f201"/>
                <a:gd name="f467" fmla="*/ f368 1 f201"/>
                <a:gd name="f468" fmla="*/ f369 1 f201"/>
                <a:gd name="f469" fmla="*/ f370 1 f201"/>
                <a:gd name="f470" fmla="*/ f371 1 f201"/>
                <a:gd name="f471" fmla="*/ f372 1 f201"/>
                <a:gd name="f472" fmla="*/ f373 1 f201"/>
                <a:gd name="f473" fmla="*/ f374 1 f201"/>
                <a:gd name="f474" fmla="*/ f375 1 f201"/>
                <a:gd name="f475" fmla="*/ f376 1 f201"/>
                <a:gd name="f476" fmla="*/ f377 1 f201"/>
                <a:gd name="f477" fmla="*/ f378 1 f201"/>
                <a:gd name="f478" fmla="*/ f379 1 f201"/>
                <a:gd name="f479" fmla="*/ f380 1 f201"/>
                <a:gd name="f480" fmla="*/ f381 1 f201"/>
                <a:gd name="f481" fmla="*/ f382 1 f201"/>
                <a:gd name="f482" fmla="*/ f383 1 f201"/>
                <a:gd name="f483" fmla="*/ f384 1 f201"/>
                <a:gd name="f484" fmla="*/ f385 1 f201"/>
                <a:gd name="f485" fmla="*/ f386 1 f201"/>
                <a:gd name="f486" fmla="*/ f387 1 f201"/>
                <a:gd name="f487" fmla="*/ f388 1 f201"/>
                <a:gd name="f488" fmla="*/ f389 1 f201"/>
                <a:gd name="f489" fmla="*/ f390 1 f201"/>
                <a:gd name="f490" fmla="*/ f391 1 f201"/>
                <a:gd name="f491" fmla="*/ f392 1 f201"/>
                <a:gd name="f492" fmla="*/ f393 1 f201"/>
                <a:gd name="f493" fmla="*/ f394 1 f201"/>
                <a:gd name="f494" fmla="*/ f395 f197 1"/>
                <a:gd name="f495" fmla="*/ f396 f197 1"/>
                <a:gd name="f496" fmla="*/ f396 f198 1"/>
                <a:gd name="f497" fmla="*/ f395 f198 1"/>
                <a:gd name="f498" fmla="*/ f398 f197 1"/>
                <a:gd name="f499" fmla="*/ f399 f198 1"/>
                <a:gd name="f500" fmla="*/ f400 f197 1"/>
                <a:gd name="f501" fmla="*/ f401 f198 1"/>
                <a:gd name="f502" fmla="*/ f402 f197 1"/>
                <a:gd name="f503" fmla="*/ f403 f198 1"/>
                <a:gd name="f504" fmla="*/ f404 f197 1"/>
                <a:gd name="f505" fmla="*/ f405 f198 1"/>
                <a:gd name="f506" fmla="*/ f406 f197 1"/>
                <a:gd name="f507" fmla="*/ f407 f198 1"/>
                <a:gd name="f508" fmla="*/ f408 f197 1"/>
                <a:gd name="f509" fmla="*/ f409 f198 1"/>
                <a:gd name="f510" fmla="*/ f410 f197 1"/>
                <a:gd name="f511" fmla="*/ f411 f198 1"/>
                <a:gd name="f512" fmla="*/ f412 f197 1"/>
                <a:gd name="f513" fmla="*/ f413 f198 1"/>
                <a:gd name="f514" fmla="*/ f414 f197 1"/>
                <a:gd name="f515" fmla="*/ f415 f198 1"/>
                <a:gd name="f516" fmla="*/ f416 f197 1"/>
                <a:gd name="f517" fmla="*/ f417 f198 1"/>
                <a:gd name="f518" fmla="*/ f418 f197 1"/>
                <a:gd name="f519" fmla="*/ f419 f198 1"/>
                <a:gd name="f520" fmla="*/ f420 f197 1"/>
                <a:gd name="f521" fmla="*/ f398 f198 1"/>
                <a:gd name="f522" fmla="*/ f421 f197 1"/>
                <a:gd name="f523" fmla="*/ f400 f198 1"/>
                <a:gd name="f524" fmla="*/ f422 f197 1"/>
                <a:gd name="f525" fmla="*/ f423 f198 1"/>
                <a:gd name="f526" fmla="*/ f424 f197 1"/>
                <a:gd name="f527" fmla="*/ f425 f198 1"/>
                <a:gd name="f528" fmla="*/ f426 f197 1"/>
                <a:gd name="f529" fmla="*/ f408 f198 1"/>
                <a:gd name="f530" fmla="*/ f427 f197 1"/>
                <a:gd name="f531" fmla="*/ f428 f198 1"/>
                <a:gd name="f532" fmla="*/ f429 f197 1"/>
                <a:gd name="f533" fmla="*/ f402 f198 1"/>
                <a:gd name="f534" fmla="*/ f430 f197 1"/>
                <a:gd name="f535" fmla="*/ f406 f198 1"/>
                <a:gd name="f536" fmla="*/ f431 f197 1"/>
                <a:gd name="f537" fmla="*/ f432 f198 1"/>
                <a:gd name="f538" fmla="*/ f433 f197 1"/>
                <a:gd name="f539" fmla="*/ f434 f198 1"/>
                <a:gd name="f540" fmla="*/ f435 f197 1"/>
                <a:gd name="f541" fmla="*/ f436 f198 1"/>
                <a:gd name="f542" fmla="*/ f437 f197 1"/>
                <a:gd name="f543" fmla="*/ f438 f198 1"/>
                <a:gd name="f544" fmla="*/ f439 f197 1"/>
                <a:gd name="f545" fmla="*/ f440 f198 1"/>
                <a:gd name="f546" fmla="*/ f441 f197 1"/>
                <a:gd name="f547" fmla="*/ f442 f198 1"/>
                <a:gd name="f548" fmla="*/ f443 f197 1"/>
                <a:gd name="f549" fmla="*/ f444 f198 1"/>
                <a:gd name="f550" fmla="*/ f445 f197 1"/>
                <a:gd name="f551" fmla="*/ f446 f198 1"/>
                <a:gd name="f552" fmla="*/ f447 f197 1"/>
                <a:gd name="f553" fmla="*/ f448 f198 1"/>
                <a:gd name="f554" fmla="*/ f449 f197 1"/>
                <a:gd name="f555" fmla="*/ f450 f198 1"/>
                <a:gd name="f556" fmla="*/ f451 f197 1"/>
                <a:gd name="f557" fmla="*/ f452 f198 1"/>
                <a:gd name="f558" fmla="*/ f453 f197 1"/>
                <a:gd name="f559" fmla="*/ f454 f198 1"/>
                <a:gd name="f560" fmla="*/ f455 f197 1"/>
                <a:gd name="f561" fmla="*/ f456 f198 1"/>
                <a:gd name="f562" fmla="*/ f457 f197 1"/>
                <a:gd name="f563" fmla="*/ f458 f198 1"/>
                <a:gd name="f564" fmla="*/ f459 f197 1"/>
                <a:gd name="f565" fmla="*/ f460 f198 1"/>
                <a:gd name="f566" fmla="*/ f461 f197 1"/>
                <a:gd name="f567" fmla="*/ f447 f198 1"/>
                <a:gd name="f568" fmla="*/ f462 f197 1"/>
                <a:gd name="f569" fmla="*/ f437 f198 1"/>
                <a:gd name="f570" fmla="*/ f463 f197 1"/>
                <a:gd name="f571" fmla="*/ f464 f198 1"/>
                <a:gd name="f572" fmla="*/ f465 f197 1"/>
                <a:gd name="f573" fmla="*/ f457 f198 1"/>
                <a:gd name="f574" fmla="*/ f466 f198 1"/>
                <a:gd name="f575" fmla="*/ f467 f197 1"/>
                <a:gd name="f576" fmla="*/ f468 f198 1"/>
                <a:gd name="f577" fmla="*/ f469 f197 1"/>
                <a:gd name="f578" fmla="*/ f449 f198 1"/>
                <a:gd name="f579" fmla="*/ f470 f197 1"/>
                <a:gd name="f580" fmla="*/ f443 f198 1"/>
                <a:gd name="f581" fmla="*/ f471 f197 1"/>
                <a:gd name="f582" fmla="*/ f472 f197 1"/>
                <a:gd name="f583" fmla="*/ f459 f198 1"/>
                <a:gd name="f584" fmla="*/ f473 f197 1"/>
                <a:gd name="f585" fmla="*/ f474 f198 1"/>
                <a:gd name="f586" fmla="*/ f475 f197 1"/>
                <a:gd name="f587" fmla="*/ f476 f198 1"/>
                <a:gd name="f588" fmla="*/ f477 f197 1"/>
                <a:gd name="f589" fmla="*/ f478 f198 1"/>
                <a:gd name="f590" fmla="*/ f440 f197 1"/>
                <a:gd name="f591" fmla="*/ f479 f198 1"/>
                <a:gd name="f592" fmla="*/ f480 f197 1"/>
                <a:gd name="f593" fmla="*/ f481 f198 1"/>
                <a:gd name="f594" fmla="*/ f425 f197 1"/>
                <a:gd name="f595" fmla="*/ f482 f198 1"/>
                <a:gd name="f596" fmla="*/ f483 f197 1"/>
                <a:gd name="f597" fmla="*/ f484 f198 1"/>
                <a:gd name="f598" fmla="*/ f485 f197 1"/>
                <a:gd name="f599" fmla="*/ f486 f198 1"/>
                <a:gd name="f600" fmla="*/ f487 f197 1"/>
                <a:gd name="f601" fmla="*/ f488 f198 1"/>
                <a:gd name="f602" fmla="*/ f489 f197 1"/>
                <a:gd name="f603" fmla="*/ f490 f198 1"/>
                <a:gd name="f604" fmla="*/ f491 f197 1"/>
                <a:gd name="f605" fmla="*/ f424 f198 1"/>
                <a:gd name="f606" fmla="*/ f492 f197 1"/>
                <a:gd name="f607" fmla="*/ f493 f198 1"/>
                <a:gd name="f608" fmla="*/ f423 f19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7">
                  <a:pos x="f498" y="f499"/>
                </a:cxn>
                <a:cxn ang="f397">
                  <a:pos x="f500" y="f501"/>
                </a:cxn>
                <a:cxn ang="f397">
                  <a:pos x="f502" y="f503"/>
                </a:cxn>
                <a:cxn ang="f397">
                  <a:pos x="f504" y="f505"/>
                </a:cxn>
                <a:cxn ang="f397">
                  <a:pos x="f506" y="f507"/>
                </a:cxn>
                <a:cxn ang="f397">
                  <a:pos x="f508" y="f509"/>
                </a:cxn>
                <a:cxn ang="f397">
                  <a:pos x="f510" y="f511"/>
                </a:cxn>
                <a:cxn ang="f397">
                  <a:pos x="f512" y="f513"/>
                </a:cxn>
                <a:cxn ang="f397">
                  <a:pos x="f514" y="f515"/>
                </a:cxn>
                <a:cxn ang="f397">
                  <a:pos x="f516" y="f517"/>
                </a:cxn>
                <a:cxn ang="f397">
                  <a:pos x="f518" y="f519"/>
                </a:cxn>
                <a:cxn ang="f397">
                  <a:pos x="f520" y="f521"/>
                </a:cxn>
                <a:cxn ang="f397">
                  <a:pos x="f522" y="f523"/>
                </a:cxn>
                <a:cxn ang="f397">
                  <a:pos x="f524" y="f525"/>
                </a:cxn>
                <a:cxn ang="f397">
                  <a:pos x="f526" y="f527"/>
                </a:cxn>
                <a:cxn ang="f397">
                  <a:pos x="f528" y="f529"/>
                </a:cxn>
                <a:cxn ang="f397">
                  <a:pos x="f530" y="f531"/>
                </a:cxn>
                <a:cxn ang="f397">
                  <a:pos x="f532" y="f533"/>
                </a:cxn>
                <a:cxn ang="f397">
                  <a:pos x="f534" y="f535"/>
                </a:cxn>
                <a:cxn ang="f397">
                  <a:pos x="f536" y="f537"/>
                </a:cxn>
                <a:cxn ang="f397">
                  <a:pos x="f538" y="f539"/>
                </a:cxn>
                <a:cxn ang="f397">
                  <a:pos x="f540" y="f541"/>
                </a:cxn>
                <a:cxn ang="f397">
                  <a:pos x="f542" y="f543"/>
                </a:cxn>
                <a:cxn ang="f397">
                  <a:pos x="f544" y="f545"/>
                </a:cxn>
                <a:cxn ang="f397">
                  <a:pos x="f546" y="f547"/>
                </a:cxn>
                <a:cxn ang="f397">
                  <a:pos x="f548" y="f549"/>
                </a:cxn>
                <a:cxn ang="f397">
                  <a:pos x="f550" y="f551"/>
                </a:cxn>
                <a:cxn ang="f397">
                  <a:pos x="f552" y="f553"/>
                </a:cxn>
                <a:cxn ang="f397">
                  <a:pos x="f554" y="f555"/>
                </a:cxn>
                <a:cxn ang="f397">
                  <a:pos x="f556" y="f557"/>
                </a:cxn>
                <a:cxn ang="f397">
                  <a:pos x="f558" y="f559"/>
                </a:cxn>
                <a:cxn ang="f397">
                  <a:pos x="f560" y="f561"/>
                </a:cxn>
                <a:cxn ang="f397">
                  <a:pos x="f562" y="f563"/>
                </a:cxn>
                <a:cxn ang="f397">
                  <a:pos x="f564" y="f565"/>
                </a:cxn>
                <a:cxn ang="f397">
                  <a:pos x="f566" y="f567"/>
                </a:cxn>
                <a:cxn ang="f397">
                  <a:pos x="f568" y="f569"/>
                </a:cxn>
                <a:cxn ang="f397">
                  <a:pos x="f570" y="f571"/>
                </a:cxn>
                <a:cxn ang="f397">
                  <a:pos x="f572" y="f573"/>
                </a:cxn>
                <a:cxn ang="f397">
                  <a:pos x="f528" y="f574"/>
                </a:cxn>
                <a:cxn ang="f397">
                  <a:pos x="f575" y="f576"/>
                </a:cxn>
                <a:cxn ang="f397">
                  <a:pos x="f577" y="f578"/>
                </a:cxn>
                <a:cxn ang="f397">
                  <a:pos x="f579" y="f580"/>
                </a:cxn>
                <a:cxn ang="f397">
                  <a:pos x="f581" y="f569"/>
                </a:cxn>
                <a:cxn ang="f397">
                  <a:pos x="f582" y="f583"/>
                </a:cxn>
                <a:cxn ang="f397">
                  <a:pos x="f584" y="f585"/>
                </a:cxn>
                <a:cxn ang="f397">
                  <a:pos x="f586" y="f587"/>
                </a:cxn>
                <a:cxn ang="f397">
                  <a:pos x="f588" y="f589"/>
                </a:cxn>
                <a:cxn ang="f397">
                  <a:pos x="f590" y="f591"/>
                </a:cxn>
                <a:cxn ang="f397">
                  <a:pos x="f592" y="f563"/>
                </a:cxn>
                <a:cxn ang="f397">
                  <a:pos x="f504" y="f593"/>
                </a:cxn>
                <a:cxn ang="f397">
                  <a:pos x="f594" y="f595"/>
                </a:cxn>
                <a:cxn ang="f397">
                  <a:pos x="f596" y="f597"/>
                </a:cxn>
                <a:cxn ang="f397">
                  <a:pos x="f598" y="f599"/>
                </a:cxn>
                <a:cxn ang="f397">
                  <a:pos x="f600" y="f601"/>
                </a:cxn>
                <a:cxn ang="f397">
                  <a:pos x="f602" y="f603"/>
                </a:cxn>
                <a:cxn ang="f397">
                  <a:pos x="f604" y="f605"/>
                </a:cxn>
                <a:cxn ang="f397">
                  <a:pos x="f606" y="f607"/>
                </a:cxn>
                <a:cxn ang="f397">
                  <a:pos x="f608" y="f553"/>
                </a:cxn>
                <a:cxn ang="f397">
                  <a:pos x="f498" y="f499"/>
                </a:cxn>
              </a:cxnLst>
              <a:rect l="f494" t="f497" r="f495" b="f496"/>
              <a:pathLst>
                <a:path w="252" h="252">
                  <a:moveTo>
                    <a:pt x="f6" y="f7"/>
                  </a:moveTo>
                  <a:cubicBezTo>
                    <a:pt x="f8" y="f9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9"/>
                  </a:cubicBezTo>
                  <a:cubicBezTo>
                    <a:pt x="f20" y="f21"/>
                    <a:pt x="f22" y="f19"/>
                    <a:pt x="f23" y="f24"/>
                  </a:cubicBezTo>
                  <a:cubicBezTo>
                    <a:pt x="f25" y="f26"/>
                    <a:pt x="f27" y="f28"/>
                    <a:pt x="f22" y="f29"/>
                  </a:cubicBezTo>
                  <a:cubicBezTo>
                    <a:pt x="f20" y="f30"/>
                    <a:pt x="f31" y="f32"/>
                    <a:pt x="f33" y="f34"/>
                  </a:cubicBezTo>
                  <a:cubicBezTo>
                    <a:pt x="f35" y="f36"/>
                    <a:pt x="f34" y="f18"/>
                    <a:pt x="f37" y="f38"/>
                  </a:cubicBezTo>
                  <a:cubicBezTo>
                    <a:pt x="f39" y="f40"/>
                    <a:pt x="f41" y="f42"/>
                    <a:pt x="f26" y="f43"/>
                  </a:cubicBezTo>
                  <a:cubicBezTo>
                    <a:pt x="f44" y="f45"/>
                    <a:pt x="f46" y="f47"/>
                    <a:pt x="f48" y="f45"/>
                  </a:cubicBezTo>
                  <a:cubicBezTo>
                    <a:pt x="f49" y="f35"/>
                    <a:pt x="f50" y="f51"/>
                    <a:pt x="f11" y="f40"/>
                  </a:cubicBezTo>
                  <a:cubicBezTo>
                    <a:pt x="f11" y="f38"/>
                    <a:pt x="f49" y="f52"/>
                    <a:pt x="f53" y="f54"/>
                  </a:cubicBezTo>
                  <a:cubicBezTo>
                    <a:pt x="f55" y="f8"/>
                    <a:pt x="f56" y="f57"/>
                    <a:pt x="f58" y="f6"/>
                  </a:cubicBezTo>
                  <a:cubicBezTo>
                    <a:pt x="f58" y="f8"/>
                    <a:pt x="f59" y="f10"/>
                    <a:pt x="f59" y="f12"/>
                  </a:cubicBezTo>
                  <a:cubicBezTo>
                    <a:pt x="f60" y="f61"/>
                    <a:pt x="f60" y="f62"/>
                    <a:pt x="f63" y="f16"/>
                  </a:cubicBezTo>
                  <a:cubicBezTo>
                    <a:pt x="f63" y="f33"/>
                    <a:pt x="f64" y="f65"/>
                    <a:pt x="f66" y="f31"/>
                  </a:cubicBezTo>
                  <a:cubicBezTo>
                    <a:pt x="f67" y="f68"/>
                    <a:pt x="f69" y="f65"/>
                    <a:pt x="f70" y="f33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16"/>
                    <a:pt x="f80" y="f18"/>
                  </a:cubicBezTo>
                  <a:cubicBezTo>
                    <a:pt x="f81" y="f51"/>
                    <a:pt x="f82" y="f35"/>
                    <a:pt x="f83" y="f22"/>
                  </a:cubicBezTo>
                  <a:cubicBezTo>
                    <a:pt x="f84" y="f23"/>
                    <a:pt x="f85" y="f25"/>
                    <a:pt x="f86" y="f87"/>
                  </a:cubicBezTo>
                  <a:cubicBezTo>
                    <a:pt x="f79" y="f32"/>
                    <a:pt x="f79" y="f30"/>
                    <a:pt x="f85" y="f88"/>
                  </a:cubicBezTo>
                  <a:cubicBezTo>
                    <a:pt x="f89" y="f90"/>
                    <a:pt x="f81" y="f91"/>
                    <a:pt x="f92" y="f93"/>
                  </a:cubicBezTo>
                  <a:cubicBezTo>
                    <a:pt x="f94" y="f39"/>
                    <a:pt x="f95" y="f88"/>
                    <a:pt x="f96" y="f97"/>
                  </a:cubicBezTo>
                  <a:cubicBezTo>
                    <a:pt x="f98" y="f37"/>
                    <a:pt x="f99" y="f30"/>
                    <a:pt x="f100" y="f101"/>
                  </a:cubicBezTo>
                  <a:cubicBezTo>
                    <a:pt x="f102" y="f28"/>
                    <a:pt x="f103" y="f17"/>
                    <a:pt x="f104" y="f105"/>
                  </a:cubicBezTo>
                  <a:cubicBezTo>
                    <a:pt x="f103" y="f106"/>
                    <a:pt x="f102" y="f107"/>
                    <a:pt x="f108" y="f109"/>
                  </a:cubicBezTo>
                  <a:cubicBezTo>
                    <a:pt x="f110" y="f9"/>
                    <a:pt x="f96" y="f111"/>
                    <a:pt x="f112" y="f113"/>
                  </a:cubicBezTo>
                  <a:cubicBezTo>
                    <a:pt x="f110" y="f114"/>
                    <a:pt x="f99" y="f115"/>
                    <a:pt x="f116" y="f117"/>
                  </a:cubicBezTo>
                  <a:cubicBezTo>
                    <a:pt x="f118" y="f119"/>
                    <a:pt x="f120" y="f121"/>
                    <a:pt x="f5" y="f122"/>
                  </a:cubicBezTo>
                  <a:cubicBezTo>
                    <a:pt x="f123" y="f124"/>
                    <a:pt x="f125" y="f70"/>
                    <a:pt x="f126" y="f127"/>
                  </a:cubicBezTo>
                  <a:cubicBezTo>
                    <a:pt x="f102" y="f128"/>
                    <a:pt x="f100" y="f129"/>
                    <a:pt x="f99" y="f130"/>
                  </a:cubicBezTo>
                  <a:cubicBezTo>
                    <a:pt x="f95" y="f131"/>
                    <a:pt x="f132" y="f75"/>
                    <a:pt x="f133" y="f134"/>
                  </a:cubicBezTo>
                  <a:cubicBezTo>
                    <a:pt x="f135" y="f136"/>
                    <a:pt x="f92" y="f137"/>
                    <a:pt x="f94" y="f138"/>
                  </a:cubicBezTo>
                  <a:cubicBezTo>
                    <a:pt x="f139" y="f140"/>
                    <a:pt x="f96" y="f84"/>
                    <a:pt x="f141" y="f81"/>
                  </a:cubicBezTo>
                  <a:cubicBezTo>
                    <a:pt x="f142" y="f143"/>
                    <a:pt x="f81" y="f98"/>
                    <a:pt x="f79" y="f116"/>
                  </a:cubicBezTo>
                  <a:cubicBezTo>
                    <a:pt x="f144" y="f145"/>
                    <a:pt x="f146" y="f147"/>
                    <a:pt x="f77" y="f96"/>
                  </a:cubicBezTo>
                  <a:cubicBezTo>
                    <a:pt x="f148" y="f149"/>
                    <a:pt x="f150" y="f95"/>
                    <a:pt x="f151" y="f143"/>
                  </a:cubicBezTo>
                  <a:cubicBezTo>
                    <a:pt x="f152" y="f153"/>
                    <a:pt x="f75" y="f153"/>
                    <a:pt x="f154" y="f94"/>
                  </a:cubicBezTo>
                  <a:cubicBezTo>
                    <a:pt x="f155" y="f142"/>
                    <a:pt x="f70" y="f156"/>
                    <a:pt x="f70" y="f98"/>
                  </a:cubicBezTo>
                  <a:cubicBezTo>
                    <a:pt x="f157" y="f100"/>
                    <a:pt x="f157" y="f158"/>
                    <a:pt x="f155" y="f159"/>
                  </a:cubicBezTo>
                  <a:cubicBezTo>
                    <a:pt x="f66" y="f123"/>
                    <a:pt x="f160" y="f161"/>
                    <a:pt x="f162" y="f5"/>
                  </a:cubicBezTo>
                  <a:cubicBezTo>
                    <a:pt x="f113" y="f120"/>
                    <a:pt x="f113" y="f163"/>
                    <a:pt x="f164" y="f108"/>
                  </a:cubicBezTo>
                  <a:cubicBezTo>
                    <a:pt x="f165" y="f141"/>
                    <a:pt x="f166" y="f112"/>
                    <a:pt x="f9" y="f96"/>
                  </a:cubicBezTo>
                  <a:cubicBezTo>
                    <a:pt x="f167" y="f149"/>
                    <a:pt x="f168" y="f96"/>
                    <a:pt x="f50" y="f141"/>
                  </a:cubicBezTo>
                  <a:cubicBezTo>
                    <a:pt x="f169" y="f100"/>
                    <a:pt x="f48" y="f163"/>
                    <a:pt x="f21" y="f103"/>
                  </a:cubicBezTo>
                  <a:cubicBezTo>
                    <a:pt x="f170" y="f171"/>
                    <a:pt x="f101" y="f108"/>
                    <a:pt x="f25" y="f110"/>
                  </a:cubicBezTo>
                  <a:cubicBezTo>
                    <a:pt x="f172" y="f156"/>
                    <a:pt x="f87" y="f142"/>
                    <a:pt x="f173" y="f153"/>
                  </a:cubicBezTo>
                  <a:cubicBezTo>
                    <a:pt x="f174" y="f92"/>
                    <a:pt x="f32" y="f80"/>
                    <a:pt x="f101" y="f175"/>
                  </a:cubicBezTo>
                  <a:cubicBezTo>
                    <a:pt x="f37" y="f176"/>
                    <a:pt x="f30" y="f140"/>
                    <a:pt x="f177" y="f138"/>
                  </a:cubicBezTo>
                  <a:cubicBezTo>
                    <a:pt x="f178" y="f137"/>
                    <a:pt x="f172" y="f146"/>
                    <a:pt x="f23" y="f179"/>
                  </a:cubicBezTo>
                  <a:cubicBezTo>
                    <a:pt x="f45" y="f180"/>
                    <a:pt x="f43" y="f138"/>
                    <a:pt x="f31" y="f181"/>
                  </a:cubicBezTo>
                  <a:cubicBezTo>
                    <a:pt x="f18" y="f79"/>
                    <a:pt x="f40" y="f140"/>
                    <a:pt x="f72" y="f182"/>
                  </a:cubicBezTo>
                  <a:cubicBezTo>
                    <a:pt x="f62" y="f144"/>
                    <a:pt x="f74" y="f183"/>
                    <a:pt x="f52" y="f184"/>
                  </a:cubicBezTo>
                  <a:cubicBezTo>
                    <a:pt x="f12" y="f129"/>
                    <a:pt x="f185" y="f154"/>
                    <a:pt x="f8" y="f186"/>
                  </a:cubicBezTo>
                  <a:cubicBezTo>
                    <a:pt x="f12" y="f187"/>
                    <a:pt x="f78" y="f188"/>
                    <a:pt x="f189" y="f190"/>
                  </a:cubicBezTo>
                  <a:cubicBezTo>
                    <a:pt x="f16" y="f191"/>
                    <a:pt x="f192" y="f193"/>
                    <a:pt x="f194" y="f66"/>
                  </a:cubicBezTo>
                  <a:cubicBezTo>
                    <a:pt x="f42" y="f195"/>
                    <a:pt x="f65" y="f64"/>
                    <a:pt x="f65" y="f60"/>
                  </a:cubicBezTo>
                  <a:cubicBezTo>
                    <a:pt x="f42" y="f122"/>
                    <a:pt x="f33" y="f119"/>
                    <a:pt x="f16" y="f117"/>
                  </a:cubicBezTo>
                  <a:cubicBezTo>
                    <a:pt x="f74" y="f115"/>
                    <a:pt x="f76" y="f114"/>
                    <a:pt x="f6" y="f7"/>
                  </a:cubicBezTo>
                  <a:close/>
                </a:path>
              </a:pathLst>
            </a:custGeom>
            <a:noFill/>
            <a:ln w="12701" cap="rnd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1" name="Freeform 233">
              <a:extLst>
                <a:ext uri="{FF2B5EF4-FFF2-40B4-BE49-F238E27FC236}">
                  <a16:creationId xmlns:a16="http://schemas.microsoft.com/office/drawing/2014/main" id="{A88DACDC-10BF-85AB-62A6-0686D974C56F}"/>
                </a:ext>
              </a:extLst>
            </p:cNvPr>
            <p:cNvSpPr/>
            <p:nvPr/>
          </p:nvSpPr>
          <p:spPr>
            <a:xfrm>
              <a:off x="10881158" y="2657831"/>
              <a:ext cx="96496" cy="964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33"/>
                <a:gd name="f7" fmla="val 95"/>
                <a:gd name="f8" fmla="val 16"/>
                <a:gd name="f9" fmla="val 123"/>
                <a:gd name="f10" fmla="val 32"/>
                <a:gd name="f11" fmla="val 68"/>
                <a:gd name="f12" fmla="val 117"/>
                <a:gd name="f13" fmla="val 101"/>
                <a:gd name="f14" fmla="val 64"/>
                <a:gd name="f15" fmla="val 37"/>
                <a:gd name="f16" fmla="val 9"/>
                <a:gd name="f17" fmla="val 100"/>
                <a:gd name="f18" fmla="val 65"/>
                <a:gd name="f19" fmla="val 67"/>
                <a:gd name="f20" fmla="+- 0 0 -90"/>
                <a:gd name="f21" fmla="*/ f3 1 133"/>
                <a:gd name="f22" fmla="*/ f4 1 133"/>
                <a:gd name="f23" fmla="+- f6 0 f5"/>
                <a:gd name="f24" fmla="*/ f20 f0 1"/>
                <a:gd name="f25" fmla="*/ f23 1 133"/>
                <a:gd name="f26" fmla="*/ 95 f23 1"/>
                <a:gd name="f27" fmla="*/ 16 f23 1"/>
                <a:gd name="f28" fmla="*/ 117 f23 1"/>
                <a:gd name="f29" fmla="*/ 37 f23 1"/>
                <a:gd name="f30" fmla="*/ f24 1 f2"/>
                <a:gd name="f31" fmla="*/ f26 1 133"/>
                <a:gd name="f32" fmla="*/ f27 1 133"/>
                <a:gd name="f33" fmla="*/ f28 1 133"/>
                <a:gd name="f34" fmla="*/ f29 1 133"/>
                <a:gd name="f35" fmla="*/ 0 1 f25"/>
                <a:gd name="f36" fmla="*/ f6 1 f25"/>
                <a:gd name="f37" fmla="+- f30 0 f1"/>
                <a:gd name="f38" fmla="*/ f31 1 f25"/>
                <a:gd name="f39" fmla="*/ f32 1 f25"/>
                <a:gd name="f40" fmla="*/ f33 1 f25"/>
                <a:gd name="f41" fmla="*/ f34 1 f25"/>
                <a:gd name="f42" fmla="*/ f35 f21 1"/>
                <a:gd name="f43" fmla="*/ f36 f21 1"/>
                <a:gd name="f44" fmla="*/ f36 f22 1"/>
                <a:gd name="f45" fmla="*/ f35 f22 1"/>
                <a:gd name="f46" fmla="*/ f38 f21 1"/>
                <a:gd name="f47" fmla="*/ f39 f22 1"/>
                <a:gd name="f48" fmla="*/ f40 f21 1"/>
                <a:gd name="f49" fmla="*/ f38 f22 1"/>
                <a:gd name="f50" fmla="*/ f41 f21 1"/>
                <a:gd name="f51" fmla="*/ f40 f22 1"/>
                <a:gd name="f52" fmla="*/ f39 f21 1"/>
                <a:gd name="f53" fmla="*/ f41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6" y="f47"/>
                </a:cxn>
                <a:cxn ang="f37">
                  <a:pos x="f48" y="f49"/>
                </a:cxn>
                <a:cxn ang="f37">
                  <a:pos x="f50" y="f51"/>
                </a:cxn>
                <a:cxn ang="f37">
                  <a:pos x="f52" y="f53"/>
                </a:cxn>
                <a:cxn ang="f37">
                  <a:pos x="f46" y="f47"/>
                </a:cxn>
              </a:cxnLst>
              <a:rect l="f42" t="f45" r="f43" b="f44"/>
              <a:pathLst>
                <a:path w="133" h="133">
                  <a:moveTo>
                    <a:pt x="f7" y="f8"/>
                  </a:moveTo>
                  <a:cubicBezTo>
                    <a:pt x="f9" y="f10"/>
                    <a:pt x="f6" y="f11"/>
                    <a:pt x="f12" y="f7"/>
                  </a:cubicBezTo>
                  <a:cubicBezTo>
                    <a:pt x="f13" y="f9"/>
                    <a:pt x="f14" y="f6"/>
                    <a:pt x="f15" y="f12"/>
                  </a:cubicBezTo>
                  <a:cubicBezTo>
                    <a:pt x="f16" y="f17"/>
                    <a:pt x="f5" y="f18"/>
                    <a:pt x="f8" y="f15"/>
                  </a:cubicBezTo>
                  <a:cubicBezTo>
                    <a:pt x="f10" y="f16"/>
                    <a:pt x="f19" y="f5"/>
                    <a:pt x="f7" y="f8"/>
                  </a:cubicBezTo>
                  <a:close/>
                </a:path>
              </a:pathLst>
            </a:custGeom>
            <a:noFill/>
            <a:ln w="12701" cap="flat">
              <a:solidFill>
                <a:srgbClr val="71EA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2" name="Freeform 234">
              <a:extLst>
                <a:ext uri="{FF2B5EF4-FFF2-40B4-BE49-F238E27FC236}">
                  <a16:creationId xmlns:a16="http://schemas.microsoft.com/office/drawing/2014/main" id="{87E5F0FF-67A1-64F4-1760-8CAFCE716676}"/>
                </a:ext>
              </a:extLst>
            </p:cNvPr>
            <p:cNvSpPr/>
            <p:nvPr/>
          </p:nvSpPr>
          <p:spPr>
            <a:xfrm>
              <a:off x="10766109" y="2542781"/>
              <a:ext cx="324127" cy="3191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6"/>
                <a:gd name="f7" fmla="val 439"/>
                <a:gd name="f8" fmla="val 299"/>
                <a:gd name="f9" fmla="val 412"/>
                <a:gd name="f10" fmla="val 393"/>
                <a:gd name="f11" fmla="val 375"/>
                <a:gd name="f12" fmla="val 272"/>
                <a:gd name="f13" fmla="val 420"/>
                <a:gd name="f14" fmla="val 172"/>
                <a:gd name="f15" fmla="val 391"/>
                <a:gd name="f16" fmla="val 64"/>
                <a:gd name="f17" fmla="val 280"/>
                <a:gd name="f18" fmla="val 29"/>
                <a:gd name="f19" fmla="val 58"/>
                <a:gd name="f20" fmla="val 169"/>
                <a:gd name="f21" fmla="val 277"/>
                <a:gd name="f22" fmla="val 56"/>
                <a:gd name="f23" fmla="val 377"/>
                <a:gd name="f24" fmla="val 153"/>
                <a:gd name="f25" fmla="val 253"/>
                <a:gd name="f26" fmla="val 424"/>
                <a:gd name="f27" fmla="+- 0 0 -90"/>
                <a:gd name="f28" fmla="*/ f3 1 446"/>
                <a:gd name="f29" fmla="*/ f4 1 439"/>
                <a:gd name="f30" fmla="+- f7 0 f5"/>
                <a:gd name="f31" fmla="+- f6 0 f5"/>
                <a:gd name="f32" fmla="*/ f27 f0 1"/>
                <a:gd name="f33" fmla="*/ f31 1 446"/>
                <a:gd name="f34" fmla="*/ f30 1 439"/>
                <a:gd name="f35" fmla="*/ 299 f31 1"/>
                <a:gd name="f36" fmla="*/ 412 f30 1"/>
                <a:gd name="f37" fmla="*/ 420 f31 1"/>
                <a:gd name="f38" fmla="*/ 172 f30 1"/>
                <a:gd name="f39" fmla="*/ 172 f31 1"/>
                <a:gd name="f40" fmla="*/ 29 f30 1"/>
                <a:gd name="f41" fmla="*/ 29 f31 1"/>
                <a:gd name="f42" fmla="*/ 277 f30 1"/>
                <a:gd name="f43" fmla="*/ 253 f31 1"/>
                <a:gd name="f44" fmla="*/ 424 f30 1"/>
                <a:gd name="f45" fmla="*/ f32 1 f2"/>
                <a:gd name="f46" fmla="*/ f35 1 446"/>
                <a:gd name="f47" fmla="*/ f36 1 439"/>
                <a:gd name="f48" fmla="*/ f37 1 446"/>
                <a:gd name="f49" fmla="*/ f38 1 439"/>
                <a:gd name="f50" fmla="*/ f39 1 446"/>
                <a:gd name="f51" fmla="*/ f40 1 439"/>
                <a:gd name="f52" fmla="*/ f41 1 446"/>
                <a:gd name="f53" fmla="*/ f42 1 439"/>
                <a:gd name="f54" fmla="*/ f43 1 446"/>
                <a:gd name="f55" fmla="*/ f44 1 439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446" h="439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3" name="Line 235">
              <a:extLst>
                <a:ext uri="{FF2B5EF4-FFF2-40B4-BE49-F238E27FC236}">
                  <a16:creationId xmlns:a16="http://schemas.microsoft.com/office/drawing/2014/main" id="{8D418047-96F7-9780-EE8F-15D941F99C23}"/>
                </a:ext>
              </a:extLst>
            </p:cNvPr>
            <p:cNvSpPr/>
            <p:nvPr/>
          </p:nvSpPr>
          <p:spPr>
            <a:xfrm>
              <a:off x="10972708" y="2845877"/>
              <a:ext cx="13606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4" name="Freeform 236">
              <a:extLst>
                <a:ext uri="{FF2B5EF4-FFF2-40B4-BE49-F238E27FC236}">
                  <a16:creationId xmlns:a16="http://schemas.microsoft.com/office/drawing/2014/main" id="{0658577A-9974-72F4-6568-DB27C79A4C64}"/>
                </a:ext>
              </a:extLst>
            </p:cNvPr>
            <p:cNvSpPr/>
            <p:nvPr/>
          </p:nvSpPr>
          <p:spPr>
            <a:xfrm>
              <a:off x="10784671" y="2561334"/>
              <a:ext cx="288246" cy="2832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97"/>
                <a:gd name="f7" fmla="val 390"/>
                <a:gd name="f8" fmla="val 266"/>
                <a:gd name="f9" fmla="val 366"/>
                <a:gd name="f10" fmla="val 349"/>
                <a:gd name="f11" fmla="val 333"/>
                <a:gd name="f12" fmla="val 242"/>
                <a:gd name="f13" fmla="val 373"/>
                <a:gd name="f14" fmla="val 153"/>
                <a:gd name="f15" fmla="val 347"/>
                <a:gd name="f16" fmla="val 57"/>
                <a:gd name="f17" fmla="val 249"/>
                <a:gd name="f18" fmla="val 26"/>
                <a:gd name="f19" fmla="val 51"/>
                <a:gd name="f20" fmla="val 150"/>
                <a:gd name="f21" fmla="val 246"/>
                <a:gd name="f22" fmla="val 50"/>
                <a:gd name="f23" fmla="val 335"/>
                <a:gd name="f24" fmla="val 136"/>
                <a:gd name="f25" fmla="val 225"/>
                <a:gd name="f26" fmla="val 377"/>
                <a:gd name="f27" fmla="+- 0 0 -90"/>
                <a:gd name="f28" fmla="*/ f3 1 397"/>
                <a:gd name="f29" fmla="*/ f4 1 390"/>
                <a:gd name="f30" fmla="+- f7 0 f5"/>
                <a:gd name="f31" fmla="+- f6 0 f5"/>
                <a:gd name="f32" fmla="*/ f27 f0 1"/>
                <a:gd name="f33" fmla="*/ f31 1 397"/>
                <a:gd name="f34" fmla="*/ f30 1 390"/>
                <a:gd name="f35" fmla="*/ 266 f31 1"/>
                <a:gd name="f36" fmla="*/ 366 f30 1"/>
                <a:gd name="f37" fmla="*/ 373 f31 1"/>
                <a:gd name="f38" fmla="*/ 153 f30 1"/>
                <a:gd name="f39" fmla="*/ 153 f31 1"/>
                <a:gd name="f40" fmla="*/ 26 f30 1"/>
                <a:gd name="f41" fmla="*/ 26 f31 1"/>
                <a:gd name="f42" fmla="*/ 246 f30 1"/>
                <a:gd name="f43" fmla="*/ 225 f31 1"/>
                <a:gd name="f44" fmla="*/ 377 f30 1"/>
                <a:gd name="f45" fmla="*/ f32 1 f2"/>
                <a:gd name="f46" fmla="*/ f35 1 397"/>
                <a:gd name="f47" fmla="*/ f36 1 390"/>
                <a:gd name="f48" fmla="*/ f37 1 397"/>
                <a:gd name="f49" fmla="*/ f38 1 390"/>
                <a:gd name="f50" fmla="*/ f39 1 397"/>
                <a:gd name="f51" fmla="*/ f40 1 390"/>
                <a:gd name="f52" fmla="*/ f41 1 397"/>
                <a:gd name="f53" fmla="*/ f42 1 390"/>
                <a:gd name="f54" fmla="*/ f43 1 397"/>
                <a:gd name="f55" fmla="*/ f44 1 390"/>
                <a:gd name="f56" fmla="*/ 0 1 f33"/>
                <a:gd name="f57" fmla="*/ f6 1 f33"/>
                <a:gd name="f58" fmla="*/ 0 1 f34"/>
                <a:gd name="f59" fmla="*/ f7 1 f34"/>
                <a:gd name="f60" fmla="+- f45 0 f1"/>
                <a:gd name="f61" fmla="*/ f46 1 f33"/>
                <a:gd name="f62" fmla="*/ f47 1 f34"/>
                <a:gd name="f63" fmla="*/ f48 1 f33"/>
                <a:gd name="f64" fmla="*/ f49 1 f34"/>
                <a:gd name="f65" fmla="*/ f50 1 f33"/>
                <a:gd name="f66" fmla="*/ f51 1 f34"/>
                <a:gd name="f67" fmla="*/ f52 1 f33"/>
                <a:gd name="f68" fmla="*/ f53 1 f34"/>
                <a:gd name="f69" fmla="*/ f54 1 f33"/>
                <a:gd name="f70" fmla="*/ f55 1 f34"/>
                <a:gd name="f71" fmla="*/ f56 f28 1"/>
                <a:gd name="f72" fmla="*/ f57 f28 1"/>
                <a:gd name="f73" fmla="*/ f59 f29 1"/>
                <a:gd name="f74" fmla="*/ f58 f29 1"/>
                <a:gd name="f75" fmla="*/ f61 f28 1"/>
                <a:gd name="f76" fmla="*/ f62 f29 1"/>
                <a:gd name="f77" fmla="*/ f63 f28 1"/>
                <a:gd name="f78" fmla="*/ f64 f29 1"/>
                <a:gd name="f79" fmla="*/ f65 f28 1"/>
                <a:gd name="f80" fmla="*/ f66 f29 1"/>
                <a:gd name="f81" fmla="*/ f67 f28 1"/>
                <a:gd name="f82" fmla="*/ f68 f29 1"/>
                <a:gd name="f83" fmla="*/ f69 f28 1"/>
                <a:gd name="f84" fmla="*/ f70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0">
                  <a:pos x="f75" y="f76"/>
                </a:cxn>
                <a:cxn ang="f60">
                  <a:pos x="f77" y="f78"/>
                </a:cxn>
                <a:cxn ang="f60">
                  <a:pos x="f79" y="f80"/>
                </a:cxn>
                <a:cxn ang="f60">
                  <a:pos x="f81" y="f82"/>
                </a:cxn>
                <a:cxn ang="f60">
                  <a:pos x="f83" y="f84"/>
                </a:cxn>
                <a:cxn ang="f60">
                  <a:pos x="f75" y="f76"/>
                </a:cxn>
              </a:cxnLst>
              <a:rect l="f71" t="f74" r="f72" b="f73"/>
              <a:pathLst>
                <a:path w="397" h="390">
                  <a:moveTo>
                    <a:pt x="f8" y="f9"/>
                  </a:moveTo>
                  <a:cubicBezTo>
                    <a:pt x="f10" y="f11"/>
                    <a:pt x="f6" y="f12"/>
                    <a:pt x="f13" y="f14"/>
                  </a:cubicBezTo>
                  <a:cubicBezTo>
                    <a:pt x="f15" y="f16"/>
                    <a:pt x="f17" y="f5"/>
                    <a:pt x="f14" y="f18"/>
                  </a:cubicBezTo>
                  <a:cubicBezTo>
                    <a:pt x="f16" y="f19"/>
                    <a:pt x="f5" y="f20"/>
                    <a:pt x="f18" y="f21"/>
                  </a:cubicBezTo>
                  <a:cubicBezTo>
                    <a:pt x="f22" y="f23"/>
                    <a:pt x="f24" y="f7"/>
                    <a:pt x="f25" y="f26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5" name="Line 237">
              <a:extLst>
                <a:ext uri="{FF2B5EF4-FFF2-40B4-BE49-F238E27FC236}">
                  <a16:creationId xmlns:a16="http://schemas.microsoft.com/office/drawing/2014/main" id="{72529392-12A7-6C26-F8D1-47C853C92EEC}"/>
                </a:ext>
              </a:extLst>
            </p:cNvPr>
            <p:cNvSpPr/>
            <p:nvPr/>
          </p:nvSpPr>
          <p:spPr>
            <a:xfrm>
              <a:off x="10961571" y="2849581"/>
              <a:ext cx="12371" cy="4700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6" name="Freeform 238">
              <a:extLst>
                <a:ext uri="{FF2B5EF4-FFF2-40B4-BE49-F238E27FC236}">
                  <a16:creationId xmlns:a16="http://schemas.microsoft.com/office/drawing/2014/main" id="{03D9EE35-8AB4-6A15-3BFD-5D21F81225CD}"/>
                </a:ext>
              </a:extLst>
            </p:cNvPr>
            <p:cNvSpPr/>
            <p:nvPr/>
          </p:nvSpPr>
          <p:spPr>
            <a:xfrm>
              <a:off x="10946730" y="2887940"/>
              <a:ext cx="106390" cy="1756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7"/>
                <a:gd name="f7" fmla="val 241"/>
                <a:gd name="f8" fmla="val 43"/>
                <a:gd name="f9" fmla="val 188"/>
                <a:gd name="f10" fmla="val 52"/>
                <a:gd name="f11" fmla="val 220"/>
                <a:gd name="f12" fmla="val 80"/>
                <a:gd name="f13" fmla="val 107"/>
                <a:gd name="f14" fmla="val 234"/>
                <a:gd name="f15" fmla="val 133"/>
                <a:gd name="f16" fmla="val 227"/>
                <a:gd name="f17" fmla="val 195"/>
                <a:gd name="f18" fmla="val 138"/>
                <a:gd name="f19" fmla="val 162"/>
                <a:gd name="f20" fmla="val 95"/>
                <a:gd name="f21" fmla="val 25"/>
                <a:gd name="f22" fmla="+- 0 0 -90"/>
                <a:gd name="f23" fmla="*/ f3 1 147"/>
                <a:gd name="f24" fmla="*/ f4 1 241"/>
                <a:gd name="f25" fmla="+- f7 0 f5"/>
                <a:gd name="f26" fmla="+- f6 0 f5"/>
                <a:gd name="f27" fmla="*/ f22 f0 1"/>
                <a:gd name="f28" fmla="*/ f26 1 147"/>
                <a:gd name="f29" fmla="*/ f25 1 241"/>
                <a:gd name="f30" fmla="*/ 43 f26 1"/>
                <a:gd name="f31" fmla="*/ 188 f25 1"/>
                <a:gd name="f32" fmla="*/ 107 f26 1"/>
                <a:gd name="f33" fmla="*/ 234 f25 1"/>
                <a:gd name="f34" fmla="*/ 138 f26 1"/>
                <a:gd name="f35" fmla="*/ 162 f25 1"/>
                <a:gd name="f36" fmla="*/ 95 f26 1"/>
                <a:gd name="f37" fmla="*/ 0 f25 1"/>
                <a:gd name="f38" fmla="*/ 0 f26 1"/>
                <a:gd name="f39" fmla="*/ 25 f25 1"/>
                <a:gd name="f40" fmla="*/ f27 1 f2"/>
                <a:gd name="f41" fmla="*/ f30 1 147"/>
                <a:gd name="f42" fmla="*/ f31 1 241"/>
                <a:gd name="f43" fmla="*/ f32 1 147"/>
                <a:gd name="f44" fmla="*/ f33 1 241"/>
                <a:gd name="f45" fmla="*/ f34 1 147"/>
                <a:gd name="f46" fmla="*/ f35 1 241"/>
                <a:gd name="f47" fmla="*/ f36 1 147"/>
                <a:gd name="f48" fmla="*/ f37 1 241"/>
                <a:gd name="f49" fmla="*/ f38 1 147"/>
                <a:gd name="f50" fmla="*/ f39 1 241"/>
                <a:gd name="f51" fmla="*/ 0 1 f28"/>
                <a:gd name="f52" fmla="*/ f6 1 f28"/>
                <a:gd name="f53" fmla="*/ 0 1 f29"/>
                <a:gd name="f54" fmla="*/ f7 1 f29"/>
                <a:gd name="f55" fmla="+- f40 0 f1"/>
                <a:gd name="f56" fmla="*/ f41 1 f28"/>
                <a:gd name="f57" fmla="*/ f42 1 f29"/>
                <a:gd name="f58" fmla="*/ f43 1 f28"/>
                <a:gd name="f59" fmla="*/ f44 1 f29"/>
                <a:gd name="f60" fmla="*/ f45 1 f28"/>
                <a:gd name="f61" fmla="*/ f46 1 f29"/>
                <a:gd name="f62" fmla="*/ f47 1 f28"/>
                <a:gd name="f63" fmla="*/ f48 1 f29"/>
                <a:gd name="f64" fmla="*/ f49 1 f28"/>
                <a:gd name="f65" fmla="*/ f50 1 f29"/>
                <a:gd name="f66" fmla="*/ f51 f23 1"/>
                <a:gd name="f67" fmla="*/ f52 f23 1"/>
                <a:gd name="f68" fmla="*/ f54 f24 1"/>
                <a:gd name="f69" fmla="*/ f53 f24 1"/>
                <a:gd name="f70" fmla="*/ f56 f23 1"/>
                <a:gd name="f71" fmla="*/ f57 f24 1"/>
                <a:gd name="f72" fmla="*/ f58 f23 1"/>
                <a:gd name="f73" fmla="*/ f59 f24 1"/>
                <a:gd name="f74" fmla="*/ f60 f23 1"/>
                <a:gd name="f75" fmla="*/ f61 f24 1"/>
                <a:gd name="f76" fmla="*/ f62 f23 1"/>
                <a:gd name="f77" fmla="*/ f63 f24 1"/>
                <a:gd name="f78" fmla="*/ f64 f23 1"/>
                <a:gd name="f79" fmla="*/ f65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5">
                  <a:pos x="f70" y="f71"/>
                </a:cxn>
                <a:cxn ang="f55">
                  <a:pos x="f72" y="f73"/>
                </a:cxn>
                <a:cxn ang="f55">
                  <a:pos x="f74" y="f75"/>
                </a:cxn>
                <a:cxn ang="f55">
                  <a:pos x="f76" y="f77"/>
                </a:cxn>
                <a:cxn ang="f55">
                  <a:pos x="f78" y="f79"/>
                </a:cxn>
                <a:cxn ang="f55">
                  <a:pos x="f70" y="f71"/>
                </a:cxn>
              </a:cxnLst>
              <a:rect l="f66" t="f69" r="f67" b="f68"/>
              <a:pathLst>
                <a:path w="147" h="241">
                  <a:moveTo>
                    <a:pt x="f8" y="f9"/>
                  </a:moveTo>
                  <a:cubicBezTo>
                    <a:pt x="f10" y="f11"/>
                    <a:pt x="f12" y="f7"/>
                    <a:pt x="f13" y="f14"/>
                  </a:cubicBezTo>
                  <a:cubicBezTo>
                    <a:pt x="f15" y="f16"/>
                    <a:pt x="f6" y="f17"/>
                    <a:pt x="f18" y="f19"/>
                  </a:cubicBezTo>
                  <a:cubicBezTo>
                    <a:pt x="f20" y="f5"/>
                    <a:pt x="f20" y="f5"/>
                    <a:pt x="f20" y="f5"/>
                  </a:cubicBezTo>
                  <a:cubicBezTo>
                    <a:pt x="f5" y="f21"/>
                    <a:pt x="f5" y="f21"/>
                    <a:pt x="f5" y="f21"/>
                  </a:cubicBezTo>
                  <a:lnTo>
                    <a:pt x="f8" y="f9"/>
                  </a:lnTo>
                  <a:close/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7" name="Line 239">
              <a:extLst>
                <a:ext uri="{FF2B5EF4-FFF2-40B4-BE49-F238E27FC236}">
                  <a16:creationId xmlns:a16="http://schemas.microsoft.com/office/drawing/2014/main" id="{E14D9C91-2A5D-3111-88F9-59BB4AF056D8}"/>
                </a:ext>
              </a:extLst>
            </p:cNvPr>
            <p:cNvSpPr/>
            <p:nvPr/>
          </p:nvSpPr>
          <p:spPr>
            <a:xfrm flipV="1">
              <a:off x="10955389" y="2911440"/>
              <a:ext cx="65562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8" name="Line 240">
              <a:extLst>
                <a:ext uri="{FF2B5EF4-FFF2-40B4-BE49-F238E27FC236}">
                  <a16:creationId xmlns:a16="http://schemas.microsoft.com/office/drawing/2014/main" id="{5FBB94C8-139F-3D34-A712-515EB215C4AB}"/>
                </a:ext>
              </a:extLst>
            </p:cNvPr>
            <p:cNvSpPr/>
            <p:nvPr/>
          </p:nvSpPr>
          <p:spPr>
            <a:xfrm flipV="1">
              <a:off x="10961571" y="2926290"/>
              <a:ext cx="63093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19" name="Line 241">
              <a:extLst>
                <a:ext uri="{FF2B5EF4-FFF2-40B4-BE49-F238E27FC236}">
                  <a16:creationId xmlns:a16="http://schemas.microsoft.com/office/drawing/2014/main" id="{C588823B-EE9D-3728-B4E3-70E5F9673887}"/>
                </a:ext>
              </a:extLst>
            </p:cNvPr>
            <p:cNvSpPr/>
            <p:nvPr/>
          </p:nvSpPr>
          <p:spPr>
            <a:xfrm flipV="1">
              <a:off x="10981367" y="3002990"/>
              <a:ext cx="64328" cy="173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flat">
              <a:solidFill>
                <a:srgbClr val="19105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0" name="Line 242">
              <a:extLst>
                <a:ext uri="{FF2B5EF4-FFF2-40B4-BE49-F238E27FC236}">
                  <a16:creationId xmlns:a16="http://schemas.microsoft.com/office/drawing/2014/main" id="{FC1E6B16-48A4-B102-F91A-98F3A3F04119}"/>
                </a:ext>
              </a:extLst>
            </p:cNvPr>
            <p:cNvSpPr/>
            <p:nvPr/>
          </p:nvSpPr>
          <p:spPr>
            <a:xfrm flipH="1">
              <a:off x="10622603" y="2558866"/>
              <a:ext cx="158346" cy="2746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1" name="Line 243">
              <a:extLst>
                <a:ext uri="{FF2B5EF4-FFF2-40B4-BE49-F238E27FC236}">
                  <a16:creationId xmlns:a16="http://schemas.microsoft.com/office/drawing/2014/main" id="{A4A5070D-5A48-E583-7577-2497FD0754E2}"/>
                </a:ext>
              </a:extLst>
            </p:cNvPr>
            <p:cNvSpPr/>
            <p:nvPr/>
          </p:nvSpPr>
          <p:spPr>
            <a:xfrm flipH="1">
              <a:off x="11044461" y="2970821"/>
              <a:ext cx="82890" cy="1435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  <p:sp>
          <p:nvSpPr>
            <p:cNvPr id="22" name="Line 244">
              <a:extLst>
                <a:ext uri="{FF2B5EF4-FFF2-40B4-BE49-F238E27FC236}">
                  <a16:creationId xmlns:a16="http://schemas.microsoft.com/office/drawing/2014/main" id="{4706A64C-A522-1B08-448F-05931AAE6FEA}"/>
                </a:ext>
              </a:extLst>
            </p:cNvPr>
            <p:cNvSpPr/>
            <p:nvPr/>
          </p:nvSpPr>
          <p:spPr>
            <a:xfrm flipH="1">
              <a:off x="11064258" y="2764222"/>
              <a:ext cx="43296" cy="7546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180"/>
                <a:gd name="f8" fmla="+- 0 0 -360"/>
                <a:gd name="f9" fmla="abs f3"/>
                <a:gd name="f10" fmla="abs f4"/>
                <a:gd name="f11" fmla="abs f5"/>
                <a:gd name="f12" fmla="*/ f7 f0 1"/>
                <a:gd name="f13" fmla="*/ f8 f0 1"/>
                <a:gd name="f14" fmla="?: f9 f3 1"/>
                <a:gd name="f15" fmla="?: f10 f4 1"/>
                <a:gd name="f16" fmla="?: f11 f5 1"/>
                <a:gd name="f17" fmla="*/ f12 1 f2"/>
                <a:gd name="f18" fmla="*/ f13 1 f2"/>
                <a:gd name="f19" fmla="*/ f14 1 21600"/>
                <a:gd name="f20" fmla="*/ f15 1 21600"/>
                <a:gd name="f21" fmla="*/ 21600 f14 1"/>
                <a:gd name="f22" fmla="*/ 21600 f15 1"/>
                <a:gd name="f23" fmla="+- f17 0 f1"/>
                <a:gd name="f24" fmla="+- f18 0 f1"/>
                <a:gd name="f25" fmla="min f20 f19"/>
                <a:gd name="f26" fmla="*/ f21 1 f16"/>
                <a:gd name="f27" fmla="*/ f22 1 f16"/>
                <a:gd name="f28" fmla="val f26"/>
                <a:gd name="f29" fmla="val f27"/>
                <a:gd name="f30" fmla="*/ f6 f25 1"/>
                <a:gd name="f31" fmla="*/ f28 f25 1"/>
                <a:gd name="f32" fmla="*/ f29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0" y="f30"/>
                </a:cxn>
                <a:cxn ang="f24">
                  <a:pos x="f31" y="f32"/>
                </a:cxn>
              </a:cxnLst>
              <a:rect l="f30" t="f30" r="f31" b="f32"/>
              <a:pathLst>
                <a:path>
                  <a:moveTo>
                    <a:pt x="f30" y="f30"/>
                  </a:moveTo>
                  <a:lnTo>
                    <a:pt x="f31" y="f32"/>
                  </a:lnTo>
                </a:path>
              </a:pathLst>
            </a:custGeom>
            <a:noFill/>
            <a:ln w="12701" cap="rnd">
              <a:solidFill>
                <a:srgbClr val="19105B"/>
              </a:solidFill>
              <a:prstDash val="solid"/>
              <a:round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D1C1C"/>
                </a:solidFill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EE51BCE6-85B6-4426-8CF1-368DEE58EAA0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11388D76-8B18-4DD3-8306-3A8487ECD61E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rtlCol="0" anchor="ctr"/>
      <a:lstStyle>
        <a:defPPr algn="ctr">
          <a:defRPr sz="12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D246C031-08FE-436A-A1AA-266168789D6B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20609 JMAN PPT Master - FINAL (1)" id="{1F5C4266-499A-4C5A-9751-DC47BD63ACD9}" vid="{361B7603-AF0A-4E42-A034-0B50FE4D1DA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10cbdb-f32e-47c5-9878-733256204b37">
      <Terms xmlns="http://schemas.microsoft.com/office/infopath/2007/PartnerControls"/>
    </lcf76f155ced4ddcb4097134ff3c332f>
    <TaxCatchAll xmlns="db400f04-41d7-45ff-b037-2eaacd3460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9C9DEB4166E4D9A547140426BBCA2" ma:contentTypeVersion="17" ma:contentTypeDescription="Create a new document." ma:contentTypeScope="" ma:versionID="6afb66e410f0a417ce6cb697253b4bd0">
  <xsd:schema xmlns:xsd="http://www.w3.org/2001/XMLSchema" xmlns:xs="http://www.w3.org/2001/XMLSchema" xmlns:p="http://schemas.microsoft.com/office/2006/metadata/properties" xmlns:ns2="9610cbdb-f32e-47c5-9878-733256204b37" xmlns:ns3="db400f04-41d7-45ff-b037-2eaacd3460e2" targetNamespace="http://schemas.microsoft.com/office/2006/metadata/properties" ma:root="true" ma:fieldsID="9b7816b07d85e478ca897743c1fcf8cb" ns2:_="" ns3:_="">
    <xsd:import namespace="9610cbdb-f32e-47c5-9878-733256204b37"/>
    <xsd:import namespace="db400f04-41d7-45ff-b037-2eaacd3460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0cbdb-f32e-47c5-9878-733256204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00f04-41d7-45ff-b037-2eaacd3460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20a75-2294-45c5-b2ed-9af632ad8e3a}" ma:internalName="TaxCatchAll" ma:showField="CatchAllData" ma:web="db400f04-41d7-45ff-b037-2eaacd3460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F3EB76-8CD1-42DC-A5B4-0C9E7E64B257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db400f04-41d7-45ff-b037-2eaacd3460e2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9610cbdb-f32e-47c5-9878-733256204b37"/>
  </ds:schemaRefs>
</ds:datastoreItem>
</file>

<file path=customXml/itemProps3.xml><?xml version="1.0" encoding="utf-8"?>
<ds:datastoreItem xmlns:ds="http://schemas.openxmlformats.org/officeDocument/2006/customXml" ds:itemID="{3C15F2BD-8CE8-4DF9-8719-E0921341DA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10cbdb-f32e-47c5-9878-733256204b37"/>
    <ds:schemaRef ds:uri="db400f04-41d7-45ff-b037-2eaacd3460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549</TotalTime>
  <Words>1165</Words>
  <Application>Microsoft Office PowerPoint</Application>
  <PresentationFormat>Widescreen</PresentationFormat>
  <Paragraphs>146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-apple-system</vt:lpstr>
      <vt:lpstr>Arial</vt:lpstr>
      <vt:lpstr>Arial Black</vt:lpstr>
      <vt:lpstr>Calibri</vt:lpstr>
      <vt:lpstr>Times New Roman</vt:lpstr>
      <vt:lpstr>1_Title Pages</vt:lpstr>
      <vt:lpstr>2_Dividers</vt:lpstr>
      <vt:lpstr>3_Main Content Pages</vt:lpstr>
      <vt:lpstr>4_Main Content - Dark</vt:lpstr>
      <vt:lpstr>Retail Store Sales Performance &amp; Inventory Optimization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has The Private Clinic's average rating trended over time?</vt:lpstr>
      <vt:lpstr>The Private Clinic outperforms all direct competitors on star rating</vt:lpstr>
      <vt:lpstr>Mixed picture vs wider industry — The Private Clinic trails a select few</vt:lpstr>
      <vt:lpstr>Cleanliness ratings are uniformly high — The Private Clinic matches competitors</vt:lpstr>
      <vt:lpstr>Surgery experience: The Private Clinic performs competitively on pain mentions</vt:lpstr>
    </vt:vector>
  </TitlesOfParts>
  <Company>JMAN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for Data Analytics</dc:title>
  <dc:creator>Disha Matilda</dc:creator>
  <cp:lastModifiedBy>Pragatheesh .I</cp:lastModifiedBy>
  <cp:revision>8</cp:revision>
  <dcterms:created xsi:type="dcterms:W3CDTF">2024-10-04T07:01:04Z</dcterms:created>
  <dcterms:modified xsi:type="dcterms:W3CDTF">2026-05-13T02:16:27Z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0x0101001149C9DEB4166E4D9A547140426BBCA2</vt:lpwstr>
  </property>
  <property fmtid="{D5CDD505-2E9C-101B-9397-08002B2CF9AE}" pid="3" name="MediaServiceImageTags">
    <vt:lpwstr/>
  </property>
</Properties>
</file>
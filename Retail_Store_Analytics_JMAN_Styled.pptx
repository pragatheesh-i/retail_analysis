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64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9AAA">
              <a:alpha val="70000"/>
            </a:srgbClr>
          </a:solidFill>
          <a:ln w="12700">
            <a:solidFill>
              <a:srgbClr val="1B9AAA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1828800"/>
          </a:xfrm>
          <a:prstGeom prst="rect">
            <a:avLst/>
          </a:prstGeom>
          <a:solidFill>
            <a:srgbClr val="2EC4B6">
              <a:alpha val="45000"/>
            </a:srgbClr>
          </a:solidFill>
          <a:ln w="1270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-109728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-45720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82880"/>
            <a:ext cx="3657600" cy="3657600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73152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</a:t>
            </a:r>
            <a:r>
              <a:rPr lang="en-US" sz="22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8046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Retail Store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Performance &amp;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Inventory Optimization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Power BI analytics report covering sales trends,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risks, marketing patterns &amp; cross-category insights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480560"/>
            <a:ext cx="9144000" cy="667512"/>
          </a:xfrm>
          <a:prstGeom prst="rect">
            <a:avLst/>
          </a:prstGeom>
          <a:solidFill>
            <a:srgbClr val="1A1F5E">
              <a:alpha val="70000"/>
            </a:srgbClr>
          </a:solidFill>
          <a:ln w="12700">
            <a:solidFill>
              <a:srgbClr val="1A1F5E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Retail Store Client  |  JMAN Group  |  May 2026  |  Confidential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jmangroup.com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457200"/>
            <a:ext cx="3200400" cy="3200400"/>
          </a:xfrm>
          <a:prstGeom prst="ellipse">
            <a:avLst/>
          </a:prstGeom>
          <a:solidFill>
            <a:srgbClr val="2EC4B6">
              <a:alpha val="8000"/>
            </a:srgbClr>
          </a:solidFill>
          <a:ln w="12700">
            <a:solidFill>
              <a:srgbClr val="2EC4B6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182880"/>
            <a:ext cx="2560320" cy="2560320"/>
          </a:xfrm>
          <a:prstGeom prst="ellipse">
            <a:avLst/>
          </a:prstGeom>
          <a:solidFill>
            <a:srgbClr val="2EC4B6">
              <a:alpha val="6000"/>
            </a:srgbClr>
          </a:solidFill>
          <a:ln w="12700">
            <a:solidFill>
              <a:srgbClr val="2EC4B6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731520"/>
            <a:ext cx="2011680" cy="2011680"/>
          </a:xfrm>
          <a:prstGeom prst="ellipse">
            <a:avLst/>
          </a:prstGeom>
          <a:solidFill>
            <a:srgbClr val="2EC4B6">
              <a:alpha val="7000"/>
            </a:srgbClr>
          </a:solidFill>
          <a:ln w="12700">
            <a:solidFill>
              <a:srgbClr val="2EC4B6">
                <a:alpha val="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walk you through today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38912" cy="438912"/>
          </a:xfrm>
          <a:prstGeom prst="rect">
            <a:avLst/>
          </a:prstGeom>
          <a:solidFill>
            <a:srgbClr val="2B3480"/>
          </a:solidFill>
          <a:ln w="12700">
            <a:solidFill>
              <a:srgbClr val="2B34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143000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 &amp; Objectives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37160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engagement, what we set out to solve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143000"/>
            <a:ext cx="438912" cy="438912"/>
          </a:xfrm>
          <a:prstGeom prst="rect">
            <a:avLst/>
          </a:prstGeom>
          <a:solidFill>
            <a:srgbClr val="2B3480"/>
          </a:solidFill>
          <a:ln w="12700">
            <a:solidFill>
              <a:srgbClr val="2B34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143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3752" y="1143000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&amp; Preparation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137160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volume, cleaning &amp; engineered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011680"/>
            <a:ext cx="438912" cy="438912"/>
          </a:xfrm>
          <a:prstGeom prst="rect">
            <a:avLst/>
          </a:prstGeom>
          <a:solidFill>
            <a:srgbClr val="2B3480"/>
          </a:solidFill>
          <a:ln w="12700">
            <a:solidFill>
              <a:srgbClr val="2B34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11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2011680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Sales Overview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224028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performance, trends &amp; regional breakdown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2011680"/>
            <a:ext cx="438912" cy="438912"/>
          </a:xfrm>
          <a:prstGeom prst="rect">
            <a:avLst/>
          </a:prstGeom>
          <a:solidFill>
            <a:srgbClr val="2B3480"/>
          </a:solidFill>
          <a:ln w="12700">
            <a:solidFill>
              <a:srgbClr val="2B34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2011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73752" y="2011680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Story 2022 → 2023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73752" y="224028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the +82% revenue growth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438912" cy="438912"/>
          </a:xfrm>
          <a:prstGeom prst="rect">
            <a:avLst/>
          </a:prstGeom>
          <a:solidFill>
            <a:srgbClr val="2B3480"/>
          </a:solidFill>
          <a:ln w="12700">
            <a:solidFill>
              <a:srgbClr val="2B34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2880360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" y="310896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risks, turnover rates &amp; lead time analysis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43400" y="2880360"/>
            <a:ext cx="438912" cy="438912"/>
          </a:xfrm>
          <a:prstGeom prst="rect">
            <a:avLst/>
          </a:prstGeom>
          <a:solidFill>
            <a:srgbClr val="2B3480"/>
          </a:solidFill>
          <a:ln w="12700">
            <a:solidFill>
              <a:srgbClr val="2B34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73752" y="2880360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Customer Insights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73752" y="310896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Seasonality, loyalty, payment &amp; discount impact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438912" cy="438912"/>
          </a:xfrm>
          <a:prstGeom prst="rect">
            <a:avLst/>
          </a:prstGeom>
          <a:solidFill>
            <a:srgbClr val="2B3480"/>
          </a:solidFill>
          <a:ln w="12700">
            <a:solidFill>
              <a:srgbClr val="2B34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7490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6112" y="3749040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&amp; Basket Analysis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6112" y="397764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efficiency, cross-sell lift &amp; decomposition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43400" y="3749040"/>
            <a:ext cx="438912" cy="438912"/>
          </a:xfrm>
          <a:prstGeom prst="rect">
            <a:avLst/>
          </a:prstGeom>
          <a:solidFill>
            <a:srgbClr val="2B3480"/>
          </a:solidFill>
          <a:ln w="12700">
            <a:solidFill>
              <a:srgbClr val="2B34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43400" y="37490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73752" y="3749040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73752" y="397764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the business should take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188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</a:t>
            </a:r>
            <a:r>
              <a:rPr lang="en-US" sz="1100" b="1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" y="5001768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kern="0" spc="200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1234440" y="4946904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Performance &amp; Inventory Optimization  |  JMAN Group  |  Confidential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686800" y="4828032"/>
            <a:ext cx="36576" cy="2743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3252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9AAA">
              <a:alpha val="60000"/>
            </a:srgbClr>
          </a:solidFill>
          <a:ln w="12700">
            <a:solidFill>
              <a:srgbClr val="1B9AA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09728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Objectives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existed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2011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Context &amp;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business needed — and what we built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29184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54864" cy="12801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multi-format retail chain with 1M+ transaction records needed a single analytics solution to understand sales performance, identify inventory risk, and uncover customer purchasing patterns across 5 regions and 7 product categories.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10058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B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0" y="1261872"/>
            <a:ext cx="109728" cy="10972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24358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total sales performance &amp; profitability trends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1572768"/>
            <a:ext cx="109728" cy="10972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5544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stockout risks before they impact revenue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1883664"/>
            <a:ext cx="109728" cy="10972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86537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seasonal &amp; customer loyalty patterns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2194560"/>
            <a:ext cx="109728" cy="10972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21762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store format efficiency (sales per sq ft)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2505456"/>
            <a:ext cx="109728" cy="10972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24871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cross-category purchasing behaviour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423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AT A GLANCE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697480"/>
            <a:ext cx="2011680" cy="10058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432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10L+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65760" y="32186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analysed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42032" y="2697480"/>
            <a:ext cx="2011680" cy="10058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42032" y="27432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2542032" y="32186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Products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18304" y="2697480"/>
            <a:ext cx="2011680" cy="10058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18304" y="27432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718304" y="32186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Stores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94576" y="2697480"/>
            <a:ext cx="2011680" cy="10058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94576" y="27432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894576" y="32186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built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840480"/>
            <a:ext cx="8412480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8862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050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(Power Query, DAX, Python Visual)     Python  (mlxtend — Apriori algorithm)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  |  1 fact table  +  3 dim tables  |  Date table (Calendar)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188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</a:t>
            </a:r>
            <a:r>
              <a:rPr lang="en-US" sz="1100" b="1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5001768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kern="0" spc="200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1234440" y="4946904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Performance &amp; Inventory Optimization  |  JMAN Group  |  Confidential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686800" y="4828032"/>
            <a:ext cx="36576" cy="2743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9AAA">
              <a:alpha val="60000"/>
            </a:srgbClr>
          </a:solidFill>
          <a:ln w="12700">
            <a:solidFill>
              <a:srgbClr val="1B9AA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09728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Overview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Preparation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trustworthy foundation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457200"/>
            <a:ext cx="3200400" cy="3200400"/>
          </a:xfrm>
          <a:prstGeom prst="ellipse">
            <a:avLst/>
          </a:prstGeom>
          <a:solidFill>
            <a:srgbClr val="2EC4B6">
              <a:alpha val="8000"/>
            </a:srgbClr>
          </a:solidFill>
          <a:ln w="12700">
            <a:solidFill>
              <a:srgbClr val="2EC4B6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182880"/>
            <a:ext cx="2560320" cy="2560320"/>
          </a:xfrm>
          <a:prstGeom prst="ellipse">
            <a:avLst/>
          </a:prstGeom>
          <a:solidFill>
            <a:srgbClr val="2EC4B6">
              <a:alpha val="6000"/>
            </a:srgbClr>
          </a:solidFill>
          <a:ln w="12700">
            <a:solidFill>
              <a:srgbClr val="2EC4B6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731520"/>
            <a:ext cx="2011680" cy="2011680"/>
          </a:xfrm>
          <a:prstGeom prst="ellipse">
            <a:avLst/>
          </a:prstGeom>
          <a:solidFill>
            <a:srgbClr val="2EC4B6">
              <a:alpha val="7000"/>
            </a:srgbClr>
          </a:solidFill>
          <a:ln w="12700">
            <a:solidFill>
              <a:srgbClr val="2EC4B6">
                <a:alpha val="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Preparation — What We Did to Make Your Numbers Reliable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transformations &amp; data model design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20624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45720" cy="11430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698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Loaded &amp; Structured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39319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CSV files loaded into Power BI. Star schema built: fact_retail_transactions (10,00,000 records) + dim_retail_products (500 records) + dim_retail_stores (55 rows) + Calendar table.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20624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05840"/>
            <a:ext cx="45720" cy="11430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698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Cleaned the Fact Table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325880"/>
            <a:ext cx="39319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all dimension columns from the fact table that already existed in dim tables — eliminating data redundancy and reducing model size significantly.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420624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40280"/>
            <a:ext cx="45720" cy="11430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04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Stock Risk Flagging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560320"/>
            <a:ext cx="39319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conditional column Stock_Status: If Inventory_Level ≤ Restock_Threshold → "At Risk", else "Healthy". Powers the stockout heatmap.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240280"/>
            <a:ext cx="420624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40280"/>
            <a:ext cx="45720" cy="11430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304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Reorder Urgency Score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560320"/>
            <a:ext cx="39319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column Reorder_Urgency = Restock_Threshold − Inventory_Level. Positive values = units short. Direct operational signal for procurement.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420624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474720"/>
            <a:ext cx="45720" cy="11430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538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Handled Nulls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3794760"/>
            <a:ext cx="39319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Replace Values to convert None/null values in Seasonal_Flag to "Year-Round" — ensuring clean legend display in all seasonal visuals.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474720"/>
            <a:ext cx="420624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474720"/>
            <a:ext cx="45720" cy="11430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538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Calendar Table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794760"/>
            <a:ext cx="39319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 date table spanning MIN to MAX of transaction dates. Enables time intelligence: YoY, MoM, forecasting, seasonal analysis.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5079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clean, performant star schema model with engineered features powering all 6 dashboard pages — enabling accurate sales, inventory, loyalty &amp; basket analysis.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188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</a:t>
            </a:r>
            <a:r>
              <a:rPr lang="en-US" sz="1100" b="1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5001768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kern="0" spc="200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1234440" y="4946904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Performance &amp; Inventory Optimization  |  JMAN Group  |  Confidential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686800" y="4828032"/>
            <a:ext cx="36576" cy="2743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3252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9AAA">
              <a:alpha val="60000"/>
            </a:srgbClr>
          </a:solidFill>
          <a:ln w="12700">
            <a:solidFill>
              <a:srgbClr val="1B9AA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09728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Sales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performance snapshot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457200"/>
            <a:ext cx="3200400" cy="3200400"/>
          </a:xfrm>
          <a:prstGeom prst="ellipse">
            <a:avLst/>
          </a:prstGeom>
          <a:solidFill>
            <a:srgbClr val="2EC4B6">
              <a:alpha val="8000"/>
            </a:srgbClr>
          </a:solidFill>
          <a:ln w="12700">
            <a:solidFill>
              <a:srgbClr val="2EC4B6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182880"/>
            <a:ext cx="2560320" cy="2560320"/>
          </a:xfrm>
          <a:prstGeom prst="ellipse">
            <a:avLst/>
          </a:prstGeom>
          <a:solidFill>
            <a:srgbClr val="2EC4B6">
              <a:alpha val="6000"/>
            </a:srgbClr>
          </a:solidFill>
          <a:ln w="12700">
            <a:solidFill>
              <a:srgbClr val="2EC4B6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731520"/>
            <a:ext cx="2011680" cy="2011680"/>
          </a:xfrm>
          <a:prstGeom prst="ellipse">
            <a:avLst/>
          </a:prstGeom>
          <a:solidFill>
            <a:srgbClr val="2EC4B6">
              <a:alpha val="7000"/>
            </a:srgbClr>
          </a:solidFill>
          <a:ln w="12700">
            <a:solidFill>
              <a:srgbClr val="2EC4B6">
                <a:alpha val="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Sales Overview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performance across all regions and categories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011680" cy="91440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058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₹252.68M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(All Years)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960120"/>
            <a:ext cx="2011680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10058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42032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Profit Margin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18304" y="960120"/>
            <a:ext cx="2011680" cy="914400"/>
          </a:xfrm>
          <a:prstGeom prst="rect">
            <a:avLst/>
          </a:prstGeom>
          <a:solidFill>
            <a:srgbClr val="3D3594"/>
          </a:solidFill>
          <a:ln w="12700">
            <a:solidFill>
              <a:srgbClr val="3D3594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10058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₹39M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18304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Discount Given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94576" y="960120"/>
            <a:ext cx="2011680" cy="91440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94576" y="10058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₹291.39M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94576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(Pre-Discount)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011680"/>
            <a:ext cx="502920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01168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Power BI Visual 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Trend by Year &amp; Month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3-Month Forecast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2011680"/>
            <a:ext cx="320040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011680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Power BI Visual 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Region (Bar)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2834640"/>
            <a:ext cx="320040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834640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Power BI Visual 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Product Category (Bar)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8412480" cy="594360"/>
          </a:xfrm>
          <a:prstGeom prst="rect">
            <a:avLst/>
          </a:prstGeom>
          <a:solidFill>
            <a:srgbClr val="1B9AAA">
              <a:alpha val="15000"/>
            </a:srgbClr>
          </a:solidFill>
          <a:ln w="1270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703320"/>
            <a:ext cx="54864" cy="5943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54480" y="37490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leads all regions. Home Goods is the #1 category. A 3-month forecast projects continued upward momentum into Q1 2024.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188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</a:t>
            </a:r>
            <a:r>
              <a:rPr lang="en-US" sz="1100" b="1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5001768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kern="0" spc="200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1234440" y="4946904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Performance &amp; Inventory Optimization  |  JMAN Group  |  Confidential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686800" y="4828032"/>
            <a:ext cx="36576" cy="2743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3252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457200"/>
            <a:ext cx="3200400" cy="3200400"/>
          </a:xfrm>
          <a:prstGeom prst="ellipse">
            <a:avLst/>
          </a:prstGeom>
          <a:solidFill>
            <a:srgbClr val="2EC4B6">
              <a:alpha val="8000"/>
            </a:srgbClr>
          </a:solidFill>
          <a:ln w="12700">
            <a:solidFill>
              <a:srgbClr val="2EC4B6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182880"/>
            <a:ext cx="2560320" cy="2560320"/>
          </a:xfrm>
          <a:prstGeom prst="ellipse">
            <a:avLst/>
          </a:prstGeom>
          <a:solidFill>
            <a:srgbClr val="2EC4B6">
              <a:alpha val="6000"/>
            </a:srgbClr>
          </a:solidFill>
          <a:ln w="12700">
            <a:solidFill>
              <a:srgbClr val="2EC4B6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731520"/>
            <a:ext cx="2011680" cy="2011680"/>
          </a:xfrm>
          <a:prstGeom prst="ellipse">
            <a:avLst/>
          </a:prstGeom>
          <a:solidFill>
            <a:srgbClr val="2EC4B6">
              <a:alpha val="7000"/>
            </a:srgbClr>
          </a:solidFill>
          <a:ln w="12700">
            <a:solidFill>
              <a:srgbClr val="2EC4B6">
                <a:alpha val="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Story: 2022 → 2023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business grew +82% in one year — ₹75.7M to ₹137.6M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93776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Power BI — Waterfall Bridge Chart: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 by Product Category 2022→2023 ]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1005840"/>
            <a:ext cx="32918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0058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Power BI — Monthly Growth 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 (Green=growth, Red=decline) 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DRIVERS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1600200" cy="11887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8346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+₹24.9M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" y="32004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Goods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growth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84832" y="2788920"/>
            <a:ext cx="1600200" cy="1188720"/>
          </a:xfrm>
          <a:prstGeom prst="rect">
            <a:avLst/>
          </a:prstGeom>
          <a:solidFill>
            <a:srgbClr val="2B3480"/>
          </a:solidFill>
          <a:ln w="12700">
            <a:solidFill>
              <a:srgbClr val="2B348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84832" y="28346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+₹14.5M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84832" y="32004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84832" y="35661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of growth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03904" y="2788920"/>
            <a:ext cx="1600200" cy="1188720"/>
          </a:xfrm>
          <a:prstGeom prst="rect">
            <a:avLst/>
          </a:prstGeom>
          <a:solidFill>
            <a:srgbClr val="0A6E82"/>
          </a:solidFill>
          <a:ln w="12700">
            <a:solidFill>
              <a:srgbClr val="0A6E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03904" y="28346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+₹8.5M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03904" y="32004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Sporting Goods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03904" y="35661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of growth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22976" y="2788920"/>
            <a:ext cx="1600200" cy="1188720"/>
          </a:xfrm>
          <a:prstGeom prst="rect">
            <a:avLst/>
          </a:prstGeom>
          <a:solidFill>
            <a:srgbClr val="3D3594"/>
          </a:solidFill>
          <a:ln w="12700">
            <a:solidFill>
              <a:srgbClr val="3D359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22976" y="28346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+₹5.6M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22976" y="32004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22976" y="35661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of growth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42048" y="2788920"/>
            <a:ext cx="1600200" cy="118872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42048" y="28346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+₹8.4M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42048" y="32004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+ Toys + Grocery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42048" y="35661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of growth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114800"/>
            <a:ext cx="8412480" cy="41148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1422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2022 (+72%) was the single strongest growth month. Jun &amp; Nov showed negative dips — seasonal inventory adjustment.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188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</a:t>
            </a:r>
            <a:r>
              <a:rPr lang="en-US" sz="1100" b="1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5001768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kern="0" spc="200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234440" y="4946904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Performance &amp; Inventory Optimization  |  JMAN Group  |  Confidential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686800" y="4828032"/>
            <a:ext cx="36576" cy="2743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3252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457200"/>
            <a:ext cx="3200400" cy="3200400"/>
          </a:xfrm>
          <a:prstGeom prst="ellipse">
            <a:avLst/>
          </a:prstGeom>
          <a:solidFill>
            <a:srgbClr val="2EC4B6">
              <a:alpha val="8000"/>
            </a:srgbClr>
          </a:solidFill>
          <a:ln w="12700">
            <a:solidFill>
              <a:srgbClr val="2EC4B6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182880"/>
            <a:ext cx="2560320" cy="2560320"/>
          </a:xfrm>
          <a:prstGeom prst="ellipse">
            <a:avLst/>
          </a:prstGeom>
          <a:solidFill>
            <a:srgbClr val="2EC4B6">
              <a:alpha val="6000"/>
            </a:srgbClr>
          </a:solidFill>
          <a:ln w="12700">
            <a:solidFill>
              <a:srgbClr val="2EC4B6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731520"/>
            <a:ext cx="2011680" cy="2011680"/>
          </a:xfrm>
          <a:prstGeom prst="ellipse">
            <a:avLst/>
          </a:prstGeom>
          <a:solidFill>
            <a:srgbClr val="2EC4B6">
              <a:alpha val="7000"/>
            </a:srgbClr>
          </a:solidFill>
          <a:ln w="12700">
            <a:solidFill>
              <a:srgbClr val="2EC4B6">
                <a:alpha val="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Inventory Optimization &amp; Marketing Insights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 and customer behaviour patterns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5720" cy="30632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60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1920240" cy="7772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8016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Instances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1234440"/>
            <a:ext cx="1920240" cy="7772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28016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50.82K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0604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103120"/>
            <a:ext cx="41148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031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Power BI — Stockout Heatmap: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× Region (Red = At Risk) 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108960"/>
            <a:ext cx="41148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089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Power BI — Buffer Saturation % by Lead Time 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45720" cy="3063240"/>
          </a:xfrm>
          <a:prstGeom prst="rect">
            <a:avLst/>
          </a:prstGeom>
          <a:solidFill>
            <a:srgbClr val="3D3594"/>
          </a:solidFill>
          <a:ln w="12700">
            <a:solidFill>
              <a:srgbClr val="3D35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960120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D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CUSTOMER INSIGHTS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1234440"/>
            <a:ext cx="1828800" cy="777240"/>
          </a:xfrm>
          <a:prstGeom prst="rect">
            <a:avLst/>
          </a:prstGeom>
          <a:solidFill>
            <a:srgbClr val="3D3594"/>
          </a:solidFill>
          <a:ln w="12700">
            <a:solidFill>
              <a:srgbClr val="3D35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2527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70.18%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8348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Sales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95160" y="1234440"/>
            <a:ext cx="1828800" cy="777240"/>
          </a:xfrm>
          <a:prstGeom prst="rect">
            <a:avLst/>
          </a:prstGeom>
          <a:solidFill>
            <a:srgbClr val="3D3594"/>
          </a:solidFill>
          <a:ln w="12700">
            <a:solidFill>
              <a:srgbClr val="3D359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2527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13.48%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9516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83480" y="2103120"/>
            <a:ext cx="3794760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10312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Power BI — Seasonal Sales by Flag (Area chart) 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83480" y="2862072"/>
            <a:ext cx="379476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8986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 Split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74920" y="30815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leads at 35.91%. Cash second at 26.93%. Mobile Pay under-utilised at 7.89%.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83480" y="3410712"/>
            <a:ext cx="379476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4472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Loyalty Impact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36301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70.18% of total sales from loyalty members — retention is the #1 revenue driver.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188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</a:t>
            </a:r>
            <a:r>
              <a:rPr lang="en-US" sz="1100" b="1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5001768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kern="0" spc="200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1234440" y="4946904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Performance &amp; Inventory Optimization  |  JMAN Group  |  Confidential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686800" y="4828032"/>
            <a:ext cx="36576" cy="2743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3252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457200"/>
            <a:ext cx="3200400" cy="3200400"/>
          </a:xfrm>
          <a:prstGeom prst="ellipse">
            <a:avLst/>
          </a:prstGeom>
          <a:solidFill>
            <a:srgbClr val="2EC4B6">
              <a:alpha val="8000"/>
            </a:srgbClr>
          </a:solidFill>
          <a:ln w="12700">
            <a:solidFill>
              <a:srgbClr val="2EC4B6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182880"/>
            <a:ext cx="2560320" cy="2560320"/>
          </a:xfrm>
          <a:prstGeom prst="ellipse">
            <a:avLst/>
          </a:prstGeom>
          <a:solidFill>
            <a:srgbClr val="2EC4B6">
              <a:alpha val="6000"/>
            </a:srgbClr>
          </a:solidFill>
          <a:ln w="12700">
            <a:solidFill>
              <a:srgbClr val="2EC4B6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731520"/>
            <a:ext cx="2011680" cy="2011680"/>
          </a:xfrm>
          <a:prstGeom prst="ellipse">
            <a:avLst/>
          </a:prstGeom>
          <a:solidFill>
            <a:srgbClr val="2EC4B6">
              <a:alpha val="7000"/>
            </a:srgbClr>
          </a:solidFill>
          <a:ln w="12700">
            <a:solidFill>
              <a:srgbClr val="2EC4B6">
                <a:alpha val="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Store Performance &amp; Market Basket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stores win — and which products drive each other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1828800" cy="91440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₹164.74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Sq Ft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Formats)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1234440"/>
            <a:ext cx="27432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234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Power BI — Scatter: Store Size vs Total Sales by Format 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0" y="1234440"/>
            <a:ext cx="347472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2344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Power BI — Decomposition Tree: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→ Region → Store Format → Category 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2860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D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 (LIFT SCORES)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3200400" cy="132588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6032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Power BI — Lift Heatmap Matrix: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 Category Co-Purchase Lift Scores 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2860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CROSS-SELL SIGNALS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49040" y="2560320"/>
            <a:ext cx="502920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2560320"/>
            <a:ext cx="45720" cy="38404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5786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↔ Beauty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5786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Lift: 1.13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2743200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Same-session repeat — bundle offers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49040" y="3017520"/>
            <a:ext cx="502920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0" y="3017520"/>
            <a:ext cx="45720" cy="38404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30358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Goods ↔ Electronics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0358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Lift: 1.14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3200400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adjacently in-store &amp; online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49040" y="3474720"/>
            <a:ext cx="502920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9040" y="3474720"/>
            <a:ext cx="45720" cy="38404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34930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↔ Toys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4930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Lift: 1.13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0" y="3657600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shopper basket pattern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188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</a:t>
            </a:r>
            <a:r>
              <a:rPr lang="en-US" sz="1100" b="1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5001768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kern="0" spc="200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234440" y="4946904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Performance &amp; Inventory Optimization  |  JMAN Group  |  Confidential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686800" y="4828032"/>
            <a:ext cx="36576" cy="2743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3252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457200"/>
            <a:ext cx="3200400" cy="3200400"/>
          </a:xfrm>
          <a:prstGeom prst="ellipse">
            <a:avLst/>
          </a:prstGeom>
          <a:solidFill>
            <a:srgbClr val="2EC4B6">
              <a:alpha val="8000"/>
            </a:srgbClr>
          </a:solidFill>
          <a:ln w="12700">
            <a:solidFill>
              <a:srgbClr val="2EC4B6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182880"/>
            <a:ext cx="2560320" cy="2560320"/>
          </a:xfrm>
          <a:prstGeom prst="ellipse">
            <a:avLst/>
          </a:prstGeom>
          <a:solidFill>
            <a:srgbClr val="2EC4B6">
              <a:alpha val="6000"/>
            </a:srgbClr>
          </a:solidFill>
          <a:ln w="12700">
            <a:solidFill>
              <a:srgbClr val="2EC4B6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731520"/>
            <a:ext cx="2011680" cy="2011680"/>
          </a:xfrm>
          <a:prstGeom prst="ellipse">
            <a:avLst/>
          </a:prstGeom>
          <a:solidFill>
            <a:srgbClr val="2EC4B6">
              <a:alpha val="7000"/>
            </a:srgbClr>
          </a:solidFill>
          <a:ln w="12700">
            <a:solidFill>
              <a:srgbClr val="2EC4B6">
                <a:alpha val="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 &amp; Next Steps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business should do based on these findings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4206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87552"/>
            <a:ext cx="457200" cy="10058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87552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Home Goods &amp; Electronics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33502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categories drove 63% of all YoY growth. Prioritise inventory levels, promotional spend and shelf space for H1 2024.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987552"/>
            <a:ext cx="4206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987552"/>
            <a:ext cx="457200" cy="10058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987552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Grocery &amp; Home Goods stockout risk immediately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49240" y="133502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deep red in Southeast on the stockout heatmap. Grocery alone had 9,860 at-risk instances. Raise restock thresholds and negotiate shorter lead times.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4206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03120"/>
            <a:ext cx="457200" cy="1005840"/>
          </a:xfrm>
          <a:prstGeom prst="rect">
            <a:avLst/>
          </a:prstGeom>
          <a:solidFill>
            <a:srgbClr val="3D3594"/>
          </a:solidFill>
          <a:ln w="12700">
            <a:solidFill>
              <a:srgbClr val="3D35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0312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2167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loyalty-first commercial strategy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45059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revenue comes from loyalty members. Every 1% shift toward loyalty is worth ~₹2.5M. Invest in tier upgrades and exclusive offers.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103120"/>
            <a:ext cx="4206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103120"/>
            <a:ext cx="457200" cy="10058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10312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2167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cross-sell bundles in Sep–Oct (Fall peak)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245059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is the #1 seasonal driver. Pair Home Goods + Electronics bundles (Lift 1.14) in September. Grocery + Toys packs for family shoppers.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218688"/>
            <a:ext cx="4206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218688"/>
            <a:ext cx="457200" cy="100584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18688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32826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discount strategy — it compresses margins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35661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13.5% avg discount with 36% avg margin leaves little room. Target discounts to low-loyalty segments only — high-loyalty members buy without heavy discounting.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218688"/>
            <a:ext cx="4206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218688"/>
            <a:ext cx="457200" cy="1005840"/>
          </a:xfrm>
          <a:prstGeom prst="rect">
            <a:avLst/>
          </a:prstGeom>
          <a:solidFill>
            <a:srgbClr val="0A6E82"/>
          </a:solidFill>
          <a:ln w="12700">
            <a:solidFill>
              <a:srgbClr val="0A6E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218688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49240" y="32826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Pay adoption is a quick win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9240" y="35661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payments at only 7.89% vs Credit Card at 36%. Push in-store mobile pay incentives to reduce transaction cost and improve checkout conversion.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188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</a:t>
            </a:r>
            <a:r>
              <a:rPr lang="en-US" sz="1100" b="1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r>
              <a:rPr lang="en-US" sz="1100" b="1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" y="5001768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kern="0" spc="200" dirty="0">
                <a:solidFill>
                  <a:srgbClr val="1A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1234440" y="4946904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Performance &amp; Inventory Optimization  |  JMAN Group  |  Confidential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686800" y="4828032"/>
            <a:ext cx="36576" cy="2743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3252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1407</Words>
  <Application>Microsoft Office PowerPoint</Application>
  <PresentationFormat>On-screen Show (16:9)</PresentationFormat>
  <Paragraphs>237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Pragatheesh .I</cp:lastModifiedBy>
  <cp:revision>2</cp:revision>
  <dcterms:created xsi:type="dcterms:W3CDTF">2026-05-13T01:51:57Z</dcterms:created>
  <dcterms:modified xsi:type="dcterms:W3CDTF">2026-05-13T02:16:57Z</dcterms:modified>
</cp:coreProperties>
</file>